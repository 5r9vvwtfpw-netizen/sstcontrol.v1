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2"/>
  </p:notesMasterIdLst>
  <p:sldIdLst>
    <p:sldId id="256" r:id="rId2"/>
    <p:sldId id="45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456" r:id="rId37"/>
    <p:sldId id="455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457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4" r:id="rId113"/>
    <p:sldId id="365" r:id="rId114"/>
    <p:sldId id="366" r:id="rId115"/>
    <p:sldId id="367" r:id="rId116"/>
    <p:sldId id="368" r:id="rId117"/>
    <p:sldId id="369" r:id="rId118"/>
    <p:sldId id="371" r:id="rId119"/>
    <p:sldId id="373" r:id="rId120"/>
    <p:sldId id="374" r:id="rId121"/>
    <p:sldId id="375" r:id="rId122"/>
    <p:sldId id="377" r:id="rId123"/>
    <p:sldId id="378" r:id="rId124"/>
    <p:sldId id="458" r:id="rId125"/>
    <p:sldId id="379" r:id="rId126"/>
    <p:sldId id="459" r:id="rId127"/>
    <p:sldId id="381" r:id="rId128"/>
    <p:sldId id="383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8" r:id="rId146"/>
    <p:sldId id="409" r:id="rId147"/>
    <p:sldId id="410" r:id="rId148"/>
    <p:sldId id="411" r:id="rId149"/>
    <p:sldId id="412" r:id="rId150"/>
    <p:sldId id="413" r:id="rId151"/>
    <p:sldId id="414" r:id="rId152"/>
    <p:sldId id="415" r:id="rId153"/>
    <p:sldId id="416" r:id="rId154"/>
    <p:sldId id="417" r:id="rId155"/>
    <p:sldId id="418" r:id="rId156"/>
    <p:sldId id="419" r:id="rId157"/>
    <p:sldId id="420" r:id="rId158"/>
    <p:sldId id="421" r:id="rId159"/>
    <p:sldId id="422" r:id="rId160"/>
    <p:sldId id="423" r:id="rId161"/>
    <p:sldId id="424" r:id="rId162"/>
    <p:sldId id="425" r:id="rId163"/>
    <p:sldId id="426" r:id="rId164"/>
    <p:sldId id="427" r:id="rId165"/>
    <p:sldId id="431" r:id="rId166"/>
    <p:sldId id="430" r:id="rId167"/>
    <p:sldId id="428" r:id="rId168"/>
    <p:sldId id="429" r:id="rId169"/>
    <p:sldId id="432" r:id="rId170"/>
    <p:sldId id="460" r:id="rId171"/>
    <p:sldId id="434" r:id="rId172"/>
    <p:sldId id="435" r:id="rId173"/>
    <p:sldId id="436" r:id="rId174"/>
    <p:sldId id="437" r:id="rId175"/>
    <p:sldId id="438" r:id="rId176"/>
    <p:sldId id="439" r:id="rId177"/>
    <p:sldId id="440" r:id="rId178"/>
    <p:sldId id="441" r:id="rId179"/>
    <p:sldId id="442" r:id="rId180"/>
    <p:sldId id="443" r:id="rId181"/>
    <p:sldId id="444" r:id="rId182"/>
    <p:sldId id="445" r:id="rId183"/>
    <p:sldId id="446" r:id="rId184"/>
    <p:sldId id="447" r:id="rId185"/>
    <p:sldId id="448" r:id="rId186"/>
    <p:sldId id="449" r:id="rId187"/>
    <p:sldId id="450" r:id="rId188"/>
    <p:sldId id="451" r:id="rId189"/>
    <p:sldId id="452" r:id="rId190"/>
    <p:sldId id="453" r:id="rId191"/>
  </p:sldIdLst>
  <p:sldSz cx="12192000" cy="6858000"/>
  <p:notesSz cx="6858000" cy="9144000"/>
  <p:defaultTextStyle>
    <a:defPPr lvl="0">
      <a:defRPr lang="es-CO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presProps" Target="pres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theme" Target="theme/theme1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tableStyles" Target="tableStyle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E5D87-1675-4E9E-82A9-21EB18BEE057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7D282-2119-4843-8C0E-F45F6DEE23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856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27D282-2119-4843-8C0E-F45F6DEE2347}" type="slidenum">
              <a:rPr lang="es-CO" smtClean="0"/>
              <a:t>145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740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E8E0-4D5F-4800-BAAF-B85C92A4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C2275-54F4-4CC2-9692-83043B555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303B3-AA37-4666-A794-E55162E9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7F062-69E1-4BDD-A2F0-56DBAE0E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A307-6B3B-45B0-96CE-8102401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3058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8833-26C6-45E2-A150-F59C8CDD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E9AE6-C0B8-4BBB-9B75-8DBEE88B6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0E8B1-14CD-4F7C-9758-314A3451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9D21-DCBA-4440-88B7-B0B44C4B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F788B-62AD-4F1F-AE4F-EDEB042C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666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74D9-4B4C-4D33-AF64-02BA7B01A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6F928-5640-4155-928F-0E62471A9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1AB6-042D-4CEF-BB09-B12D7289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10264-0ECA-4593-9C18-35079497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5D692-1F1F-4C3A-8CED-731C025A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173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90F0-90C1-4334-A138-089B6E48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211D-773E-4061-99CE-BB07A7F52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672BB-3175-42CB-9F3A-2D28EF683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D6F62-2EFC-45B5-BB0B-C3B7EF70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93524-59A0-4EBE-9BD6-937B80F8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784A9-5182-4861-AEAC-0D3D10CE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88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DAFA-357C-4852-B9A9-41A044F5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60DAC-7C91-4F4D-913D-0DA43718E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B19D6-2A39-4098-8438-54FCB558C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977FD-DBBB-47F2-8BD0-61199783AE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19506-810D-40A6-9B60-5B86F5C77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0671D-EE11-42F9-A467-DB406493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3843A-6557-4128-BE42-E6E20643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F5021-BBFC-426B-9818-F064F8CF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729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7701-2C2B-4CFC-85D5-65963061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DEAF2-BED0-4AD7-B6D7-57255276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BE6A2C-BE50-4447-8DD2-57E1AD62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CB324-BE68-42BA-93BF-FDEDFDEC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7406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F306A-AA8E-4E5F-B72C-516D38C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D5C19-DAFA-475A-B817-C210B0BF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C3E50-35B9-486F-BAA8-A3CCE071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507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B748-52F6-42B6-9C70-41FED19E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3E74C-EC0B-4AE6-AF37-BD2BFB587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5D153-6919-479A-89C9-9174ECE78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546C45-058B-445B-B584-95E1E046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8C221-5057-4B10-BAB3-7D29C113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5B2CA-6048-469E-A2A9-E6A9C7C5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771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8134-F3A9-4DB5-9F0B-4B85C330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5C468-4FF3-4F22-8769-E7D31C3C7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C1DD3-1D55-4CBA-89C8-4C980780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AE7D9-BFC5-4E1F-B4C2-D7097AFBA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7EBD6-F317-436A-9D26-6DF88461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984B5-4A7E-4FDA-9CF2-97565134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687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9623-51C2-45DB-99DF-F2C2FF8A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EF77F-4C1C-47B7-BDD8-4F4778A43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43A90-67C7-4DCA-84A5-242E7BB5B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4C06-DA89-4B53-91E3-0D27412E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A80E2-86E9-4A16-B7C1-E622E4DD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488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CF75F8-EA43-471D-8702-5D640FCB5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EADFB-2A7F-4F0A-B73C-47F1B8665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AEA6C-5E54-44E0-8FFA-3CA8405D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571AE-B0A8-4663-9072-0BD48A2C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64149-62F5-43B6-9341-5F89EBAA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637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57827-DAB1-4108-944F-03807C9C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15930-43A0-4D3E-B079-E7CAF1B89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749DA-EB73-4959-8E74-D4D891916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2B485-64F7-43EE-A625-D02AB8F9C4A6}" type="datetimeFigureOut">
              <a:rPr lang="es-CO" smtClean="0"/>
              <a:t>13/11/2022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48FE9-D5CB-4752-88AF-9224591EC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65730-B1BD-43CC-94C6-AA67FF3DB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F160F-5FF7-4998-B9B8-495A1704056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272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9" Type="http://schemas.openxmlformats.org/officeDocument/2006/relationships/image" Target="../media/image70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41" Type="http://schemas.openxmlformats.org/officeDocument/2006/relationships/image" Target="../media/image72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emf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37" Type="http://schemas.openxmlformats.org/officeDocument/2006/relationships/image" Target="../media/image68.png"/><Relationship Id="rId40" Type="http://schemas.openxmlformats.org/officeDocument/2006/relationships/image" Target="../media/image71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69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2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3.emf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oleObject" Target="../embeddings/oleObject3.bin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7.png"/><Relationship Id="rId4" Type="http://schemas.openxmlformats.org/officeDocument/2006/relationships/image" Target="../media/image3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2.png"/><Relationship Id="rId3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2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5.emf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oleObject" Target="../embeddings/oleObject4.bin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7.png"/><Relationship Id="rId4" Type="http://schemas.openxmlformats.org/officeDocument/2006/relationships/image" Target="../media/image3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2.png"/><Relationship Id="rId3" Type="http://schemas.openxmlformats.org/officeDocument/2006/relationships/image" Target="../media/image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2.png"/><Relationship Id="rId21" Type="http://schemas.openxmlformats.org/officeDocument/2006/relationships/image" Target="../media/image57.png"/><Relationship Id="rId34" Type="http://schemas.openxmlformats.org/officeDocument/2006/relationships/image" Target="../media/image7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61.png"/><Relationship Id="rId33" Type="http://schemas.openxmlformats.org/officeDocument/2006/relationships/image" Target="../media/image69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png"/><Relationship Id="rId20" Type="http://schemas.openxmlformats.org/officeDocument/2006/relationships/image" Target="../media/image56.png"/><Relationship Id="rId29" Type="http://schemas.openxmlformats.org/officeDocument/2006/relationships/image" Target="../media/image65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60.png"/><Relationship Id="rId32" Type="http://schemas.openxmlformats.org/officeDocument/2006/relationships/image" Target="../media/image68.png"/><Relationship Id="rId37" Type="http://schemas.openxmlformats.org/officeDocument/2006/relationships/image" Target="../media/image78.emf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36" Type="http://schemas.openxmlformats.org/officeDocument/2006/relationships/oleObject" Target="../embeddings/oleObject5.bin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31" Type="http://schemas.openxmlformats.org/officeDocument/2006/relationships/image" Target="../media/image67.png"/><Relationship Id="rId4" Type="http://schemas.openxmlformats.org/officeDocument/2006/relationships/image" Target="../media/image3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Relationship Id="rId30" Type="http://schemas.openxmlformats.org/officeDocument/2006/relationships/image" Target="../media/image66.png"/><Relationship Id="rId35" Type="http://schemas.openxmlformats.org/officeDocument/2006/relationships/image" Target="../media/image71.png"/><Relationship Id="rId8" Type="http://schemas.openxmlformats.org/officeDocument/2006/relationships/image" Target="../media/image42.png"/><Relationship Id="rId3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3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2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3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3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3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6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8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3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357547-D749-4678-9CDB-FEF3F694211D}"/>
              </a:ext>
            </a:extLst>
          </p:cNvPr>
          <p:cNvSpPr txBox="1"/>
          <p:nvPr/>
        </p:nvSpPr>
        <p:spPr>
          <a:xfrm>
            <a:off x="102742" y="1797978"/>
            <a:ext cx="25068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Hacer formulario de registro de la empresa  como </a:t>
            </a:r>
            <a:r>
              <a:rPr lang="es-MX" dirty="0" err="1"/>
              <a:t>adm</a:t>
            </a:r>
            <a:r>
              <a:rPr lang="es-MX" dirty="0"/>
              <a:t>.</a:t>
            </a:r>
          </a:p>
          <a:p>
            <a:endParaRPr lang="es-MX" dirty="0"/>
          </a:p>
          <a:p>
            <a:r>
              <a:rPr lang="es-MX" dirty="0"/>
              <a:t>C.C = usuario</a:t>
            </a:r>
          </a:p>
          <a:p>
            <a:r>
              <a:rPr lang="es-CO" dirty="0"/>
              <a:t>Nombre</a:t>
            </a:r>
          </a:p>
          <a:p>
            <a:r>
              <a:rPr lang="es-CO" dirty="0"/>
              <a:t>Contraseña</a:t>
            </a:r>
          </a:p>
          <a:p>
            <a:endParaRPr lang="es-MX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CF2FDDDE-EC24-41B8-9174-8879F878250F}"/>
              </a:ext>
            </a:extLst>
          </p:cNvPr>
          <p:cNvSpPr txBox="1"/>
          <p:nvPr/>
        </p:nvSpPr>
        <p:spPr>
          <a:xfrm>
            <a:off x="3303864" y="1139330"/>
            <a:ext cx="5181600" cy="1058585"/>
          </a:xfrm>
          <a:prstGeom prst="rect">
            <a:avLst/>
          </a:prstGeom>
          <a:gradFill flip="none" rotWithShape="1">
            <a:gsLst>
              <a:gs pos="823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151E17-B7B3-4B28-A194-E1743D09F7AF}"/>
              </a:ext>
            </a:extLst>
          </p:cNvPr>
          <p:cNvSpPr txBox="1"/>
          <p:nvPr/>
        </p:nvSpPr>
        <p:spPr>
          <a:xfrm>
            <a:off x="4974672" y="1345455"/>
            <a:ext cx="3313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SEGURIDAD Y SALUD EN EL TRABAJO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5AFC9FD-6AAD-40F1-9587-BBBB7B994565}"/>
              </a:ext>
            </a:extLst>
          </p:cNvPr>
          <p:cNvSpPr txBox="1"/>
          <p:nvPr/>
        </p:nvSpPr>
        <p:spPr>
          <a:xfrm>
            <a:off x="3303864" y="2197911"/>
            <a:ext cx="5181600" cy="2751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651D41C3-1269-490E-B108-8F60FCE5E30E}"/>
              </a:ext>
            </a:extLst>
          </p:cNvPr>
          <p:cNvSpPr txBox="1"/>
          <p:nvPr/>
        </p:nvSpPr>
        <p:spPr>
          <a:xfrm>
            <a:off x="3783434" y="2625753"/>
            <a:ext cx="4311941" cy="261610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dirty="0"/>
              <a:t>Ingresar Usuario</a:t>
            </a:r>
            <a:endParaRPr lang="es-CO" sz="1100" dirty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F0D040B1-05F0-400C-9285-8E2F7004D610}"/>
              </a:ext>
            </a:extLst>
          </p:cNvPr>
          <p:cNvSpPr txBox="1"/>
          <p:nvPr/>
        </p:nvSpPr>
        <p:spPr>
          <a:xfrm>
            <a:off x="3783434" y="2897302"/>
            <a:ext cx="165263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1200" dirty="0"/>
              <a:t>*Usuario:</a:t>
            </a:r>
          </a:p>
          <a:p>
            <a:pPr algn="r"/>
            <a:endParaRPr lang="es-MX" sz="1200" dirty="0"/>
          </a:p>
          <a:p>
            <a:pPr algn="r"/>
            <a:r>
              <a:rPr lang="es-MX" sz="1200" dirty="0"/>
              <a:t>*Contraseña</a:t>
            </a:r>
          </a:p>
          <a:p>
            <a:pPr algn="r"/>
            <a:endParaRPr lang="es-CO" sz="1200" dirty="0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5822E89B-A5D5-4C55-81F1-CB8411430E5A}"/>
              </a:ext>
            </a:extLst>
          </p:cNvPr>
          <p:cNvSpPr txBox="1"/>
          <p:nvPr/>
        </p:nvSpPr>
        <p:spPr>
          <a:xfrm>
            <a:off x="6129206" y="4029164"/>
            <a:ext cx="620783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Ingresar</a:t>
            </a:r>
            <a:endParaRPr lang="es-CO" sz="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93B55D8-5B46-46A2-8D8F-93F52B89E9D1}"/>
              </a:ext>
            </a:extLst>
          </p:cNvPr>
          <p:cNvSpPr txBox="1"/>
          <p:nvPr/>
        </p:nvSpPr>
        <p:spPr>
          <a:xfrm>
            <a:off x="5436066" y="2897302"/>
            <a:ext cx="2659309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E14BA40-9CA2-4F9C-8CC2-3AFF742FFC75}"/>
              </a:ext>
            </a:extLst>
          </p:cNvPr>
          <p:cNvSpPr txBox="1"/>
          <p:nvPr/>
        </p:nvSpPr>
        <p:spPr>
          <a:xfrm>
            <a:off x="5511566" y="2961831"/>
            <a:ext cx="2476847" cy="2462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ED3EC5E-9A14-4DA0-A877-3280C46B3B0B}"/>
              </a:ext>
            </a:extLst>
          </p:cNvPr>
          <p:cNvSpPr txBox="1"/>
          <p:nvPr/>
        </p:nvSpPr>
        <p:spPr>
          <a:xfrm>
            <a:off x="5511567" y="3305889"/>
            <a:ext cx="2476847" cy="2462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1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35D766A-60BB-4DC1-843E-D23A3BB86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183" y="1292940"/>
            <a:ext cx="882567" cy="7923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87541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9B0ED973-9BA7-4ED9-B82C-118F3A0D7063}"/>
              </a:ext>
            </a:extLst>
          </p:cNvPr>
          <p:cNvSpPr txBox="1"/>
          <p:nvPr/>
        </p:nvSpPr>
        <p:spPr>
          <a:xfrm>
            <a:off x="3303864" y="1139330"/>
            <a:ext cx="5181600" cy="1058585"/>
          </a:xfrm>
          <a:prstGeom prst="rect">
            <a:avLst/>
          </a:prstGeom>
          <a:gradFill flip="none" rotWithShape="1">
            <a:gsLst>
              <a:gs pos="823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E7FC3911-ACDE-4A8F-9C46-816E693DC148}"/>
              </a:ext>
            </a:extLst>
          </p:cNvPr>
          <p:cNvSpPr txBox="1"/>
          <p:nvPr/>
        </p:nvSpPr>
        <p:spPr>
          <a:xfrm>
            <a:off x="4974672" y="1345455"/>
            <a:ext cx="3313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chemeClr val="bg1"/>
                </a:solidFill>
              </a:rPr>
              <a:t>SEGURIDAD Y SALUD EN EL TRABAJO</a:t>
            </a:r>
            <a:endParaRPr lang="es-CO" dirty="0">
              <a:solidFill>
                <a:schemeClr val="bg1"/>
              </a:solidFill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7E3D92B-415D-4926-B658-DA3B266DBA6B}"/>
              </a:ext>
            </a:extLst>
          </p:cNvPr>
          <p:cNvSpPr txBox="1"/>
          <p:nvPr/>
        </p:nvSpPr>
        <p:spPr>
          <a:xfrm>
            <a:off x="3303864" y="2197911"/>
            <a:ext cx="5181600" cy="2751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3530FBE-2DD0-4104-87F3-66326F07FA94}"/>
              </a:ext>
            </a:extLst>
          </p:cNvPr>
          <p:cNvSpPr txBox="1"/>
          <p:nvPr/>
        </p:nvSpPr>
        <p:spPr>
          <a:xfrm>
            <a:off x="3783434" y="2625753"/>
            <a:ext cx="4311941" cy="261610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dirty="0"/>
              <a:t>Ingresar Usuario</a:t>
            </a:r>
            <a:endParaRPr lang="es-CO" sz="1100" dirty="0"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930EE542-F1F9-48DE-93EE-B10E4C327C7F}"/>
              </a:ext>
            </a:extLst>
          </p:cNvPr>
          <p:cNvSpPr txBox="1"/>
          <p:nvPr/>
        </p:nvSpPr>
        <p:spPr>
          <a:xfrm>
            <a:off x="3783434" y="2897302"/>
            <a:ext cx="165263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1200" dirty="0"/>
              <a:t>*Usuario:</a:t>
            </a:r>
          </a:p>
          <a:p>
            <a:pPr algn="r"/>
            <a:endParaRPr lang="es-MX" sz="1200" dirty="0"/>
          </a:p>
          <a:p>
            <a:pPr algn="r"/>
            <a:r>
              <a:rPr lang="es-MX" sz="1200" dirty="0"/>
              <a:t>*Contraseña</a:t>
            </a:r>
          </a:p>
          <a:p>
            <a:pPr algn="r"/>
            <a:endParaRPr lang="es-CO" sz="1200" dirty="0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00CDD5EB-854A-43EB-8BD2-7688CA84645A}"/>
              </a:ext>
            </a:extLst>
          </p:cNvPr>
          <p:cNvSpPr txBox="1"/>
          <p:nvPr/>
        </p:nvSpPr>
        <p:spPr>
          <a:xfrm>
            <a:off x="6129206" y="4029164"/>
            <a:ext cx="620783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Ingresar</a:t>
            </a:r>
            <a:endParaRPr lang="es-CO" sz="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B0CE98-1E95-4673-877E-5553E8D4469E}"/>
              </a:ext>
            </a:extLst>
          </p:cNvPr>
          <p:cNvSpPr txBox="1"/>
          <p:nvPr/>
        </p:nvSpPr>
        <p:spPr>
          <a:xfrm>
            <a:off x="5436066" y="2897302"/>
            <a:ext cx="2659309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FF8D95-EDAE-45F0-BC46-F98902CEE55E}"/>
              </a:ext>
            </a:extLst>
          </p:cNvPr>
          <p:cNvSpPr txBox="1"/>
          <p:nvPr/>
        </p:nvSpPr>
        <p:spPr>
          <a:xfrm>
            <a:off x="5511566" y="2961831"/>
            <a:ext cx="2476847" cy="2462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10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9F151A-5B30-4207-A866-BF0568D48C9E}"/>
              </a:ext>
            </a:extLst>
          </p:cNvPr>
          <p:cNvSpPr txBox="1"/>
          <p:nvPr/>
        </p:nvSpPr>
        <p:spPr>
          <a:xfrm>
            <a:off x="5511567" y="3305889"/>
            <a:ext cx="2476847" cy="2462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10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0135877-CAFA-41D1-BA04-B39EB5EDB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183" y="1292940"/>
            <a:ext cx="882567" cy="7923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4749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" y="801355"/>
            <a:ext cx="1161535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86958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6236161" y="115923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8480959" y="1153593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10288913" y="115359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247135" y="1952779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" y="92741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7" name="TextBox 10">
            <a:extLst>
              <a:ext uri="{FF2B5EF4-FFF2-40B4-BE49-F238E27FC236}">
                <a16:creationId xmlns:a16="http://schemas.microsoft.com/office/drawing/2014/main" id="{122E1A67-21C1-0380-BE81-7B23E19F97B4}"/>
              </a:ext>
            </a:extLst>
          </p:cNvPr>
          <p:cNvSpPr txBox="1"/>
          <p:nvPr/>
        </p:nvSpPr>
        <p:spPr>
          <a:xfrm>
            <a:off x="1563903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Configuración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63476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" y="801355"/>
            <a:ext cx="1161535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86958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6236161" y="115923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8480959" y="1153593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10288913" y="115359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247135" y="1952779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" y="92741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2064711" y="1699330"/>
            <a:ext cx="14884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Empresa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3273830" y="175428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22E1A67-21C1-0380-BE81-7B23E19F97B4}"/>
              </a:ext>
            </a:extLst>
          </p:cNvPr>
          <p:cNvSpPr txBox="1"/>
          <p:nvPr/>
        </p:nvSpPr>
        <p:spPr>
          <a:xfrm>
            <a:off x="1563903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Configuración </a:t>
            </a:r>
            <a:endParaRPr lang="es-CO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D10A26F-8669-D66E-AD14-6D9D5D9D27BB}"/>
              </a:ext>
            </a:extLst>
          </p:cNvPr>
          <p:cNvSpPr txBox="1"/>
          <p:nvPr/>
        </p:nvSpPr>
        <p:spPr>
          <a:xfrm>
            <a:off x="3616016" y="1716626"/>
            <a:ext cx="12739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Información Empresa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F420436-CCB8-564E-BE94-9E79BFD0A5FC}"/>
              </a:ext>
            </a:extLst>
          </p:cNvPr>
          <p:cNvSpPr/>
          <p:nvPr/>
        </p:nvSpPr>
        <p:spPr>
          <a:xfrm>
            <a:off x="4530101" y="190666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6058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2588640-D57B-DD25-4DA7-FABA0507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BC2B1DA5-E4C3-2898-7E79-91E3DA84B500}"/>
              </a:ext>
            </a:extLst>
          </p:cNvPr>
          <p:cNvSpPr txBox="1"/>
          <p:nvPr/>
        </p:nvSpPr>
        <p:spPr>
          <a:xfrm>
            <a:off x="3278844" y="1200948"/>
            <a:ext cx="1619075" cy="27699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Configuración General</a:t>
            </a:r>
            <a:endParaRPr lang="es-CO" sz="1200" dirty="0">
              <a:solidFill>
                <a:schemeClr val="bg1"/>
              </a:solidFill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D47B5D16-909D-9FDB-1E61-E4621DAD0B97}"/>
              </a:ext>
            </a:extLst>
          </p:cNvPr>
          <p:cNvSpPr txBox="1"/>
          <p:nvPr/>
        </p:nvSpPr>
        <p:spPr>
          <a:xfrm>
            <a:off x="5243117" y="1147087"/>
            <a:ext cx="1249961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DD6D5D85-C9CC-03FE-8D6B-33EB605B43CF}"/>
              </a:ext>
            </a:extLst>
          </p:cNvPr>
          <p:cNvSpPr txBox="1"/>
          <p:nvPr/>
        </p:nvSpPr>
        <p:spPr>
          <a:xfrm>
            <a:off x="6838275" y="1147087"/>
            <a:ext cx="939567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Hacer</a:t>
            </a:r>
            <a:endParaRPr lang="es-CO" dirty="0"/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B08DCDB1-6F20-0F80-9E1B-61210A88216B}"/>
              </a:ext>
            </a:extLst>
          </p:cNvPr>
          <p:cNvSpPr txBox="1"/>
          <p:nvPr/>
        </p:nvSpPr>
        <p:spPr>
          <a:xfrm>
            <a:off x="8123040" y="1147087"/>
            <a:ext cx="1072989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Verificar</a:t>
            </a:r>
            <a:endParaRPr lang="es-CO" dirty="0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6D8D8C75-CAE5-4C11-224C-B5F36534197A}"/>
              </a:ext>
            </a:extLst>
          </p:cNvPr>
          <p:cNvSpPr txBox="1"/>
          <p:nvPr/>
        </p:nvSpPr>
        <p:spPr>
          <a:xfrm>
            <a:off x="9420837" y="1147087"/>
            <a:ext cx="86406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Actuar</a:t>
            </a:r>
            <a:endParaRPr lang="es-CO" dirty="0"/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C1E82760-663A-2882-32D6-E2950C9997AE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921C43B6-13FF-1E35-C805-B95BADF7F6D8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5AC513C-5386-AFBD-71E7-E126FD987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3514241F-FBE1-20B0-F339-F4524D5CDD2E}"/>
              </a:ext>
            </a:extLst>
          </p:cNvPr>
          <p:cNvSpPr txBox="1"/>
          <p:nvPr/>
        </p:nvSpPr>
        <p:spPr>
          <a:xfrm>
            <a:off x="1174459" y="2333625"/>
            <a:ext cx="10249925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900" dirty="0"/>
              <a:t>Información empresa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226D19-136D-1DCC-21B3-28DD1F5E13E1}"/>
              </a:ext>
            </a:extLst>
          </p:cNvPr>
          <p:cNvSpPr txBox="1"/>
          <p:nvPr/>
        </p:nvSpPr>
        <p:spPr>
          <a:xfrm>
            <a:off x="5856131" y="4823503"/>
            <a:ext cx="821505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Guardar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AC36314-BC8D-414F-50AF-AEB7600D92D3}"/>
              </a:ext>
            </a:extLst>
          </p:cNvPr>
          <p:cNvSpPr txBox="1"/>
          <p:nvPr/>
        </p:nvSpPr>
        <p:spPr>
          <a:xfrm>
            <a:off x="7124700" y="3541096"/>
            <a:ext cx="22961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bg1"/>
                </a:solidFill>
              </a:rPr>
              <a:t>                               Descripción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3A51F0C-B666-496C-8E2F-B83E4FCAB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216" y="5552731"/>
            <a:ext cx="262438" cy="201202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50B73A1-424C-BDFE-F1CA-4741307D4B57}"/>
              </a:ext>
            </a:extLst>
          </p:cNvPr>
          <p:cNvSpPr txBox="1"/>
          <p:nvPr/>
        </p:nvSpPr>
        <p:spPr>
          <a:xfrm>
            <a:off x="1367406" y="2651000"/>
            <a:ext cx="201335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*Nit Empresa: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A2FF35D-1EDF-921B-B6BE-3C6D60AB1787}"/>
              </a:ext>
            </a:extLst>
          </p:cNvPr>
          <p:cNvSpPr txBox="1"/>
          <p:nvPr/>
        </p:nvSpPr>
        <p:spPr>
          <a:xfrm>
            <a:off x="1385284" y="3318879"/>
            <a:ext cx="201570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*Actividad Económica: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4D784FB-2231-9412-E7D6-33D857B98451}"/>
              </a:ext>
            </a:extLst>
          </p:cNvPr>
          <p:cNvSpPr txBox="1"/>
          <p:nvPr/>
        </p:nvSpPr>
        <p:spPr>
          <a:xfrm>
            <a:off x="1367407" y="3712132"/>
            <a:ext cx="203123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*Departamento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3076500-0FD5-8C75-67B7-93347F5E4BBC}"/>
              </a:ext>
            </a:extLst>
          </p:cNvPr>
          <p:cNvSpPr txBox="1"/>
          <p:nvPr/>
        </p:nvSpPr>
        <p:spPr>
          <a:xfrm>
            <a:off x="1385284" y="4049160"/>
            <a:ext cx="201570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*Dirección: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A6A5920-28AE-82A7-38CC-548AA992C4BD}"/>
              </a:ext>
            </a:extLst>
          </p:cNvPr>
          <p:cNvSpPr txBox="1"/>
          <p:nvPr/>
        </p:nvSpPr>
        <p:spPr>
          <a:xfrm>
            <a:off x="1385284" y="4400004"/>
            <a:ext cx="199547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*Adjuntar Logo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BAF4042-FF1A-FF29-C885-459B603A2B54}"/>
              </a:ext>
            </a:extLst>
          </p:cNvPr>
          <p:cNvSpPr txBox="1"/>
          <p:nvPr/>
        </p:nvSpPr>
        <p:spPr>
          <a:xfrm>
            <a:off x="7261788" y="4400004"/>
            <a:ext cx="141861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WEB: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18F5938-6F46-5822-CD32-35C71C0208CE}"/>
              </a:ext>
            </a:extLst>
          </p:cNvPr>
          <p:cNvSpPr txBox="1"/>
          <p:nvPr/>
        </p:nvSpPr>
        <p:spPr>
          <a:xfrm>
            <a:off x="7253529" y="4049160"/>
            <a:ext cx="141861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*Teléfono: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D14F130-BD50-D839-6CAF-1A842BE6081C}"/>
              </a:ext>
            </a:extLst>
          </p:cNvPr>
          <p:cNvSpPr txBox="1"/>
          <p:nvPr/>
        </p:nvSpPr>
        <p:spPr>
          <a:xfrm>
            <a:off x="7240921" y="3698316"/>
            <a:ext cx="141861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*Cuidad: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597C0D1-378D-569E-797D-BE52FA2FC71F}"/>
              </a:ext>
            </a:extLst>
          </p:cNvPr>
          <p:cNvSpPr txBox="1"/>
          <p:nvPr/>
        </p:nvSpPr>
        <p:spPr>
          <a:xfrm>
            <a:off x="7256325" y="3325652"/>
            <a:ext cx="141861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*País: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44B33C3-063F-790F-5A00-711B151EAEF9}"/>
              </a:ext>
            </a:extLst>
          </p:cNvPr>
          <p:cNvSpPr txBox="1"/>
          <p:nvPr/>
        </p:nvSpPr>
        <p:spPr>
          <a:xfrm>
            <a:off x="1385284" y="2986242"/>
            <a:ext cx="201335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*Nombre de la Empresa: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97BFAB1-3459-E1D4-09F1-F3C928A018CE}"/>
              </a:ext>
            </a:extLst>
          </p:cNvPr>
          <p:cNvSpPr txBox="1"/>
          <p:nvPr/>
        </p:nvSpPr>
        <p:spPr>
          <a:xfrm>
            <a:off x="7266111" y="2637812"/>
            <a:ext cx="141861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*Digito Verificación: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D4BED79-5FEA-9EBC-D99D-1567693346AF}"/>
              </a:ext>
            </a:extLst>
          </p:cNvPr>
          <p:cNvSpPr txBox="1"/>
          <p:nvPr/>
        </p:nvSpPr>
        <p:spPr>
          <a:xfrm>
            <a:off x="3398636" y="2651000"/>
            <a:ext cx="37260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9D6C310-B2F4-B61F-F890-E618C7E359DA}"/>
              </a:ext>
            </a:extLst>
          </p:cNvPr>
          <p:cNvSpPr txBox="1"/>
          <p:nvPr/>
        </p:nvSpPr>
        <p:spPr>
          <a:xfrm>
            <a:off x="3427742" y="3342962"/>
            <a:ext cx="37260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3A40BCD-B4DD-73D9-38CA-CAB2D98EE649}"/>
              </a:ext>
            </a:extLst>
          </p:cNvPr>
          <p:cNvSpPr txBox="1"/>
          <p:nvPr/>
        </p:nvSpPr>
        <p:spPr>
          <a:xfrm>
            <a:off x="3415023" y="3696308"/>
            <a:ext cx="37260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5D4CAA4-E23C-A585-92DD-9CBA5D0876BF}"/>
              </a:ext>
            </a:extLst>
          </p:cNvPr>
          <p:cNvSpPr txBox="1"/>
          <p:nvPr/>
        </p:nvSpPr>
        <p:spPr>
          <a:xfrm>
            <a:off x="3415023" y="4032237"/>
            <a:ext cx="37260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1BD0724-D24B-AC8D-E7FF-9AB9877209EE}"/>
              </a:ext>
            </a:extLst>
          </p:cNvPr>
          <p:cNvSpPr txBox="1"/>
          <p:nvPr/>
        </p:nvSpPr>
        <p:spPr>
          <a:xfrm>
            <a:off x="8730580" y="2660866"/>
            <a:ext cx="248550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94197AF-1738-7D18-F5A5-7456C5DFE05C}"/>
              </a:ext>
            </a:extLst>
          </p:cNvPr>
          <p:cNvSpPr txBox="1"/>
          <p:nvPr/>
        </p:nvSpPr>
        <p:spPr>
          <a:xfrm>
            <a:off x="3417930" y="4400883"/>
            <a:ext cx="37260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BBC034B-7A26-EAF5-1647-06182F59F1A7}"/>
              </a:ext>
            </a:extLst>
          </p:cNvPr>
          <p:cNvSpPr txBox="1"/>
          <p:nvPr/>
        </p:nvSpPr>
        <p:spPr>
          <a:xfrm>
            <a:off x="3428330" y="3002486"/>
            <a:ext cx="77594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4A0F5F6-04F0-D731-D4FB-715D4C8306ED}"/>
              </a:ext>
            </a:extLst>
          </p:cNvPr>
          <p:cNvSpPr txBox="1"/>
          <p:nvPr/>
        </p:nvSpPr>
        <p:spPr>
          <a:xfrm>
            <a:off x="8727932" y="3300128"/>
            <a:ext cx="248550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7307F4D-3D49-2A89-60EB-771C6F2B4185}"/>
              </a:ext>
            </a:extLst>
          </p:cNvPr>
          <p:cNvSpPr txBox="1"/>
          <p:nvPr/>
        </p:nvSpPr>
        <p:spPr>
          <a:xfrm>
            <a:off x="8695210" y="3713520"/>
            <a:ext cx="251822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65B8F30-5E24-2886-37A3-6A3509EDFACC}"/>
              </a:ext>
            </a:extLst>
          </p:cNvPr>
          <p:cNvSpPr txBox="1"/>
          <p:nvPr/>
        </p:nvSpPr>
        <p:spPr>
          <a:xfrm>
            <a:off x="8695212" y="4041084"/>
            <a:ext cx="251822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76C851E-D972-C246-E019-607461FD9001}"/>
              </a:ext>
            </a:extLst>
          </p:cNvPr>
          <p:cNvSpPr txBox="1"/>
          <p:nvPr/>
        </p:nvSpPr>
        <p:spPr>
          <a:xfrm>
            <a:off x="8695212" y="4385931"/>
            <a:ext cx="251822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4478F38-D35F-FA9E-84CE-82E03A8D83D1}"/>
              </a:ext>
            </a:extLst>
          </p:cNvPr>
          <p:cNvSpPr txBox="1"/>
          <p:nvPr/>
        </p:nvSpPr>
        <p:spPr>
          <a:xfrm>
            <a:off x="1174459" y="5308556"/>
            <a:ext cx="10214556" cy="2154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bg1"/>
                </a:solidFill>
              </a:rPr>
              <a:t>Nit empresa       Digito Verificación                   Empresa                           Actividad  Económica                       Cuidad                                 Dirección                                                            Teléfono                                                                   Pagina WEB        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880B5CD-45C8-6A80-4FC4-63C6C92EAC9D}"/>
              </a:ext>
            </a:extLst>
          </p:cNvPr>
          <p:cNvSpPr txBox="1"/>
          <p:nvPr/>
        </p:nvSpPr>
        <p:spPr>
          <a:xfrm>
            <a:off x="1174460" y="5519551"/>
            <a:ext cx="10214555" cy="21544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901013594                        8                           MUNDO BAGS                                  4171                                             Medellín                           Cra 47  48-65 Ofi 801                                          4034210                                                         www.mundobags.co</a:t>
            </a:r>
          </a:p>
        </p:txBody>
      </p:sp>
    </p:spTree>
    <p:extLst>
      <p:ext uri="{BB962C8B-B14F-4D97-AF65-F5344CB8AC3E}">
        <p14:creationId xmlns:p14="http://schemas.microsoft.com/office/powerpoint/2010/main" val="21185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" y="801355"/>
            <a:ext cx="1161535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86958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6236161" y="115923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8480959" y="1153593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10288913" y="115359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247135" y="1952779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" y="92741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2064711" y="1699330"/>
            <a:ext cx="148849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Empresa</a:t>
            </a:r>
          </a:p>
          <a:p>
            <a:endParaRPr lang="es-MX" dirty="0"/>
          </a:p>
          <a:p>
            <a:r>
              <a:rPr lang="es-MX" dirty="0"/>
              <a:t>Contratos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3215003" y="18770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22E1A67-21C1-0380-BE81-7B23E19F97B4}"/>
              </a:ext>
            </a:extLst>
          </p:cNvPr>
          <p:cNvSpPr txBox="1"/>
          <p:nvPr/>
        </p:nvSpPr>
        <p:spPr>
          <a:xfrm>
            <a:off x="1563903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Configuración </a:t>
            </a:r>
            <a:endParaRPr lang="es-CO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D10A26F-8669-D66E-AD14-6D9D5D9D27BB}"/>
              </a:ext>
            </a:extLst>
          </p:cNvPr>
          <p:cNvSpPr txBox="1"/>
          <p:nvPr/>
        </p:nvSpPr>
        <p:spPr>
          <a:xfrm>
            <a:off x="3621736" y="2274533"/>
            <a:ext cx="127390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Empleados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F420436-CCB8-564E-BE94-9E79BFD0A5FC}"/>
              </a:ext>
            </a:extLst>
          </p:cNvPr>
          <p:cNvSpPr/>
          <p:nvPr/>
        </p:nvSpPr>
        <p:spPr>
          <a:xfrm>
            <a:off x="4515930" y="236777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1958641-0CF9-3C9A-8A5B-D0F81852FDB7}"/>
              </a:ext>
            </a:extLst>
          </p:cNvPr>
          <p:cNvSpPr/>
          <p:nvPr/>
        </p:nvSpPr>
        <p:spPr>
          <a:xfrm>
            <a:off x="3215003" y="237518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6116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39" y="801355"/>
            <a:ext cx="11631826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4218433" y="1128249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6492532" y="1128249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8598810" y="1128545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10478241" y="1128249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260389" y="1927435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970591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79" y="916641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13040" y="2345650"/>
            <a:ext cx="11574160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Contratos empleados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309631" y="284042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hoy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1834811" y="2832302"/>
            <a:ext cx="76148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309631" y="3633803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Primer Nombre: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8D18496-9D17-4451-94DD-3B03D0E492C7}"/>
              </a:ext>
            </a:extLst>
          </p:cNvPr>
          <p:cNvSpPr txBox="1"/>
          <p:nvPr/>
        </p:nvSpPr>
        <p:spPr>
          <a:xfrm>
            <a:off x="2927389" y="3633803"/>
            <a:ext cx="128763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Segundo Nombre: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178049E-5E0F-4C4A-99A4-D593F0C52C8A}"/>
              </a:ext>
            </a:extLst>
          </p:cNvPr>
          <p:cNvSpPr txBox="1"/>
          <p:nvPr/>
        </p:nvSpPr>
        <p:spPr>
          <a:xfrm>
            <a:off x="5629294" y="3628007"/>
            <a:ext cx="122276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Primer Apellido: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60A341A-1DE2-4A08-AD05-8F83EBA79F58}"/>
              </a:ext>
            </a:extLst>
          </p:cNvPr>
          <p:cNvSpPr txBox="1"/>
          <p:nvPr/>
        </p:nvSpPr>
        <p:spPr>
          <a:xfrm>
            <a:off x="6956363" y="3622236"/>
            <a:ext cx="13099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0FD30DD-3507-449E-A6CC-63880DCD3FCE}"/>
              </a:ext>
            </a:extLst>
          </p:cNvPr>
          <p:cNvSpPr txBox="1"/>
          <p:nvPr/>
        </p:nvSpPr>
        <p:spPr>
          <a:xfrm>
            <a:off x="8148174" y="3961914"/>
            <a:ext cx="1112215" cy="10772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Físico:</a:t>
            </a:r>
          </a:p>
          <a:p>
            <a:r>
              <a:rPr lang="es-MX" sz="800" dirty="0"/>
              <a:t>Ruido</a:t>
            </a:r>
          </a:p>
          <a:p>
            <a:r>
              <a:rPr lang="es-MX" sz="800" dirty="0"/>
              <a:t>Temperatura extrema</a:t>
            </a:r>
          </a:p>
          <a:p>
            <a:r>
              <a:rPr lang="es-MX" sz="800" dirty="0"/>
              <a:t>Radiaciones no ionizantes</a:t>
            </a:r>
          </a:p>
          <a:p>
            <a:r>
              <a:rPr lang="es-MX" sz="800" dirty="0"/>
              <a:t>Vibraciones</a:t>
            </a:r>
          </a:p>
          <a:p>
            <a:r>
              <a:rPr lang="es-MX" sz="800" dirty="0"/>
              <a:t>Presiones anormales</a:t>
            </a:r>
          </a:p>
          <a:p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C33D6DF-7E22-4715-AC59-B6C494E447D8}"/>
              </a:ext>
            </a:extLst>
          </p:cNvPr>
          <p:cNvSpPr txBox="1"/>
          <p:nvPr/>
        </p:nvSpPr>
        <p:spPr>
          <a:xfrm>
            <a:off x="5129776" y="5830105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6C56D4A-14FD-40A4-81C7-FF666197C756}"/>
              </a:ext>
            </a:extLst>
          </p:cNvPr>
          <p:cNvSpPr txBox="1"/>
          <p:nvPr/>
        </p:nvSpPr>
        <p:spPr>
          <a:xfrm>
            <a:off x="4300821" y="3633803"/>
            <a:ext cx="12227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6A60CD1-19CF-4953-9770-C9F5CDEF69E5}"/>
              </a:ext>
            </a:extLst>
          </p:cNvPr>
          <p:cNvSpPr txBox="1"/>
          <p:nvPr/>
        </p:nvSpPr>
        <p:spPr>
          <a:xfrm>
            <a:off x="5133249" y="3984826"/>
            <a:ext cx="1859771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Administrativo</a:t>
            </a:r>
          </a:p>
          <a:p>
            <a:r>
              <a:rPr lang="es-MX" sz="800" dirty="0"/>
              <a:t>Operativo</a:t>
            </a:r>
          </a:p>
          <a:p>
            <a:r>
              <a:rPr lang="es-MX" sz="800" dirty="0"/>
              <a:t>Comercial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45F0037-D0CA-4F26-B529-A103CB25A96C}"/>
              </a:ext>
            </a:extLst>
          </p:cNvPr>
          <p:cNvSpPr txBox="1"/>
          <p:nvPr/>
        </p:nvSpPr>
        <p:spPr>
          <a:xfrm>
            <a:off x="5166114" y="5078518"/>
            <a:ext cx="1859771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Casado</a:t>
            </a:r>
          </a:p>
          <a:p>
            <a:r>
              <a:rPr lang="es-MX" sz="800" dirty="0"/>
              <a:t>Soltero</a:t>
            </a:r>
          </a:p>
          <a:p>
            <a:r>
              <a:rPr lang="es-MX" sz="800" dirty="0"/>
              <a:t>Viudo</a:t>
            </a:r>
          </a:p>
          <a:p>
            <a:r>
              <a:rPr lang="es-MX" sz="800" dirty="0"/>
              <a:t>Divorciado</a:t>
            </a:r>
          </a:p>
          <a:p>
            <a:r>
              <a:rPr lang="es-MX" sz="800" dirty="0"/>
              <a:t>Separado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D462633-B8C3-421A-8931-C9F367F82873}"/>
              </a:ext>
            </a:extLst>
          </p:cNvPr>
          <p:cNvSpPr txBox="1"/>
          <p:nvPr/>
        </p:nvSpPr>
        <p:spPr>
          <a:xfrm>
            <a:off x="1805371" y="5828504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7B41B51-2DB9-4713-B934-6EC6CAD07FA2}"/>
              </a:ext>
            </a:extLst>
          </p:cNvPr>
          <p:cNvSpPr txBox="1"/>
          <p:nvPr/>
        </p:nvSpPr>
        <p:spPr>
          <a:xfrm>
            <a:off x="1669555" y="3628007"/>
            <a:ext cx="117733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DAF0DD5-4385-4DC8-A21E-4CA0C529D6F9}"/>
              </a:ext>
            </a:extLst>
          </p:cNvPr>
          <p:cNvSpPr txBox="1"/>
          <p:nvPr/>
        </p:nvSpPr>
        <p:spPr>
          <a:xfrm>
            <a:off x="1682443" y="3981301"/>
            <a:ext cx="1859771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Indefinido</a:t>
            </a:r>
          </a:p>
          <a:p>
            <a:r>
              <a:rPr lang="es-MX" sz="800" dirty="0"/>
              <a:t>Fijo</a:t>
            </a:r>
          </a:p>
          <a:p>
            <a:r>
              <a:rPr lang="es-MX" sz="800" dirty="0"/>
              <a:t>Aprendizaje</a:t>
            </a:r>
          </a:p>
          <a:p>
            <a:r>
              <a:rPr lang="es-MX" sz="800" dirty="0"/>
              <a:t>Obra Labor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2751507-6E06-4C4C-A4BE-5E8201E07B94}"/>
              </a:ext>
            </a:extLst>
          </p:cNvPr>
          <p:cNvSpPr txBox="1"/>
          <p:nvPr/>
        </p:nvSpPr>
        <p:spPr>
          <a:xfrm>
            <a:off x="1714855" y="4823688"/>
            <a:ext cx="1859771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Gerente</a:t>
            </a:r>
          </a:p>
          <a:p>
            <a:r>
              <a:rPr lang="es-MX" sz="800" dirty="0"/>
              <a:t>Jefe personal</a:t>
            </a:r>
          </a:p>
          <a:p>
            <a:r>
              <a:rPr lang="es-MX" sz="800" dirty="0"/>
              <a:t>Coordinador RRHH</a:t>
            </a:r>
          </a:p>
          <a:p>
            <a:r>
              <a:rPr lang="es-MX" sz="800" dirty="0"/>
              <a:t>Auxiliar Contable</a:t>
            </a:r>
          </a:p>
          <a:p>
            <a:r>
              <a:rPr lang="es-MX" sz="800" dirty="0"/>
              <a:t>Mensajero</a:t>
            </a:r>
          </a:p>
          <a:p>
            <a:r>
              <a:rPr lang="es-MX" sz="800" dirty="0"/>
              <a:t>Portero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776299C-AE4F-4D4A-9333-9985CCECE809}"/>
              </a:ext>
            </a:extLst>
          </p:cNvPr>
          <p:cNvSpPr txBox="1"/>
          <p:nvPr/>
        </p:nvSpPr>
        <p:spPr>
          <a:xfrm>
            <a:off x="1834149" y="629848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BB2FD77-3A8B-49F8-846D-13DEB85D14FA}"/>
              </a:ext>
            </a:extLst>
          </p:cNvPr>
          <p:cNvSpPr txBox="1"/>
          <p:nvPr/>
        </p:nvSpPr>
        <p:spPr>
          <a:xfrm>
            <a:off x="3820942" y="629848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F214C27-3651-4A81-894B-A2BAFEF39B3F}"/>
              </a:ext>
            </a:extLst>
          </p:cNvPr>
          <p:cNvSpPr txBox="1"/>
          <p:nvPr/>
        </p:nvSpPr>
        <p:spPr>
          <a:xfrm>
            <a:off x="5807735" y="629848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6A37D87-066F-4986-8202-8B46371DEE9F}"/>
              </a:ext>
            </a:extLst>
          </p:cNvPr>
          <p:cNvSpPr txBox="1"/>
          <p:nvPr/>
        </p:nvSpPr>
        <p:spPr>
          <a:xfrm>
            <a:off x="7861250" y="629848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5F429D08-2E85-1B47-4906-B8173470BC93}"/>
              </a:ext>
            </a:extLst>
          </p:cNvPr>
          <p:cNvSpPr txBox="1"/>
          <p:nvPr/>
        </p:nvSpPr>
        <p:spPr>
          <a:xfrm>
            <a:off x="1618830" y="1128249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Configuración </a:t>
            </a:r>
            <a:endParaRPr lang="es-CO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89A9405-4506-62D4-2F1B-1DD450A97020}"/>
              </a:ext>
            </a:extLst>
          </p:cNvPr>
          <p:cNvSpPr txBox="1"/>
          <p:nvPr/>
        </p:nvSpPr>
        <p:spPr>
          <a:xfrm>
            <a:off x="8441868" y="362223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Segundo Apellido: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385BAEE-2714-74EB-D317-1F87962DDA89}"/>
              </a:ext>
            </a:extLst>
          </p:cNvPr>
          <p:cNvSpPr txBox="1"/>
          <p:nvPr/>
        </p:nvSpPr>
        <p:spPr>
          <a:xfrm>
            <a:off x="9957858" y="3609140"/>
            <a:ext cx="15200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EA459B7-ED9C-4D56-58F0-2D6D52C5494E}"/>
              </a:ext>
            </a:extLst>
          </p:cNvPr>
          <p:cNvSpPr txBox="1"/>
          <p:nvPr/>
        </p:nvSpPr>
        <p:spPr>
          <a:xfrm>
            <a:off x="333194" y="3982869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Tipo de Contrato: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CCDDAB78-0F6D-D480-BD7C-1604EED5CB8A}"/>
              </a:ext>
            </a:extLst>
          </p:cNvPr>
          <p:cNvSpPr txBox="1"/>
          <p:nvPr/>
        </p:nvSpPr>
        <p:spPr>
          <a:xfrm>
            <a:off x="362838" y="4823688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Cargo: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A4BC731-37C9-B37A-5E3A-0081C94BEDCC}"/>
              </a:ext>
            </a:extLst>
          </p:cNvPr>
          <p:cNvSpPr txBox="1"/>
          <p:nvPr/>
        </p:nvSpPr>
        <p:spPr>
          <a:xfrm>
            <a:off x="3247144" y="281767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Tipo de 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7EFE0EAA-11FF-8AF7-8A10-A709CD40209F}"/>
              </a:ext>
            </a:extLst>
          </p:cNvPr>
          <p:cNvSpPr txBox="1"/>
          <p:nvPr/>
        </p:nvSpPr>
        <p:spPr>
          <a:xfrm>
            <a:off x="4772323" y="2809544"/>
            <a:ext cx="152001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Cedula</a:t>
            </a:r>
          </a:p>
          <a:p>
            <a:r>
              <a:rPr lang="es-CO" sz="800" dirty="0"/>
              <a:t>Tarjeta de identidad</a:t>
            </a:r>
          </a:p>
          <a:p>
            <a:r>
              <a:rPr lang="es-CO" sz="800" dirty="0"/>
              <a:t>Pasaporte</a:t>
            </a:r>
          </a:p>
          <a:p>
            <a:r>
              <a:rPr lang="es-CO" sz="800" dirty="0"/>
              <a:t>P.E.P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AB276A84-7A14-1876-1AC2-FFF784142F3C}"/>
              </a:ext>
            </a:extLst>
          </p:cNvPr>
          <p:cNvSpPr txBox="1"/>
          <p:nvPr/>
        </p:nvSpPr>
        <p:spPr>
          <a:xfrm>
            <a:off x="6432025" y="280084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9FA1F834-4B4D-1F05-2797-571CA2F66DBF}"/>
              </a:ext>
            </a:extLst>
          </p:cNvPr>
          <p:cNvSpPr txBox="1"/>
          <p:nvPr/>
        </p:nvSpPr>
        <p:spPr>
          <a:xfrm>
            <a:off x="7957205" y="2792713"/>
            <a:ext cx="103510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93EFCD9-BB10-7EFC-1CCF-B1DCE83615CA}"/>
              </a:ext>
            </a:extLst>
          </p:cNvPr>
          <p:cNvSpPr txBox="1"/>
          <p:nvPr/>
        </p:nvSpPr>
        <p:spPr>
          <a:xfrm>
            <a:off x="3679870" y="3981632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Área de Trabajo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2F78A7E-760A-ED08-2D00-57A9AC5D4F31}"/>
              </a:ext>
            </a:extLst>
          </p:cNvPr>
          <p:cNvSpPr txBox="1"/>
          <p:nvPr/>
        </p:nvSpPr>
        <p:spPr>
          <a:xfrm>
            <a:off x="386832" y="5837536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de Inicio: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0F909F74-7DE7-51EF-5B38-CE3E8FF561DC}"/>
              </a:ext>
            </a:extLst>
          </p:cNvPr>
          <p:cNvSpPr txBox="1"/>
          <p:nvPr/>
        </p:nvSpPr>
        <p:spPr>
          <a:xfrm>
            <a:off x="3772153" y="5069304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Estado Civil: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919963E0-CBE7-1683-6371-683922D6403B}"/>
              </a:ext>
            </a:extLst>
          </p:cNvPr>
          <p:cNvSpPr txBox="1"/>
          <p:nvPr/>
        </p:nvSpPr>
        <p:spPr>
          <a:xfrm>
            <a:off x="7117268" y="3961914"/>
            <a:ext cx="96456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Tipo de Riesgo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2006973D-C904-1F3B-709A-9470A8FA951B}"/>
              </a:ext>
            </a:extLst>
          </p:cNvPr>
          <p:cNvSpPr txBox="1"/>
          <p:nvPr/>
        </p:nvSpPr>
        <p:spPr>
          <a:xfrm>
            <a:off x="3793723" y="5837536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Final: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8855088-D779-8DDC-0D76-19DCA98955FA}"/>
              </a:ext>
            </a:extLst>
          </p:cNvPr>
          <p:cNvSpPr txBox="1"/>
          <p:nvPr/>
        </p:nvSpPr>
        <p:spPr>
          <a:xfrm>
            <a:off x="3757936" y="4569470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Sexo: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DF9092C5-3B22-A5F5-0180-DBE3998436D3}"/>
              </a:ext>
            </a:extLst>
          </p:cNvPr>
          <p:cNvSpPr txBox="1"/>
          <p:nvPr/>
        </p:nvSpPr>
        <p:spPr>
          <a:xfrm>
            <a:off x="9134614" y="279801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de Nacimiento: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05FDD60-D3AC-2676-9F23-6E2F1FF41C17}"/>
              </a:ext>
            </a:extLst>
          </p:cNvPr>
          <p:cNvSpPr txBox="1"/>
          <p:nvPr/>
        </p:nvSpPr>
        <p:spPr>
          <a:xfrm>
            <a:off x="10659794" y="2789883"/>
            <a:ext cx="103510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1A9FCA0-2C91-F40E-F585-CA687B760C78}"/>
              </a:ext>
            </a:extLst>
          </p:cNvPr>
          <p:cNvSpPr txBox="1"/>
          <p:nvPr/>
        </p:nvSpPr>
        <p:spPr>
          <a:xfrm>
            <a:off x="5259065" y="4569470"/>
            <a:ext cx="1859771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Masculino </a:t>
            </a:r>
          </a:p>
          <a:p>
            <a:r>
              <a:rPr lang="es-MX" sz="800" dirty="0"/>
              <a:t>Femenino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2E321BA-F5CC-4C85-8BD3-F0A33A37A208}"/>
              </a:ext>
            </a:extLst>
          </p:cNvPr>
          <p:cNvSpPr txBox="1"/>
          <p:nvPr/>
        </p:nvSpPr>
        <p:spPr>
          <a:xfrm>
            <a:off x="9563683" y="629848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9C652E-8AC4-4C04-A05A-4D0C77C8E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122" y="3931067"/>
            <a:ext cx="1645823" cy="180142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4C8B2C2-AF7E-4019-8B74-BC55B6C214C6}"/>
              </a:ext>
            </a:extLst>
          </p:cNvPr>
          <p:cNvSpPr txBox="1"/>
          <p:nvPr/>
        </p:nvSpPr>
        <p:spPr>
          <a:xfrm>
            <a:off x="11177347" y="4069636"/>
            <a:ext cx="8927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rgbClr val="FF0000"/>
                </a:solidFill>
              </a:rPr>
              <a:t>Andresito te dejo este pantallazo para que te guíes en hacer la lista de tipos de riesgo</a:t>
            </a:r>
          </a:p>
        </p:txBody>
      </p:sp>
    </p:spTree>
    <p:extLst>
      <p:ext uri="{BB962C8B-B14F-4D97-AF65-F5344CB8AC3E}">
        <p14:creationId xmlns:p14="http://schemas.microsoft.com/office/powerpoint/2010/main" val="213147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5" y="801355"/>
            <a:ext cx="1161535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86958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6236161" y="115923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8480959" y="1153593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10288913" y="115359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247135" y="1952779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41" y="92741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2064711" y="1699330"/>
            <a:ext cx="148849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Empresa</a:t>
            </a:r>
          </a:p>
          <a:p>
            <a:endParaRPr lang="es-MX" dirty="0"/>
          </a:p>
          <a:p>
            <a:r>
              <a:rPr lang="es-MX" dirty="0"/>
              <a:t>Contratos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3159072" y="188622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22E1A67-21C1-0380-BE81-7B23E19F97B4}"/>
              </a:ext>
            </a:extLst>
          </p:cNvPr>
          <p:cNvSpPr txBox="1"/>
          <p:nvPr/>
        </p:nvSpPr>
        <p:spPr>
          <a:xfrm>
            <a:off x="1563903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Configuración </a:t>
            </a:r>
            <a:endParaRPr lang="es-CO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D10A26F-8669-D66E-AD14-6D9D5D9D27BB}"/>
              </a:ext>
            </a:extLst>
          </p:cNvPr>
          <p:cNvSpPr txBox="1"/>
          <p:nvPr/>
        </p:nvSpPr>
        <p:spPr>
          <a:xfrm>
            <a:off x="3639926" y="2298883"/>
            <a:ext cx="127390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Empleados</a:t>
            </a:r>
          </a:p>
          <a:p>
            <a:endParaRPr lang="es-MX" sz="1200" dirty="0"/>
          </a:p>
          <a:p>
            <a:r>
              <a:rPr lang="es-MX" sz="1200" dirty="0"/>
              <a:t>Entrega EPP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F420436-CCB8-564E-BE94-9E79BFD0A5FC}"/>
              </a:ext>
            </a:extLst>
          </p:cNvPr>
          <p:cNvSpPr/>
          <p:nvPr/>
        </p:nvSpPr>
        <p:spPr>
          <a:xfrm rot="5400000">
            <a:off x="4591635" y="24286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3A54394B-499F-7B2F-48AC-31DA62699BAD}"/>
              </a:ext>
            </a:extLst>
          </p:cNvPr>
          <p:cNvSpPr/>
          <p:nvPr/>
        </p:nvSpPr>
        <p:spPr>
          <a:xfrm>
            <a:off x="4592359" y="275618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C089F397-7750-B289-0FA1-8AD6284DB072}"/>
              </a:ext>
            </a:extLst>
          </p:cNvPr>
          <p:cNvSpPr/>
          <p:nvPr/>
        </p:nvSpPr>
        <p:spPr>
          <a:xfrm>
            <a:off x="3159071" y="23907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1930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>
            <a:extLst>
              <a:ext uri="{FF2B5EF4-FFF2-40B4-BE49-F238E27FC236}">
                <a16:creationId xmlns:a16="http://schemas.microsoft.com/office/drawing/2014/main" id="{BE37964E-6816-1D5E-6FC4-4F2B5609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633" y="801355"/>
            <a:ext cx="8690995" cy="1060796"/>
          </a:xfrm>
          <a:prstGeom prst="rect">
            <a:avLst/>
          </a:prstGeom>
        </p:spPr>
      </p:pic>
      <p:sp>
        <p:nvSpPr>
          <p:cNvPr id="18" name="TextBox 9">
            <a:extLst>
              <a:ext uri="{FF2B5EF4-FFF2-40B4-BE49-F238E27FC236}">
                <a16:creationId xmlns:a16="http://schemas.microsoft.com/office/drawing/2014/main" id="{88161F0E-DF5F-7C1E-BC6C-450F1FE8E127}"/>
              </a:ext>
            </a:extLst>
          </p:cNvPr>
          <p:cNvSpPr txBox="1"/>
          <p:nvPr/>
        </p:nvSpPr>
        <p:spPr>
          <a:xfrm>
            <a:off x="3278844" y="1200948"/>
            <a:ext cx="1619075" cy="276999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chemeClr val="bg1"/>
                </a:solidFill>
              </a:rPr>
              <a:t>Configuración General</a:t>
            </a:r>
            <a:endParaRPr lang="es-CO" sz="1200" dirty="0">
              <a:solidFill>
                <a:schemeClr val="bg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EF4A9CCD-E696-DE55-3190-ECC6FF8380E4}"/>
              </a:ext>
            </a:extLst>
          </p:cNvPr>
          <p:cNvSpPr txBox="1"/>
          <p:nvPr/>
        </p:nvSpPr>
        <p:spPr>
          <a:xfrm>
            <a:off x="5243117" y="1147087"/>
            <a:ext cx="1249961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BA30DF77-DD5A-0515-2F49-F6EAAAB7F0B1}"/>
              </a:ext>
            </a:extLst>
          </p:cNvPr>
          <p:cNvSpPr txBox="1"/>
          <p:nvPr/>
        </p:nvSpPr>
        <p:spPr>
          <a:xfrm>
            <a:off x="6838275" y="1147087"/>
            <a:ext cx="939567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Hacer</a:t>
            </a:r>
            <a:endParaRPr lang="es-CO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EAFB3DD8-861B-3163-95E3-F382BAA7190C}"/>
              </a:ext>
            </a:extLst>
          </p:cNvPr>
          <p:cNvSpPr txBox="1"/>
          <p:nvPr/>
        </p:nvSpPr>
        <p:spPr>
          <a:xfrm>
            <a:off x="8123040" y="1147087"/>
            <a:ext cx="1072989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Verificar</a:t>
            </a:r>
            <a:endParaRPr lang="es-CO" dirty="0"/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4A8ACD03-3C67-FF43-E361-7271FE2F0292}"/>
              </a:ext>
            </a:extLst>
          </p:cNvPr>
          <p:cNvSpPr txBox="1"/>
          <p:nvPr/>
        </p:nvSpPr>
        <p:spPr>
          <a:xfrm>
            <a:off x="9420837" y="1147087"/>
            <a:ext cx="86406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Actuar</a:t>
            </a:r>
            <a:endParaRPr lang="es-CO" dirty="0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37EF6E19-22EB-D891-0A3F-B2B745BDBCD8}"/>
              </a:ext>
            </a:extLst>
          </p:cNvPr>
          <p:cNvSpPr txBox="1"/>
          <p:nvPr/>
        </p:nvSpPr>
        <p:spPr>
          <a:xfrm>
            <a:off x="7457813" y="1937857"/>
            <a:ext cx="2930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98F4E9C-F6C4-9355-5BD8-2ABE1713F08D}"/>
              </a:ext>
            </a:extLst>
          </p:cNvPr>
          <p:cNvSpPr txBox="1"/>
          <p:nvPr/>
        </p:nvSpPr>
        <p:spPr>
          <a:xfrm>
            <a:off x="1803633" y="1937857"/>
            <a:ext cx="3590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07FA702-D5FE-6415-42F7-CC8B69BD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055" y="93547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89ED6B82-CF3D-F0FB-EAD9-1FDC0B1D858C}"/>
              </a:ext>
            </a:extLst>
          </p:cNvPr>
          <p:cNvSpPr txBox="1"/>
          <p:nvPr/>
        </p:nvSpPr>
        <p:spPr>
          <a:xfrm>
            <a:off x="1962150" y="2333625"/>
            <a:ext cx="8426217" cy="230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900" dirty="0"/>
              <a:t> Entrega de elementos de protección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B8CA15B-036E-60D6-0284-9B0F776800E1}"/>
              </a:ext>
            </a:extLst>
          </p:cNvPr>
          <p:cNvSpPr txBox="1"/>
          <p:nvPr/>
        </p:nvSpPr>
        <p:spPr>
          <a:xfrm>
            <a:off x="1962150" y="2771774"/>
            <a:ext cx="171222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Tipo de Implemento: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8B3A0F-9E01-6CAA-7871-FCCD21057D9C}"/>
              </a:ext>
            </a:extLst>
          </p:cNvPr>
          <p:cNvSpPr txBox="1"/>
          <p:nvPr/>
        </p:nvSpPr>
        <p:spPr>
          <a:xfrm>
            <a:off x="3719227" y="2762559"/>
            <a:ext cx="2791513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Gafas</a:t>
            </a:r>
          </a:p>
          <a:p>
            <a:r>
              <a:rPr lang="es-CO" sz="800" dirty="0"/>
              <a:t>Guantes</a:t>
            </a:r>
          </a:p>
          <a:p>
            <a:r>
              <a:rPr lang="es-CO" sz="800" dirty="0"/>
              <a:t>Tapa oídos</a:t>
            </a:r>
          </a:p>
          <a:p>
            <a:r>
              <a:rPr lang="es-CO" sz="800" dirty="0"/>
              <a:t>Mascara</a:t>
            </a:r>
          </a:p>
          <a:p>
            <a:r>
              <a:rPr lang="es-CO" sz="800" dirty="0"/>
              <a:t>Arnés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B2C9752-D669-4C35-C980-52177BE1C70D}"/>
              </a:ext>
            </a:extLst>
          </p:cNvPr>
          <p:cNvSpPr txBox="1"/>
          <p:nvPr/>
        </p:nvSpPr>
        <p:spPr>
          <a:xfrm>
            <a:off x="8319629" y="4097082"/>
            <a:ext cx="895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Características: </a:t>
            </a:r>
            <a:endParaRPr lang="es-CO" sz="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D1C15BC-5917-A997-5211-D3384F03A3F6}"/>
              </a:ext>
            </a:extLst>
          </p:cNvPr>
          <p:cNvSpPr txBox="1"/>
          <p:nvPr/>
        </p:nvSpPr>
        <p:spPr>
          <a:xfrm>
            <a:off x="5815156" y="3584631"/>
            <a:ext cx="895829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Buscar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6372F5A-3980-60C6-D0A5-DB9904FC1870}"/>
              </a:ext>
            </a:extLst>
          </p:cNvPr>
          <p:cNvSpPr txBox="1"/>
          <p:nvPr/>
        </p:nvSpPr>
        <p:spPr>
          <a:xfrm>
            <a:off x="6486553" y="4827373"/>
            <a:ext cx="821505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Guardar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638FDFE5-6898-2B16-7D13-679D2004A3D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4061852">
            <a:off x="5854138" y="3586500"/>
            <a:ext cx="186573" cy="221644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4AF522FE-3188-8DCD-99CD-07AC2A0FDF14}"/>
              </a:ext>
            </a:extLst>
          </p:cNvPr>
          <p:cNvSpPr txBox="1"/>
          <p:nvPr/>
        </p:nvSpPr>
        <p:spPr>
          <a:xfrm>
            <a:off x="1803634" y="5194119"/>
            <a:ext cx="8816828" cy="21544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370A068-FC4B-2D13-C9DE-810141A82145}"/>
              </a:ext>
            </a:extLst>
          </p:cNvPr>
          <p:cNvSpPr txBox="1"/>
          <p:nvPr/>
        </p:nvSpPr>
        <p:spPr>
          <a:xfrm>
            <a:off x="1803633" y="5211241"/>
            <a:ext cx="8426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bg1"/>
                </a:solidFill>
              </a:rPr>
              <a:t>Código   Tipo de implemento     Descripción General      Descripción Especifica        Responsable        Devolución             Reposición          Serial                   Talla /Color             Control Mantenimiento               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AEF3CDF-1E1C-6A4E-6CAF-1F6B11912815}"/>
              </a:ext>
            </a:extLst>
          </p:cNvPr>
          <p:cNvSpPr txBox="1"/>
          <p:nvPr/>
        </p:nvSpPr>
        <p:spPr>
          <a:xfrm>
            <a:off x="1810228" y="5410255"/>
            <a:ext cx="8810233" cy="21544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1              Bioseguridad               Dotación Bioseguridad               Covid-19                   Adriana Diaz                 No                               No                   005                         N/A                                  No 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C606B3CF-AD4F-D697-F950-234A85952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4155" y="5417376"/>
            <a:ext cx="262438" cy="201202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E84595F6-2F2B-5904-509B-2A9F72738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8914" y="5400548"/>
            <a:ext cx="291547" cy="209549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3ECED93E-C745-753B-0AF6-BE9D8C1CD243}"/>
              </a:ext>
            </a:extLst>
          </p:cNvPr>
          <p:cNvSpPr txBox="1"/>
          <p:nvPr/>
        </p:nvSpPr>
        <p:spPr>
          <a:xfrm>
            <a:off x="1962150" y="3586341"/>
            <a:ext cx="171222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Descripción General::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4F52B49-DDDD-42A4-5F76-95C3B83F303E}"/>
              </a:ext>
            </a:extLst>
          </p:cNvPr>
          <p:cNvSpPr txBox="1"/>
          <p:nvPr/>
        </p:nvSpPr>
        <p:spPr>
          <a:xfrm>
            <a:off x="3728850" y="3584631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CA3C5B7-BDB8-991B-9C91-88FAF79693B3}"/>
              </a:ext>
            </a:extLst>
          </p:cNvPr>
          <p:cNvSpPr/>
          <p:nvPr/>
        </p:nvSpPr>
        <p:spPr>
          <a:xfrm>
            <a:off x="9346040" y="3658120"/>
            <a:ext cx="167780" cy="1692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83A70595-19EF-E8A3-CD60-811A36239B91}"/>
              </a:ext>
            </a:extLst>
          </p:cNvPr>
          <p:cNvSpPr/>
          <p:nvPr/>
        </p:nvSpPr>
        <p:spPr>
          <a:xfrm>
            <a:off x="9378010" y="4555724"/>
            <a:ext cx="167780" cy="1692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4C284A4-3AAC-3641-B20A-9F3A40CFC846}"/>
              </a:ext>
            </a:extLst>
          </p:cNvPr>
          <p:cNvSpPr txBox="1"/>
          <p:nvPr/>
        </p:nvSpPr>
        <p:spPr>
          <a:xfrm>
            <a:off x="9493698" y="3652237"/>
            <a:ext cx="8352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Devolución</a:t>
            </a: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EBE65551-1151-FB1D-CDA2-F3AAB47F2C99}"/>
              </a:ext>
            </a:extLst>
          </p:cNvPr>
          <p:cNvSpPr/>
          <p:nvPr/>
        </p:nvSpPr>
        <p:spPr>
          <a:xfrm>
            <a:off x="9325918" y="3883894"/>
            <a:ext cx="167780" cy="1692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D1EC8ABE-AAD4-A09B-B656-E16734179059}"/>
              </a:ext>
            </a:extLst>
          </p:cNvPr>
          <p:cNvSpPr/>
          <p:nvPr/>
        </p:nvSpPr>
        <p:spPr>
          <a:xfrm>
            <a:off x="9345393" y="4098253"/>
            <a:ext cx="167780" cy="1692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425E611F-2C20-9C98-D729-2F40ACFB01D5}"/>
              </a:ext>
            </a:extLst>
          </p:cNvPr>
          <p:cNvSpPr/>
          <p:nvPr/>
        </p:nvSpPr>
        <p:spPr>
          <a:xfrm>
            <a:off x="9362405" y="4328495"/>
            <a:ext cx="167780" cy="1692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AF22FE0-D27B-7323-D0DE-A8C449435AFC}"/>
              </a:ext>
            </a:extLst>
          </p:cNvPr>
          <p:cNvSpPr txBox="1"/>
          <p:nvPr/>
        </p:nvSpPr>
        <p:spPr>
          <a:xfrm>
            <a:off x="9493699" y="3879057"/>
            <a:ext cx="7912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Reposición 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B4123CD-B50A-03A0-B495-5C1D86DFAB3B}"/>
              </a:ext>
            </a:extLst>
          </p:cNvPr>
          <p:cNvSpPr txBox="1"/>
          <p:nvPr/>
        </p:nvSpPr>
        <p:spPr>
          <a:xfrm>
            <a:off x="9513173" y="4104733"/>
            <a:ext cx="11072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Requiere  Talla/color 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054BF1A-EF8B-9BFD-924B-0469794637F8}"/>
              </a:ext>
            </a:extLst>
          </p:cNvPr>
          <p:cNvSpPr txBox="1"/>
          <p:nvPr/>
        </p:nvSpPr>
        <p:spPr>
          <a:xfrm>
            <a:off x="9525313" y="4331553"/>
            <a:ext cx="9693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Requiere Serial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F691A3D-6409-72C1-BD60-4404741CB167}"/>
              </a:ext>
            </a:extLst>
          </p:cNvPr>
          <p:cNvSpPr txBox="1"/>
          <p:nvPr/>
        </p:nvSpPr>
        <p:spPr>
          <a:xfrm>
            <a:off x="9545789" y="4538033"/>
            <a:ext cx="12508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Control  Mantenimiento 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F654614-9FB0-5DD0-BDE0-02A04D0ACD0D}"/>
              </a:ext>
            </a:extLst>
          </p:cNvPr>
          <p:cNvSpPr txBox="1"/>
          <p:nvPr/>
        </p:nvSpPr>
        <p:spPr>
          <a:xfrm>
            <a:off x="7633982" y="2762559"/>
            <a:ext cx="6856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/>
              <a:t>Código: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16D59DD-78AC-613D-1B81-1840CA38F906}"/>
              </a:ext>
            </a:extLst>
          </p:cNvPr>
          <p:cNvSpPr txBox="1"/>
          <p:nvPr/>
        </p:nvSpPr>
        <p:spPr>
          <a:xfrm>
            <a:off x="7633982" y="3043250"/>
            <a:ext cx="11828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70C0"/>
                </a:solidFill>
              </a:rPr>
              <a:t>*</a:t>
            </a:r>
            <a:r>
              <a:rPr lang="es-CO" sz="800" dirty="0"/>
              <a:t>Descripción Especifica: 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62171D3-4CA0-B369-B658-AFC1B9E8EBA1}"/>
              </a:ext>
            </a:extLst>
          </p:cNvPr>
          <p:cNvSpPr txBox="1"/>
          <p:nvPr/>
        </p:nvSpPr>
        <p:spPr>
          <a:xfrm>
            <a:off x="8758106" y="2771774"/>
            <a:ext cx="16398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13A363D-188D-1729-C6D1-58CB12A23041}"/>
              </a:ext>
            </a:extLst>
          </p:cNvPr>
          <p:cNvSpPr txBox="1"/>
          <p:nvPr/>
        </p:nvSpPr>
        <p:spPr>
          <a:xfrm>
            <a:off x="8767543" y="3073763"/>
            <a:ext cx="16398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CC95DEE-D74B-642B-B7E9-D01BCF546CBA}"/>
              </a:ext>
            </a:extLst>
          </p:cNvPr>
          <p:cNvSpPr txBox="1"/>
          <p:nvPr/>
        </p:nvSpPr>
        <p:spPr>
          <a:xfrm>
            <a:off x="1962150" y="3918859"/>
            <a:ext cx="171222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Cedula: 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6D5B3BC-72F2-19D2-61B9-8E41B5544521}"/>
              </a:ext>
            </a:extLst>
          </p:cNvPr>
          <p:cNvSpPr txBox="1"/>
          <p:nvPr/>
        </p:nvSpPr>
        <p:spPr>
          <a:xfrm>
            <a:off x="3701565" y="3913651"/>
            <a:ext cx="27915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41398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47877" y="1686032"/>
            <a:ext cx="12739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Designación del responsable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6256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Designación de responsable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76148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03-10-2018</a:t>
            </a:r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1319360" y="374152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FACCFA-D7CF-4C57-AEA1-3F37E72474B0}"/>
              </a:ext>
            </a:extLst>
          </p:cNvPr>
          <p:cNvSpPr txBox="1"/>
          <p:nvPr/>
        </p:nvSpPr>
        <p:spPr>
          <a:xfrm>
            <a:off x="2844540" y="3740038"/>
            <a:ext cx="260664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LUZ ADRIANA DIAZ CALLE </a:t>
            </a:r>
            <a:endParaRPr lang="es-CO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F0BDDB6-848A-46FE-A372-01822D79143E}"/>
              </a:ext>
            </a:extLst>
          </p:cNvPr>
          <p:cNvSpPr txBox="1"/>
          <p:nvPr/>
        </p:nvSpPr>
        <p:spPr>
          <a:xfrm>
            <a:off x="4031298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9D77660-A2F7-4CDE-AEC3-BE73DCE32836}"/>
              </a:ext>
            </a:extLst>
          </p:cNvPr>
          <p:cNvSpPr txBox="1"/>
          <p:nvPr/>
        </p:nvSpPr>
        <p:spPr>
          <a:xfrm>
            <a:off x="5595815" y="2761570"/>
            <a:ext cx="5955824" cy="29238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DESIGNACION REPRESENTANTE DE LA DIRECCION  </a:t>
            </a:r>
          </a:p>
          <a:p>
            <a:endParaRPr lang="es-MX" sz="800" dirty="0"/>
          </a:p>
          <a:p>
            <a:r>
              <a:rPr lang="es-MX" sz="800" dirty="0"/>
              <a:t>El presente documento tiene como propósito oficializar el nombramiento del Responsable de la Dirección como cumplimiento del Sistema de Gestión de Seguridad y Salud en el trabajo.</a:t>
            </a:r>
          </a:p>
          <a:p>
            <a:endParaRPr lang="es-MX" sz="800" dirty="0"/>
          </a:p>
          <a:p>
            <a:r>
              <a:rPr lang="es-MX" sz="800" dirty="0"/>
              <a:t>La Gerencia de ALIMENTOS SJ.  Designa como Representante de la Dirección a LUZ ADRIANA DIAZ CALLE, quien independientemente a las responsabilidades de su cargo en la compañía, tendrá como responsabilidad y autoridad de lo siguiente:</a:t>
            </a:r>
          </a:p>
          <a:p>
            <a:endParaRPr lang="es-MX" sz="800" dirty="0"/>
          </a:p>
          <a:p>
            <a:endParaRPr lang="es-MX" sz="800" dirty="0"/>
          </a:p>
          <a:p>
            <a:r>
              <a:rPr lang="es-MX" sz="800" dirty="0"/>
              <a:t>a. Asegurar que se establezcan, implementen y mantengan los procesos necesarios para la eficiencia del Sistema de Gestión de Seguridad y salud en trabajo de la empresa.</a:t>
            </a:r>
          </a:p>
          <a:p>
            <a:endParaRPr lang="es-MX" sz="800" dirty="0"/>
          </a:p>
          <a:p>
            <a:r>
              <a:rPr lang="es-MX" sz="800" dirty="0"/>
              <a:t>informar a la gerencia sobre el desempeño del Sistema de Gestión y de cualquier necesidad de mejora.</a:t>
            </a:r>
          </a:p>
          <a:p>
            <a:endParaRPr lang="es-MX" sz="800" dirty="0"/>
          </a:p>
          <a:p>
            <a:r>
              <a:rPr lang="es-MX" sz="800" dirty="0"/>
              <a:t>asegurarse de que se promueva la toma de conciencia de los requisitos en todos los niveles de la organización.</a:t>
            </a:r>
          </a:p>
          <a:p>
            <a:r>
              <a:rPr lang="es-MX" sz="800" dirty="0"/>
              <a:t> </a:t>
            </a:r>
          </a:p>
          <a:p>
            <a:endParaRPr lang="es-MX" sz="800" dirty="0"/>
          </a:p>
          <a:p>
            <a:endParaRPr lang="es-MX" sz="800" dirty="0"/>
          </a:p>
          <a:p>
            <a:r>
              <a:rPr lang="es-MX" sz="800" dirty="0"/>
              <a:t>Nota: Su responsabilidad puede incluir relaciones con partes externas sobre asuntos relacionados con el Sistema de Gestión Integral de la empresa ALIMENTOS SJ.</a:t>
            </a:r>
          </a:p>
          <a:p>
            <a:endParaRPr lang="es-MX" sz="800" dirty="0"/>
          </a:p>
          <a:p>
            <a:endParaRPr lang="es-MX" sz="800" dirty="0"/>
          </a:p>
          <a:p>
            <a:r>
              <a:rPr lang="es-MX" sz="800" dirty="0"/>
              <a:t>Firma en aprobación: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0B5CA4D-A6A1-4EF8-9EEE-300236E4F138}"/>
              </a:ext>
            </a:extLst>
          </p:cNvPr>
          <p:cNvSpPr txBox="1"/>
          <p:nvPr/>
        </p:nvSpPr>
        <p:spPr>
          <a:xfrm>
            <a:off x="1353756" y="440660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Adjuntar Firma: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6759DD6-581D-4376-A410-508427360B4E}"/>
              </a:ext>
            </a:extLst>
          </p:cNvPr>
          <p:cNvSpPr txBox="1"/>
          <p:nvPr/>
        </p:nvSpPr>
        <p:spPr>
          <a:xfrm>
            <a:off x="2844539" y="4406604"/>
            <a:ext cx="10115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3BB8C1-1958-4837-8906-B4CD19D20A30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666281F-D835-4E2D-9665-9E01D85EFF4D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DA7E0B1-54E7-4BB3-8296-DFF824ABEEBA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578A1A-2C3E-4D19-8CE2-AA4ECD6E5AE3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BD018EA-9946-4535-8D6C-3FDEB352F152}"/>
              </a:ext>
            </a:extLst>
          </p:cNvPr>
          <p:cNvSpPr txBox="1"/>
          <p:nvPr/>
        </p:nvSpPr>
        <p:spPr>
          <a:xfrm>
            <a:off x="9331528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8F852E4-405B-43DF-9109-7378CB0C56D9}"/>
              </a:ext>
            </a:extLst>
          </p:cNvPr>
          <p:cNvSpPr txBox="1"/>
          <p:nvPr/>
        </p:nvSpPr>
        <p:spPr>
          <a:xfrm>
            <a:off x="1319360" y="328361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7EC8843-B003-43AC-A864-EB87A2B6A044}"/>
              </a:ext>
            </a:extLst>
          </p:cNvPr>
          <p:cNvSpPr txBox="1"/>
          <p:nvPr/>
        </p:nvSpPr>
        <p:spPr>
          <a:xfrm>
            <a:off x="2844540" y="3283613"/>
            <a:ext cx="2606646" cy="2073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686050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0" y="2761570"/>
            <a:ext cx="6658709" cy="3480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5A17617F-304B-4794-8D01-E22469E84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598" y="2844800"/>
            <a:ext cx="2763014" cy="3286714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Designación de responsabilidades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14733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15777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2BAC809-BAC6-4D6C-8DE4-999E3268F294}"/>
              </a:ext>
            </a:extLst>
          </p:cNvPr>
          <p:cNvSpPr txBox="1"/>
          <p:nvPr/>
        </p:nvSpPr>
        <p:spPr>
          <a:xfrm>
            <a:off x="3084298" y="397374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49632" y="1976834"/>
            <a:ext cx="138156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Responsabilidades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272638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Responsabilidades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76148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1284964" y="3275312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Rol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FACCFA-D7CF-4C57-AEA1-3F37E72474B0}"/>
              </a:ext>
            </a:extLst>
          </p:cNvPr>
          <p:cNvSpPr txBox="1"/>
          <p:nvPr/>
        </p:nvSpPr>
        <p:spPr>
          <a:xfrm>
            <a:off x="2695576" y="3569022"/>
            <a:ext cx="1221154" cy="95410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Gerente</a:t>
            </a:r>
          </a:p>
          <a:p>
            <a:r>
              <a:rPr lang="es-MX" sz="800" dirty="0"/>
              <a:t>Jefe de áreas</a:t>
            </a:r>
          </a:p>
          <a:p>
            <a:r>
              <a:rPr lang="es-MX" sz="800" dirty="0"/>
              <a:t>Responsable de SG-SST</a:t>
            </a:r>
          </a:p>
          <a:p>
            <a:r>
              <a:rPr lang="es-MX" sz="800" dirty="0"/>
              <a:t>Trabajadores</a:t>
            </a:r>
          </a:p>
          <a:p>
            <a:r>
              <a:rPr lang="es-MX" sz="800" dirty="0"/>
              <a:t>Copasst</a:t>
            </a:r>
          </a:p>
          <a:p>
            <a:r>
              <a:rPr lang="es-MX" sz="800" dirty="0"/>
              <a:t>Cocola</a:t>
            </a:r>
          </a:p>
          <a:p>
            <a:r>
              <a:rPr lang="es-MX" sz="800" dirty="0"/>
              <a:t>Coordinador de alturas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F0BDDB6-848A-46FE-A372-01822D79143E}"/>
              </a:ext>
            </a:extLst>
          </p:cNvPr>
          <p:cNvSpPr txBox="1"/>
          <p:nvPr/>
        </p:nvSpPr>
        <p:spPr>
          <a:xfrm>
            <a:off x="4031298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9D77660-A2F7-4CDE-AEC3-BE73DCE32836}"/>
              </a:ext>
            </a:extLst>
          </p:cNvPr>
          <p:cNvSpPr txBox="1"/>
          <p:nvPr/>
        </p:nvSpPr>
        <p:spPr>
          <a:xfrm>
            <a:off x="5595815" y="2761570"/>
            <a:ext cx="5955824" cy="280076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>
                <a:solidFill>
                  <a:srgbClr val="FF0000"/>
                </a:solidFill>
              </a:rPr>
              <a:t>Ejemplo de nota: Rol del Gerente: </a:t>
            </a:r>
            <a:r>
              <a:rPr lang="es-MX" sz="800" dirty="0"/>
              <a:t>Suministrar los recursos necesarios para el desarrollo de las actividades del SG-SST.</a:t>
            </a:r>
          </a:p>
          <a:p>
            <a:endParaRPr lang="es-MX" sz="800" dirty="0"/>
          </a:p>
          <a:p>
            <a:r>
              <a:rPr lang="es-MX" sz="800" dirty="0"/>
              <a:t>Asignar y comunicar responsabilidades a los trabajadores en seguridad y salud en el trabajo dentro del marco de sus funciones.</a:t>
            </a:r>
          </a:p>
          <a:p>
            <a:endParaRPr lang="es-MX" sz="800" dirty="0"/>
          </a:p>
          <a:p>
            <a:r>
              <a:rPr lang="es-MX" sz="800" dirty="0"/>
              <a:t>Garantizar la consulta y participación de los trabajadores en la identificación de los peligros y control de los riesgos, así como la participación a través del comité paritario de salud ocupacional.</a:t>
            </a:r>
          </a:p>
          <a:p>
            <a:endParaRPr lang="es-MX" sz="800" dirty="0"/>
          </a:p>
          <a:p>
            <a:r>
              <a:rPr lang="es-MX" sz="800" dirty="0"/>
              <a:t>Garantizar la supervisión de la seguridad y salud en el trabajo. </a:t>
            </a:r>
          </a:p>
          <a:p>
            <a:endParaRPr lang="es-MX" sz="800" dirty="0"/>
          </a:p>
          <a:p>
            <a:r>
              <a:rPr lang="es-MX" sz="800" dirty="0"/>
              <a:t>Evaluar por lo menos una vez al año la gestión de seguridad y salud en el trabajo.</a:t>
            </a:r>
          </a:p>
          <a:p>
            <a:endParaRPr lang="es-MX" sz="800" dirty="0"/>
          </a:p>
          <a:p>
            <a:r>
              <a:rPr lang="es-MX" sz="800" dirty="0"/>
              <a:t>Implementar los correctivos necesarios para el cumplimiento de metas y objetivos</a:t>
            </a:r>
          </a:p>
          <a:p>
            <a:r>
              <a:rPr lang="es-MX" sz="800" dirty="0"/>
              <a:t>Garantizar la disponibilidad de personal competente para liderar y controlar el desarrollo de la seguridad y salud en el trabajo.</a:t>
            </a:r>
          </a:p>
          <a:p>
            <a:endParaRPr lang="es-MX" sz="800" dirty="0"/>
          </a:p>
          <a:p>
            <a:r>
              <a:rPr lang="es-MX" sz="800" dirty="0"/>
              <a:t>Garantizar un programa de inducción y entrenamiento para los trabajadores que ingresen a la empresa, independientemente de su forma de contratación y vinculación.</a:t>
            </a:r>
          </a:p>
          <a:p>
            <a:endParaRPr lang="es-MX" sz="800" dirty="0"/>
          </a:p>
          <a:p>
            <a:r>
              <a:rPr lang="es-MX" sz="800" dirty="0"/>
              <a:t>Garantizar un programa de capacitación acorde con las necesidades específicas detectadas en la identificación de peligros y valoración de riesgos.</a:t>
            </a:r>
          </a:p>
          <a:p>
            <a:endParaRPr lang="es-MX" sz="800" dirty="0"/>
          </a:p>
          <a:p>
            <a:r>
              <a:rPr lang="es-MX" sz="800" dirty="0"/>
              <a:t>Garantizar información oportuna sobre la gestión de seguridad y salud en el trabajo y canales de comunicación que permitan recolectar información manifestada por los trabajadores.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EE10C52-2E52-4BB6-8579-E77B612A4772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FC99A3A-ECCC-4AC1-BD7F-B08D4CF1F934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DFE8EB1-D18D-43E6-99DE-88642D748689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F5914AF-20B7-41D3-997F-3D0D2D28DC1F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626B1-D884-4C38-B57F-2DB3CC9CB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874" y="3199268"/>
            <a:ext cx="1343025" cy="40957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E3560E3-6189-475F-B821-3E0C2F5F9EFA}"/>
              </a:ext>
            </a:extLst>
          </p:cNvPr>
          <p:cNvSpPr txBox="1"/>
          <p:nvPr/>
        </p:nvSpPr>
        <p:spPr>
          <a:xfrm>
            <a:off x="9153000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8D6A002-BB92-484E-B6F2-57A6E314373F}"/>
              </a:ext>
            </a:extLst>
          </p:cNvPr>
          <p:cNvSpPr txBox="1"/>
          <p:nvPr/>
        </p:nvSpPr>
        <p:spPr>
          <a:xfrm>
            <a:off x="1270382" y="492864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91A555B-5B1E-446B-AC8C-E9FA5685772B}"/>
              </a:ext>
            </a:extLst>
          </p:cNvPr>
          <p:cNvSpPr txBox="1"/>
          <p:nvPr/>
        </p:nvSpPr>
        <p:spPr>
          <a:xfrm>
            <a:off x="2795562" y="4920521"/>
            <a:ext cx="26212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AB0C971-00A9-40B7-B959-12A9DFCE50ED}"/>
              </a:ext>
            </a:extLst>
          </p:cNvPr>
          <p:cNvSpPr txBox="1"/>
          <p:nvPr/>
        </p:nvSpPr>
        <p:spPr>
          <a:xfrm>
            <a:off x="1270382" y="535931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2D3F504-F917-41EF-A9F8-8E1DE3997D1F}"/>
              </a:ext>
            </a:extLst>
          </p:cNvPr>
          <p:cNvSpPr txBox="1"/>
          <p:nvPr/>
        </p:nvSpPr>
        <p:spPr>
          <a:xfrm>
            <a:off x="2795562" y="5359313"/>
            <a:ext cx="2621228" cy="2073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73494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0" y="2761570"/>
            <a:ext cx="6658709" cy="3480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Responsabilidades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14733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15777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BCD26BF-5D40-404B-AFBE-2C63D43F9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059" y="2791655"/>
            <a:ext cx="3827096" cy="26247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1B97182-53EB-4BAB-ABFB-36D75BAE6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4153" y="5446454"/>
            <a:ext cx="3546519" cy="52047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1E17724B-371A-4680-AC30-22E3888C99EA}"/>
              </a:ext>
            </a:extLst>
          </p:cNvPr>
          <p:cNvSpPr txBox="1"/>
          <p:nvPr/>
        </p:nvSpPr>
        <p:spPr>
          <a:xfrm>
            <a:off x="3084298" y="422492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7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11076" y="2463997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Recursos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0829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Asignación de Recursos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Hoy: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3" y="2753443"/>
            <a:ext cx="1670387" cy="17610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1284964" y="3275312"/>
            <a:ext cx="319556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Humano: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FACCFA-D7CF-4C57-AEA1-3F37E72474B0}"/>
              </a:ext>
            </a:extLst>
          </p:cNvPr>
          <p:cNvSpPr txBox="1"/>
          <p:nvPr/>
        </p:nvSpPr>
        <p:spPr>
          <a:xfrm>
            <a:off x="4591589" y="3716507"/>
            <a:ext cx="1385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Nombre del Equipo: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7A34830-42A6-4BE2-AA10-305CEFA96103}"/>
              </a:ext>
            </a:extLst>
          </p:cNvPr>
          <p:cNvSpPr txBox="1"/>
          <p:nvPr/>
        </p:nvSpPr>
        <p:spPr>
          <a:xfrm>
            <a:off x="1258171" y="4637203"/>
            <a:ext cx="13091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Objetivo General: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F4EF751-16BC-4473-8419-E8FB314AB592}"/>
              </a:ext>
            </a:extLst>
          </p:cNvPr>
          <p:cNvSpPr txBox="1"/>
          <p:nvPr/>
        </p:nvSpPr>
        <p:spPr>
          <a:xfrm>
            <a:off x="4591590" y="4060524"/>
            <a:ext cx="1385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Objeto: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46F853-B021-49C0-B827-4A85E9196FF4}"/>
              </a:ext>
            </a:extLst>
          </p:cNvPr>
          <p:cNvSpPr txBox="1"/>
          <p:nvPr/>
        </p:nvSpPr>
        <p:spPr>
          <a:xfrm>
            <a:off x="1284962" y="5324981"/>
            <a:ext cx="13091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*Nombre Completo: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4F8914A-07B4-4621-BB6D-38A233A49F73}"/>
              </a:ext>
            </a:extLst>
          </p:cNvPr>
          <p:cNvSpPr txBox="1"/>
          <p:nvPr/>
        </p:nvSpPr>
        <p:spPr>
          <a:xfrm>
            <a:off x="1274882" y="5001324"/>
            <a:ext cx="13091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*Cedula: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DC75DCB-0662-4C96-99D9-01DCEB745C8B}"/>
              </a:ext>
            </a:extLst>
          </p:cNvPr>
          <p:cNvSpPr txBox="1"/>
          <p:nvPr/>
        </p:nvSpPr>
        <p:spPr>
          <a:xfrm>
            <a:off x="4586417" y="4483009"/>
            <a:ext cx="1385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N° Unidades: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4876F8-9765-4793-A460-0371CA2467D4}"/>
              </a:ext>
            </a:extLst>
          </p:cNvPr>
          <p:cNvSpPr txBox="1"/>
          <p:nvPr/>
        </p:nvSpPr>
        <p:spPr>
          <a:xfrm>
            <a:off x="1284960" y="3700690"/>
            <a:ext cx="130919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Cargo: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8D18496-9D17-4451-94DD-3B03D0E492C7}"/>
              </a:ext>
            </a:extLst>
          </p:cNvPr>
          <p:cNvSpPr txBox="1"/>
          <p:nvPr/>
        </p:nvSpPr>
        <p:spPr>
          <a:xfrm>
            <a:off x="4586414" y="3274257"/>
            <a:ext cx="345604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Físico: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1D1178-FD36-4E01-B831-4CABAA3BAB5D}"/>
              </a:ext>
            </a:extLst>
          </p:cNvPr>
          <p:cNvSpPr txBox="1"/>
          <p:nvPr/>
        </p:nvSpPr>
        <p:spPr>
          <a:xfrm>
            <a:off x="8179591" y="3711766"/>
            <a:ext cx="1385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Implementos del nivel: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AD263D1-4279-4533-AC82-365E502F561E}"/>
              </a:ext>
            </a:extLst>
          </p:cNvPr>
          <p:cNvSpPr txBox="1"/>
          <p:nvPr/>
        </p:nvSpPr>
        <p:spPr>
          <a:xfrm>
            <a:off x="8189061" y="4474506"/>
            <a:ext cx="1385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Inversión Estimada: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A67A80A-E88E-4AF4-8040-30F63238331F}"/>
              </a:ext>
            </a:extLst>
          </p:cNvPr>
          <p:cNvSpPr txBox="1"/>
          <p:nvPr/>
        </p:nvSpPr>
        <p:spPr>
          <a:xfrm>
            <a:off x="8174417" y="5047132"/>
            <a:ext cx="1385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Fecha de desembolso: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178049E-5E0F-4C4A-99A4-D593F0C52C8A}"/>
              </a:ext>
            </a:extLst>
          </p:cNvPr>
          <p:cNvSpPr txBox="1"/>
          <p:nvPr/>
        </p:nvSpPr>
        <p:spPr>
          <a:xfrm>
            <a:off x="8174417" y="3269516"/>
            <a:ext cx="328126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Financiero: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9BF99E3-6D70-49F8-B371-60FD44E0537E}"/>
              </a:ext>
            </a:extLst>
          </p:cNvPr>
          <p:cNvSpPr txBox="1"/>
          <p:nvPr/>
        </p:nvSpPr>
        <p:spPr>
          <a:xfrm>
            <a:off x="9702738" y="3711766"/>
            <a:ext cx="1859771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Básico </a:t>
            </a:r>
          </a:p>
          <a:p>
            <a:endParaRPr lang="es-MX" sz="800" dirty="0"/>
          </a:p>
          <a:p>
            <a:r>
              <a:rPr lang="es-MX" sz="800" dirty="0"/>
              <a:t>Intervención  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0FD30DD-3507-449E-A6CC-63880DCD3FCE}"/>
              </a:ext>
            </a:extLst>
          </p:cNvPr>
          <p:cNvSpPr txBox="1"/>
          <p:nvPr/>
        </p:nvSpPr>
        <p:spPr>
          <a:xfrm>
            <a:off x="9691868" y="4486671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C33D6DF-7E22-4715-AC59-B6C494E447D8}"/>
              </a:ext>
            </a:extLst>
          </p:cNvPr>
          <p:cNvSpPr txBox="1"/>
          <p:nvPr/>
        </p:nvSpPr>
        <p:spPr>
          <a:xfrm>
            <a:off x="9691868" y="4981681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6A60CD1-19CF-4953-9770-C9F5CDEF69E5}"/>
              </a:ext>
            </a:extLst>
          </p:cNvPr>
          <p:cNvSpPr txBox="1"/>
          <p:nvPr/>
        </p:nvSpPr>
        <p:spPr>
          <a:xfrm>
            <a:off x="6141218" y="3711766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45F0037-D0CA-4F26-B529-A103CB25A96C}"/>
              </a:ext>
            </a:extLst>
          </p:cNvPr>
          <p:cNvSpPr txBox="1"/>
          <p:nvPr/>
        </p:nvSpPr>
        <p:spPr>
          <a:xfrm>
            <a:off x="6130348" y="4486671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A15F0AD-A264-40AA-8A15-9807263CBC35}"/>
              </a:ext>
            </a:extLst>
          </p:cNvPr>
          <p:cNvSpPr txBox="1"/>
          <p:nvPr/>
        </p:nvSpPr>
        <p:spPr>
          <a:xfrm>
            <a:off x="6130348" y="4981681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D462633-B8C3-421A-8931-C9F367F82873}"/>
              </a:ext>
            </a:extLst>
          </p:cNvPr>
          <p:cNvSpPr txBox="1"/>
          <p:nvPr/>
        </p:nvSpPr>
        <p:spPr>
          <a:xfrm>
            <a:off x="6141218" y="4066370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DAF0DD5-4385-4DC8-A21E-4CA0C529D6F9}"/>
              </a:ext>
            </a:extLst>
          </p:cNvPr>
          <p:cNvSpPr txBox="1"/>
          <p:nvPr/>
        </p:nvSpPr>
        <p:spPr>
          <a:xfrm>
            <a:off x="2655757" y="3711766"/>
            <a:ext cx="1859771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Gerente</a:t>
            </a:r>
          </a:p>
          <a:p>
            <a:r>
              <a:rPr lang="es-MX" sz="800"/>
              <a:t>Jefe personal</a:t>
            </a:r>
          </a:p>
          <a:p>
            <a:r>
              <a:rPr lang="es-MX" sz="800"/>
              <a:t>Coordinador RRHH</a:t>
            </a:r>
          </a:p>
          <a:p>
            <a:r>
              <a:rPr lang="es-MX" sz="800"/>
              <a:t>Auxiliar Contable</a:t>
            </a:r>
          </a:p>
          <a:p>
            <a:r>
              <a:rPr lang="es-MX" sz="800"/>
              <a:t>Mensajero</a:t>
            </a:r>
          </a:p>
          <a:p>
            <a:r>
              <a:rPr lang="es-MX" sz="800"/>
              <a:t>Portero</a:t>
            </a:r>
            <a:endParaRPr lang="es-MX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CF5376D-A4B1-41F2-AF6F-931ED680CAD3}"/>
              </a:ext>
            </a:extLst>
          </p:cNvPr>
          <p:cNvSpPr txBox="1"/>
          <p:nvPr/>
        </p:nvSpPr>
        <p:spPr>
          <a:xfrm>
            <a:off x="2634809" y="5004705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C79EB9C-7640-4784-9BA2-0639500E5CE5}"/>
              </a:ext>
            </a:extLst>
          </p:cNvPr>
          <p:cNvSpPr txBox="1"/>
          <p:nvPr/>
        </p:nvSpPr>
        <p:spPr>
          <a:xfrm>
            <a:off x="2670884" y="5324981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2751507-6E06-4C4C-A4BE-5E8201E07B94}"/>
              </a:ext>
            </a:extLst>
          </p:cNvPr>
          <p:cNvSpPr txBox="1"/>
          <p:nvPr/>
        </p:nvSpPr>
        <p:spPr>
          <a:xfrm>
            <a:off x="2643667" y="4626780"/>
            <a:ext cx="1859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0870536-BFE8-40A9-8250-2517F4DD7AD8}"/>
              </a:ext>
            </a:extLst>
          </p:cNvPr>
          <p:cNvSpPr txBox="1"/>
          <p:nvPr/>
        </p:nvSpPr>
        <p:spPr>
          <a:xfrm>
            <a:off x="4586415" y="4981681"/>
            <a:ext cx="1385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Serial: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776299C-AE4F-4D4A-9333-9985CCECE809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BB2FD77-3A8B-49F8-846D-13DEB85D14FA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F214C27-3651-4A81-894B-A2BAFEF39B3F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6A37D87-066F-4986-8202-8B46371DEE9F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2D971A6-E4B8-490E-9C4F-53B379EDA824}"/>
              </a:ext>
            </a:extLst>
          </p:cNvPr>
          <p:cNvSpPr txBox="1"/>
          <p:nvPr/>
        </p:nvSpPr>
        <p:spPr>
          <a:xfrm>
            <a:off x="9369404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714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1"/>
            <a:ext cx="6462824" cy="32093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Recursos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14733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15777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FCB178-6CFD-46FE-89A3-0E4C1658B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160" y="2860207"/>
            <a:ext cx="2600871" cy="3040408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E455BC0-EF7B-4522-A58E-5897D3EB8AC8}"/>
              </a:ext>
            </a:extLst>
          </p:cNvPr>
          <p:cNvSpPr txBox="1"/>
          <p:nvPr/>
        </p:nvSpPr>
        <p:spPr>
          <a:xfrm>
            <a:off x="3084298" y="424191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04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7012676" y="2884961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Afiliaciones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25447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Afiliaciones SSSS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76148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1284964" y="3275312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7B41B51-2DB9-4713-B934-6EC6CAD07FA2}"/>
              </a:ext>
            </a:extLst>
          </p:cNvPr>
          <p:cNvSpPr txBox="1"/>
          <p:nvPr/>
        </p:nvSpPr>
        <p:spPr>
          <a:xfrm>
            <a:off x="2644887" y="3269516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BFEE47C-9685-4F4D-97D1-8EB7280819CB}"/>
              </a:ext>
            </a:extLst>
          </p:cNvPr>
          <p:cNvSpPr txBox="1"/>
          <p:nvPr/>
        </p:nvSpPr>
        <p:spPr>
          <a:xfrm>
            <a:off x="6882249" y="328613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EPS: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72EDA7F-1F11-4A98-8BB1-9F0DFE96F6F6}"/>
              </a:ext>
            </a:extLst>
          </p:cNvPr>
          <p:cNvSpPr txBox="1"/>
          <p:nvPr/>
        </p:nvSpPr>
        <p:spPr>
          <a:xfrm>
            <a:off x="8545957" y="3286139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04A1FF1-8B66-4B39-B121-67F566C3D68C}"/>
              </a:ext>
            </a:extLst>
          </p:cNvPr>
          <p:cNvSpPr txBox="1"/>
          <p:nvPr/>
        </p:nvSpPr>
        <p:spPr>
          <a:xfrm>
            <a:off x="6882249" y="371989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B07CE06-474A-49C6-9B09-438DDC7DC985}"/>
              </a:ext>
            </a:extLst>
          </p:cNvPr>
          <p:cNvSpPr txBox="1"/>
          <p:nvPr/>
        </p:nvSpPr>
        <p:spPr>
          <a:xfrm>
            <a:off x="8545957" y="3719893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89453A2B-C362-49FD-81B9-E0BBEC03E847}"/>
              </a:ext>
            </a:extLst>
          </p:cNvPr>
          <p:cNvSpPr txBox="1"/>
          <p:nvPr/>
        </p:nvSpPr>
        <p:spPr>
          <a:xfrm>
            <a:off x="6882249" y="425003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Pensión: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270931C-989F-4219-BCD5-697AC91CA98C}"/>
              </a:ext>
            </a:extLst>
          </p:cNvPr>
          <p:cNvSpPr txBox="1"/>
          <p:nvPr/>
        </p:nvSpPr>
        <p:spPr>
          <a:xfrm>
            <a:off x="8545957" y="4250039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AF8DEEB-B30C-4B37-9687-3AC7F1B8257B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CFD08EF-E82C-453F-9B71-DEDFB9C5F8F5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0F0C91B-0B48-49AE-83B1-D1A55380E366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A58614-05DC-4979-83BE-9D22620045E7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E58CA56-7BE8-4B98-A422-58D3581C4249}"/>
              </a:ext>
            </a:extLst>
          </p:cNvPr>
          <p:cNvSpPr txBox="1"/>
          <p:nvPr/>
        </p:nvSpPr>
        <p:spPr>
          <a:xfrm>
            <a:off x="9132452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1D4B715-C8FD-4C3A-98AE-3E78C6584910}"/>
              </a:ext>
            </a:extLst>
          </p:cNvPr>
          <p:cNvSpPr txBox="1"/>
          <p:nvPr/>
        </p:nvSpPr>
        <p:spPr>
          <a:xfrm>
            <a:off x="6882249" y="276493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B30F486-2054-4815-A038-66B3BA912E86}"/>
              </a:ext>
            </a:extLst>
          </p:cNvPr>
          <p:cNvSpPr txBox="1"/>
          <p:nvPr/>
        </p:nvSpPr>
        <p:spPr>
          <a:xfrm>
            <a:off x="8407429" y="2756802"/>
            <a:ext cx="3144210" cy="2202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33960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0" y="2761570"/>
            <a:ext cx="6658709" cy="3480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Afiliaciones SSSS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415840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2" y="4143019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35B86E9-C416-4070-8291-B52DD548FAF0}"/>
              </a:ext>
            </a:extLst>
          </p:cNvPr>
          <p:cNvSpPr txBox="1"/>
          <p:nvPr/>
        </p:nvSpPr>
        <p:spPr>
          <a:xfrm>
            <a:off x="1284964" y="36736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32D0E5-8764-47EE-B2AF-01741DC0166F}"/>
              </a:ext>
            </a:extLst>
          </p:cNvPr>
          <p:cNvSpPr txBox="1"/>
          <p:nvPr/>
        </p:nvSpPr>
        <p:spPr>
          <a:xfrm>
            <a:off x="2810143" y="36655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949B01-9B19-43FA-BE19-C0F15FD43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870" y="3010222"/>
            <a:ext cx="2968645" cy="2859132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F8C1706-E3FE-4CD8-B81D-243BEF136E1C}"/>
              </a:ext>
            </a:extLst>
          </p:cNvPr>
          <p:cNvSpPr txBox="1"/>
          <p:nvPr/>
        </p:nvSpPr>
        <p:spPr>
          <a:xfrm>
            <a:off x="1284964" y="317974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C12171A-8053-4994-944E-44523D62EDF9}"/>
              </a:ext>
            </a:extLst>
          </p:cNvPr>
          <p:cNvSpPr txBox="1"/>
          <p:nvPr/>
        </p:nvSpPr>
        <p:spPr>
          <a:xfrm>
            <a:off x="2810143" y="317162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DA8CAAA-4A9B-4301-9496-4982C1409B73}"/>
              </a:ext>
            </a:extLst>
          </p:cNvPr>
          <p:cNvSpPr txBox="1"/>
          <p:nvPr/>
        </p:nvSpPr>
        <p:spPr>
          <a:xfrm>
            <a:off x="3165972" y="509391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871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73599" y="3349552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Alto Riesgo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13206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Trabajadores en alto riesgo 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76148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7AEC641-8666-4EB6-AF71-3A4B191A5350}"/>
              </a:ext>
            </a:extLst>
          </p:cNvPr>
          <p:cNvSpPr txBox="1"/>
          <p:nvPr/>
        </p:nvSpPr>
        <p:spPr>
          <a:xfrm>
            <a:off x="1284964" y="3275312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7B41B51-2DB9-4713-B934-6EC6CAD07FA2}"/>
              </a:ext>
            </a:extLst>
          </p:cNvPr>
          <p:cNvSpPr txBox="1"/>
          <p:nvPr/>
        </p:nvSpPr>
        <p:spPr>
          <a:xfrm>
            <a:off x="2644887" y="3269516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04A1FF1-8B66-4B39-B121-67F566C3D68C}"/>
              </a:ext>
            </a:extLst>
          </p:cNvPr>
          <p:cNvSpPr txBox="1"/>
          <p:nvPr/>
        </p:nvSpPr>
        <p:spPr>
          <a:xfrm>
            <a:off x="6744921" y="326951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Certificado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B07CE06-474A-49C6-9B09-438DDC7DC985}"/>
              </a:ext>
            </a:extLst>
          </p:cNvPr>
          <p:cNvSpPr txBox="1"/>
          <p:nvPr/>
        </p:nvSpPr>
        <p:spPr>
          <a:xfrm>
            <a:off x="8419826" y="3253655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97220A-3AA2-4224-9AB7-8DEAFCF0EDBA}"/>
              </a:ext>
            </a:extLst>
          </p:cNvPr>
          <p:cNvSpPr txBox="1"/>
          <p:nvPr/>
        </p:nvSpPr>
        <p:spPr>
          <a:xfrm>
            <a:off x="1284964" y="3779061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A2DF410-B251-4EF6-85F3-5EBB5B5FE20D}"/>
              </a:ext>
            </a:extLst>
          </p:cNvPr>
          <p:cNvSpPr txBox="1"/>
          <p:nvPr/>
        </p:nvSpPr>
        <p:spPr>
          <a:xfrm>
            <a:off x="2644887" y="3773265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B7ACD28-B9BA-47C0-BB8D-CFACF454C319}"/>
              </a:ext>
            </a:extLst>
          </p:cNvPr>
          <p:cNvSpPr txBox="1"/>
          <p:nvPr/>
        </p:nvSpPr>
        <p:spPr>
          <a:xfrm>
            <a:off x="6744921" y="377326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Certificado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6ED951D-D3A7-4375-8669-C0FE187BB069}"/>
              </a:ext>
            </a:extLst>
          </p:cNvPr>
          <p:cNvSpPr txBox="1"/>
          <p:nvPr/>
        </p:nvSpPr>
        <p:spPr>
          <a:xfrm>
            <a:off x="8419826" y="3757404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A9091D7-A713-44BD-AE85-636E6A33C5BE}"/>
              </a:ext>
            </a:extLst>
          </p:cNvPr>
          <p:cNvSpPr txBox="1"/>
          <p:nvPr/>
        </p:nvSpPr>
        <p:spPr>
          <a:xfrm>
            <a:off x="1310533" y="4254813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BCA3E3C-5AE0-4C98-B137-FC630737138A}"/>
              </a:ext>
            </a:extLst>
          </p:cNvPr>
          <p:cNvSpPr txBox="1"/>
          <p:nvPr/>
        </p:nvSpPr>
        <p:spPr>
          <a:xfrm>
            <a:off x="2670456" y="4249017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4477318-CBB4-4A1E-8992-49ADCAF39111}"/>
              </a:ext>
            </a:extLst>
          </p:cNvPr>
          <p:cNvSpPr txBox="1"/>
          <p:nvPr/>
        </p:nvSpPr>
        <p:spPr>
          <a:xfrm>
            <a:off x="6770490" y="424901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Certificado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D6C1B58-3653-4FB1-89DC-DEB2BC2BF656}"/>
              </a:ext>
            </a:extLst>
          </p:cNvPr>
          <p:cNvSpPr txBox="1"/>
          <p:nvPr/>
        </p:nvSpPr>
        <p:spPr>
          <a:xfrm>
            <a:off x="8445395" y="4233156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4EBAEB-130E-4FBF-83BA-BF64C1B39B71}"/>
              </a:ext>
            </a:extLst>
          </p:cNvPr>
          <p:cNvSpPr txBox="1"/>
          <p:nvPr/>
        </p:nvSpPr>
        <p:spPr>
          <a:xfrm>
            <a:off x="1310533" y="4774351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F09CC88-D108-4821-BA47-9E1B75C5243B}"/>
              </a:ext>
            </a:extLst>
          </p:cNvPr>
          <p:cNvSpPr txBox="1"/>
          <p:nvPr/>
        </p:nvSpPr>
        <p:spPr>
          <a:xfrm>
            <a:off x="2670456" y="4768555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3B7A9D7-6387-4C06-A671-B26A69E80BEB}"/>
              </a:ext>
            </a:extLst>
          </p:cNvPr>
          <p:cNvSpPr txBox="1"/>
          <p:nvPr/>
        </p:nvSpPr>
        <p:spPr>
          <a:xfrm>
            <a:off x="6770490" y="476855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Certificado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716936F-31A9-4917-9002-0CACE7979BAA}"/>
              </a:ext>
            </a:extLst>
          </p:cNvPr>
          <p:cNvSpPr txBox="1"/>
          <p:nvPr/>
        </p:nvSpPr>
        <p:spPr>
          <a:xfrm>
            <a:off x="8445395" y="4752694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9303FD3-35B5-40F4-A508-306FAA0692C2}"/>
              </a:ext>
            </a:extLst>
          </p:cNvPr>
          <p:cNvSpPr txBox="1"/>
          <p:nvPr/>
        </p:nvSpPr>
        <p:spPr>
          <a:xfrm>
            <a:off x="1310533" y="5398459"/>
            <a:ext cx="13091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D3516ED4-9CFC-4E02-BE47-A98F2BEED45F}"/>
              </a:ext>
            </a:extLst>
          </p:cNvPr>
          <p:cNvSpPr txBox="1"/>
          <p:nvPr/>
        </p:nvSpPr>
        <p:spPr>
          <a:xfrm>
            <a:off x="2670456" y="5392663"/>
            <a:ext cx="381062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FA5EA66-AC5C-41FE-A0E6-81697AB29DB7}"/>
              </a:ext>
            </a:extLst>
          </p:cNvPr>
          <p:cNvSpPr txBox="1"/>
          <p:nvPr/>
        </p:nvSpPr>
        <p:spPr>
          <a:xfrm>
            <a:off x="6770490" y="539266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Certificado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ARL: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1BEB6C2-BE72-4F24-AF2B-099E4B737B04}"/>
              </a:ext>
            </a:extLst>
          </p:cNvPr>
          <p:cNvSpPr txBox="1"/>
          <p:nvPr/>
        </p:nvSpPr>
        <p:spPr>
          <a:xfrm>
            <a:off x="8445395" y="5376802"/>
            <a:ext cx="10003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A817373-EB40-4912-ACA1-230BBB9DEC1B}"/>
              </a:ext>
            </a:extLst>
          </p:cNvPr>
          <p:cNvSpPr txBox="1"/>
          <p:nvPr/>
        </p:nvSpPr>
        <p:spPr>
          <a:xfrm>
            <a:off x="3787785" y="624868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B23CC9D-71D2-41A7-BAE2-A83A057DB62E}"/>
              </a:ext>
            </a:extLst>
          </p:cNvPr>
          <p:cNvSpPr txBox="1"/>
          <p:nvPr/>
        </p:nvSpPr>
        <p:spPr>
          <a:xfrm>
            <a:off x="5774578" y="624868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8AABE5C-6468-4CEE-B43F-F49E997410F8}"/>
              </a:ext>
            </a:extLst>
          </p:cNvPr>
          <p:cNvSpPr txBox="1"/>
          <p:nvPr/>
        </p:nvSpPr>
        <p:spPr>
          <a:xfrm>
            <a:off x="7761371" y="624868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145498-5F27-4391-BCF4-7CD1A5DB7F95}"/>
              </a:ext>
            </a:extLst>
          </p:cNvPr>
          <p:cNvSpPr txBox="1"/>
          <p:nvPr/>
        </p:nvSpPr>
        <p:spPr>
          <a:xfrm>
            <a:off x="9814886" y="624868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0DB535A-B60C-4F40-AF6D-81AA46291FC5}"/>
              </a:ext>
            </a:extLst>
          </p:cNvPr>
          <p:cNvSpPr txBox="1"/>
          <p:nvPr/>
        </p:nvSpPr>
        <p:spPr>
          <a:xfrm>
            <a:off x="6714446" y="277937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AD5A13B-6B20-4BB3-9BFB-3452EC67B10C}"/>
              </a:ext>
            </a:extLst>
          </p:cNvPr>
          <p:cNvSpPr txBox="1"/>
          <p:nvPr/>
        </p:nvSpPr>
        <p:spPr>
          <a:xfrm>
            <a:off x="8239626" y="2779370"/>
            <a:ext cx="2065354" cy="20731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5CCE26C-54D3-4546-B614-B0D0AC853C0C}"/>
              </a:ext>
            </a:extLst>
          </p:cNvPr>
          <p:cNvSpPr txBox="1"/>
          <p:nvPr/>
        </p:nvSpPr>
        <p:spPr>
          <a:xfrm>
            <a:off x="1993557" y="624868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680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62824" cy="3013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Trabajadores en alto riesgo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65015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658281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D105074-D7CC-4E22-9E77-E7C9D8021238}"/>
              </a:ext>
            </a:extLst>
          </p:cNvPr>
          <p:cNvSpPr txBox="1"/>
          <p:nvPr/>
        </p:nvSpPr>
        <p:spPr>
          <a:xfrm>
            <a:off x="1284964" y="319457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CC4719-F6C7-440C-AA02-0CBA17A7AC55}"/>
              </a:ext>
            </a:extLst>
          </p:cNvPr>
          <p:cNvSpPr txBox="1"/>
          <p:nvPr/>
        </p:nvSpPr>
        <p:spPr>
          <a:xfrm>
            <a:off x="2810143" y="3186451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69E194D-3F98-45A9-BEB3-2EA879C69A0B}"/>
              </a:ext>
            </a:extLst>
          </p:cNvPr>
          <p:cNvSpPr txBox="1"/>
          <p:nvPr/>
        </p:nvSpPr>
        <p:spPr>
          <a:xfrm>
            <a:off x="3053049" y="470755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DF5A3F-C19E-400C-8765-1B613E852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940" y="2942735"/>
            <a:ext cx="2190383" cy="242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518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363048" y="435912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7004860" y="3732880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COPASST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1970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Constitución del COPASST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Hoy: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92A6445-510B-46F6-A38B-46AA9A88E894}"/>
              </a:ext>
            </a:extLst>
          </p:cNvPr>
          <p:cNvSpPr txBox="1"/>
          <p:nvPr/>
        </p:nvSpPr>
        <p:spPr>
          <a:xfrm>
            <a:off x="2810143" y="3115070"/>
            <a:ext cx="8741495" cy="30008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700" dirty="0"/>
              <a:t>Constitución del COPASST y posesión de sus representantes </a:t>
            </a:r>
          </a:p>
          <a:p>
            <a:pPr algn="ctr"/>
            <a:r>
              <a:rPr lang="es-MX" sz="700" dirty="0"/>
              <a:t>Acta </a:t>
            </a:r>
            <a:r>
              <a:rPr lang="es-MX" sz="700" dirty="0" err="1"/>
              <a:t>n°</a:t>
            </a:r>
            <a:r>
              <a:rPr lang="es-MX" sz="700" dirty="0"/>
              <a:t> 1</a:t>
            </a:r>
          </a:p>
          <a:p>
            <a:r>
              <a:rPr lang="es-MX" sz="700" dirty="0"/>
              <a:t>En las instalaciones de MUNDO BAGS hoy, 06 de febrero de 2020 se reunieron las siguientes personas:</a:t>
            </a:r>
          </a:p>
          <a:p>
            <a:endParaRPr lang="es-MX" sz="700" dirty="0"/>
          </a:p>
          <a:p>
            <a:r>
              <a:rPr lang="es-MX" sz="700" dirty="0"/>
              <a:t>El representante legal y los empleados de la compañía para conformar el Comité Paritario de Seguridad y Salud en el Trabajo – COPASST -, como lo disponen las Resoluciones 2013 de 1986 y el Decreto 1443 de 2014 y las demás exigencias del Comité de Medicina, Higiene y Seguridad Industrial del Ministerio de Trabajo. En esta reunión, se designaron como representantes del Empleador y como representantes de los trabajadores, a los siguientes:</a:t>
            </a:r>
          </a:p>
          <a:p>
            <a:endParaRPr lang="es-MX" sz="700" dirty="0"/>
          </a:p>
          <a:p>
            <a:r>
              <a:rPr lang="es-MX" sz="700" dirty="0"/>
              <a:t>El señor Diego Alexander Martínez Giraldo en su calidad de Representante legal de la empresa nombró como sus representantes principales y suplentes a las siguientes personas, quien también actuará como presidente del Comité.:</a:t>
            </a:r>
          </a:p>
          <a:p>
            <a:endParaRPr lang="es-MX" sz="700" dirty="0"/>
          </a:p>
          <a:p>
            <a:r>
              <a:rPr lang="es-MX" sz="700" dirty="0"/>
              <a:t>Principal:   Luz Adriana Díaz Calle con cédula número 52.223.631</a:t>
            </a:r>
          </a:p>
          <a:p>
            <a:r>
              <a:rPr lang="es-MX" sz="700" dirty="0"/>
              <a:t>Suplente:   Juan Esteban Álvarez Gómez con cédula número 1.017.249.710</a:t>
            </a:r>
          </a:p>
          <a:p>
            <a:endParaRPr lang="es-MX" sz="700" dirty="0"/>
          </a:p>
          <a:p>
            <a:r>
              <a:rPr lang="es-MX" sz="700" dirty="0"/>
              <a:t>Los trabajadores en Votación popular que hicieron el pasado 18 de marzo de 2020 por votación unánime nombraron como sus representantes principales y suplentes al COPASST a los siguientes: </a:t>
            </a:r>
          </a:p>
          <a:p>
            <a:endParaRPr lang="es-MX" sz="700" dirty="0"/>
          </a:p>
          <a:p>
            <a:r>
              <a:rPr lang="es-MX" sz="700" dirty="0"/>
              <a:t>Principal: Sebastián Palacio Rincón con cédula número 1.102.880.491</a:t>
            </a:r>
          </a:p>
          <a:p>
            <a:r>
              <a:rPr lang="es-MX" sz="700" dirty="0"/>
              <a:t>Suplente: Juan Fernando Cartagena Jaramillo   con cédula número 1.128.392.350</a:t>
            </a:r>
          </a:p>
          <a:p>
            <a:endParaRPr lang="es-MX" sz="700" dirty="0"/>
          </a:p>
          <a:p>
            <a:r>
              <a:rPr lang="es-MX" sz="700" dirty="0"/>
              <a:t>(El número de representantes está determinado en el Artículo 2º de la resolución 2013 de 1986).</a:t>
            </a:r>
          </a:p>
          <a:p>
            <a:r>
              <a:rPr lang="es-MX" sz="700" dirty="0"/>
              <a:t> </a:t>
            </a:r>
          </a:p>
          <a:p>
            <a:r>
              <a:rPr lang="es-MX" sz="700" dirty="0"/>
              <a:t>Asimismo, se establece que el período de los miembros del Comité Paritario de Seguridad y Salud en el Trabajo será de un año y se reunirán una vez al mes en local de la empresa y durante el horario de trabajo tal como se estipula en el Artículo 6 y 7 de la Resolución 2013 de 1986. </a:t>
            </a:r>
          </a:p>
          <a:p>
            <a:endParaRPr lang="es-MX" sz="700" dirty="0"/>
          </a:p>
          <a:p>
            <a:r>
              <a:rPr lang="es-MX" sz="700" dirty="0"/>
              <a:t>Por consenso entre los representantes del empleador y de los trabajadores, se nombra al señor Sebastián Palacio rincón como secretario del Comité.</a:t>
            </a:r>
          </a:p>
          <a:p>
            <a:endParaRPr lang="es-MX" sz="700" dirty="0"/>
          </a:p>
          <a:p>
            <a:endParaRPr lang="es-MX" sz="700" dirty="0"/>
          </a:p>
          <a:p>
            <a:endParaRPr lang="es-MX" sz="700" dirty="0"/>
          </a:p>
          <a:p>
            <a:r>
              <a:rPr lang="es-MX" sz="700" dirty="0"/>
              <a:t>Presidente                                                                                                                                                      Secretaria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CE779AB-A711-4744-841A-3D786C5C666A}"/>
              </a:ext>
            </a:extLst>
          </p:cNvPr>
          <p:cNvSpPr txBox="1"/>
          <p:nvPr/>
        </p:nvSpPr>
        <p:spPr>
          <a:xfrm>
            <a:off x="1284964" y="313363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4E34CC6-650C-4C47-BD78-858AADFC65C7}"/>
              </a:ext>
            </a:extLst>
          </p:cNvPr>
          <p:cNvSpPr txBox="1"/>
          <p:nvPr/>
        </p:nvSpPr>
        <p:spPr>
          <a:xfrm>
            <a:off x="9111904" y="624601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D461C69-FFF0-4F89-8D30-2368B9201027}"/>
              </a:ext>
            </a:extLst>
          </p:cNvPr>
          <p:cNvSpPr txBox="1"/>
          <p:nvPr/>
        </p:nvSpPr>
        <p:spPr>
          <a:xfrm>
            <a:off x="3907454" y="276969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 de Acta: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7F1760B-D9B7-442E-9AA1-A3175B086BA7}"/>
              </a:ext>
            </a:extLst>
          </p:cNvPr>
          <p:cNvSpPr txBox="1"/>
          <p:nvPr/>
        </p:nvSpPr>
        <p:spPr>
          <a:xfrm>
            <a:off x="5432634" y="2761570"/>
            <a:ext cx="39209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46B4679-9365-4DC1-B909-441FBD4F409E}"/>
              </a:ext>
            </a:extLst>
          </p:cNvPr>
          <p:cNvSpPr txBox="1"/>
          <p:nvPr/>
        </p:nvSpPr>
        <p:spPr>
          <a:xfrm>
            <a:off x="5985692" y="277790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EB58BF6-1AF9-4C0F-AD6C-76004EAC36A8}"/>
              </a:ext>
            </a:extLst>
          </p:cNvPr>
          <p:cNvSpPr txBox="1"/>
          <p:nvPr/>
        </p:nvSpPr>
        <p:spPr>
          <a:xfrm>
            <a:off x="7510872" y="2769779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6B91807-D12B-4CAA-832C-AEDE3774E64F}"/>
              </a:ext>
            </a:extLst>
          </p:cNvPr>
          <p:cNvSpPr txBox="1"/>
          <p:nvPr/>
        </p:nvSpPr>
        <p:spPr>
          <a:xfrm>
            <a:off x="8596293" y="277779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B263C09-ACDF-4085-B50E-59E5F0474648}"/>
              </a:ext>
            </a:extLst>
          </p:cNvPr>
          <p:cNvSpPr txBox="1"/>
          <p:nvPr/>
        </p:nvSpPr>
        <p:spPr>
          <a:xfrm>
            <a:off x="10121472" y="2769669"/>
            <a:ext cx="1385491" cy="1992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553645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1"/>
            <a:ext cx="6320504" cy="29401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Conformación COPASST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14733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15777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636898-CAF7-43A5-B7AE-709009EE6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870" y="2977014"/>
            <a:ext cx="1895475" cy="253280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490EE44C-53BE-4A7A-A348-ACD6404D34E0}"/>
              </a:ext>
            </a:extLst>
          </p:cNvPr>
          <p:cNvSpPr txBox="1"/>
          <p:nvPr/>
        </p:nvSpPr>
        <p:spPr>
          <a:xfrm>
            <a:off x="3155519" y="423164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866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181873" y="41975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7012676" y="4014234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COCOLA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99045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Constitución del COCOLA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4" y="2753443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CE779AB-A711-4744-841A-3D786C5C666A}"/>
              </a:ext>
            </a:extLst>
          </p:cNvPr>
          <p:cNvSpPr txBox="1"/>
          <p:nvPr/>
        </p:nvSpPr>
        <p:spPr>
          <a:xfrm>
            <a:off x="1284964" y="3220412"/>
            <a:ext cx="926230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REPRESENTANTES DEL COMITÉ DE CONVIVENCIA POR LOS TRABAJADORES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35C836F-B298-48C1-B6E0-9F746DAC223A}"/>
              </a:ext>
            </a:extLst>
          </p:cNvPr>
          <p:cNvSpPr txBox="1"/>
          <p:nvPr/>
        </p:nvSpPr>
        <p:spPr>
          <a:xfrm>
            <a:off x="3284672" y="3591383"/>
            <a:ext cx="445255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2CAF21E-51C0-4E49-90F4-5FD7A09AF1F6}"/>
              </a:ext>
            </a:extLst>
          </p:cNvPr>
          <p:cNvSpPr txBox="1"/>
          <p:nvPr/>
        </p:nvSpPr>
        <p:spPr>
          <a:xfrm>
            <a:off x="3308118" y="3984151"/>
            <a:ext cx="44291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E8E0E69-5FAD-42F2-AAA7-A06CDE427292}"/>
              </a:ext>
            </a:extLst>
          </p:cNvPr>
          <p:cNvSpPr txBox="1"/>
          <p:nvPr/>
        </p:nvSpPr>
        <p:spPr>
          <a:xfrm>
            <a:off x="3308118" y="4418522"/>
            <a:ext cx="44291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08761BC-4403-48AB-87B0-ED37BB3452A3}"/>
              </a:ext>
            </a:extLst>
          </p:cNvPr>
          <p:cNvSpPr txBox="1"/>
          <p:nvPr/>
        </p:nvSpPr>
        <p:spPr>
          <a:xfrm>
            <a:off x="8118895" y="4418522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Suplente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58B71D-3CDF-4DD2-88FE-6000FBD6AE77}"/>
              </a:ext>
            </a:extLst>
          </p:cNvPr>
          <p:cNvSpPr txBox="1"/>
          <p:nvPr/>
        </p:nvSpPr>
        <p:spPr>
          <a:xfrm>
            <a:off x="8118895" y="3991813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Suplente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88B3B74-974B-47A4-9F1B-76DC397B636C}"/>
              </a:ext>
            </a:extLst>
          </p:cNvPr>
          <p:cNvSpPr txBox="1"/>
          <p:nvPr/>
        </p:nvSpPr>
        <p:spPr>
          <a:xfrm>
            <a:off x="8118895" y="3568494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Titular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872382B-9FE4-4D30-A2A1-2ADAA14343EF}"/>
              </a:ext>
            </a:extLst>
          </p:cNvPr>
          <p:cNvSpPr txBox="1"/>
          <p:nvPr/>
        </p:nvSpPr>
        <p:spPr>
          <a:xfrm>
            <a:off x="1284963" y="4896872"/>
            <a:ext cx="926230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REPRESENTANTES DEL COMITÉ DE CONVIVENCIA POR LOS EMPLEADORES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A5C3A7A-BFB3-4C53-80B6-BB7D3764B60E}"/>
              </a:ext>
            </a:extLst>
          </p:cNvPr>
          <p:cNvSpPr txBox="1"/>
          <p:nvPr/>
        </p:nvSpPr>
        <p:spPr>
          <a:xfrm>
            <a:off x="3284672" y="5267843"/>
            <a:ext cx="445255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38170392-3E29-49CE-9FB8-2738DE960FAE}"/>
              </a:ext>
            </a:extLst>
          </p:cNvPr>
          <p:cNvSpPr txBox="1"/>
          <p:nvPr/>
        </p:nvSpPr>
        <p:spPr>
          <a:xfrm>
            <a:off x="3308118" y="5660611"/>
            <a:ext cx="44291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E3081FA4-B7B5-4F16-925D-A7A928E5EB9A}"/>
              </a:ext>
            </a:extLst>
          </p:cNvPr>
          <p:cNvSpPr txBox="1"/>
          <p:nvPr/>
        </p:nvSpPr>
        <p:spPr>
          <a:xfrm>
            <a:off x="3308118" y="6094982"/>
            <a:ext cx="44291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E3228DD-A54B-409B-B173-3428CF78B120}"/>
              </a:ext>
            </a:extLst>
          </p:cNvPr>
          <p:cNvSpPr txBox="1"/>
          <p:nvPr/>
        </p:nvSpPr>
        <p:spPr>
          <a:xfrm>
            <a:off x="8118895" y="6094982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Suplente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3DD05A8-2D41-4514-8B54-97D939293762}"/>
              </a:ext>
            </a:extLst>
          </p:cNvPr>
          <p:cNvSpPr txBox="1"/>
          <p:nvPr/>
        </p:nvSpPr>
        <p:spPr>
          <a:xfrm>
            <a:off x="8118895" y="5668273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Suplente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85A1C0C-02AF-4CA8-8D9F-BA911F4BA19D}"/>
              </a:ext>
            </a:extLst>
          </p:cNvPr>
          <p:cNvSpPr txBox="1"/>
          <p:nvPr/>
        </p:nvSpPr>
        <p:spPr>
          <a:xfrm>
            <a:off x="8118895" y="5244954"/>
            <a:ext cx="24283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Titular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6924E5F-45B0-4A69-B696-1389B4153D2D}"/>
              </a:ext>
            </a:extLst>
          </p:cNvPr>
          <p:cNvSpPr txBox="1"/>
          <p:nvPr/>
        </p:nvSpPr>
        <p:spPr>
          <a:xfrm>
            <a:off x="1336373" y="3621818"/>
            <a:ext cx="83803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03E0781-7B40-4DA1-AD7A-2E511C12F04F}"/>
              </a:ext>
            </a:extLst>
          </p:cNvPr>
          <p:cNvSpPr txBox="1"/>
          <p:nvPr/>
        </p:nvSpPr>
        <p:spPr>
          <a:xfrm>
            <a:off x="1383526" y="5329318"/>
            <a:ext cx="707925" cy="2235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439BC93-A6A6-403B-9E8B-B62F356CEF98}"/>
              </a:ext>
            </a:extLst>
          </p:cNvPr>
          <p:cNvSpPr txBox="1"/>
          <p:nvPr/>
        </p:nvSpPr>
        <p:spPr>
          <a:xfrm>
            <a:off x="2172482" y="5326666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BB9D719-15E6-4AC1-B08D-C88247892A50}"/>
              </a:ext>
            </a:extLst>
          </p:cNvPr>
          <p:cNvSpPr txBox="1"/>
          <p:nvPr/>
        </p:nvSpPr>
        <p:spPr>
          <a:xfrm>
            <a:off x="2215767" y="3608935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0FCB7AD-898D-4C7B-80C8-E5F71853AE5F}"/>
              </a:ext>
            </a:extLst>
          </p:cNvPr>
          <p:cNvSpPr txBox="1"/>
          <p:nvPr/>
        </p:nvSpPr>
        <p:spPr>
          <a:xfrm>
            <a:off x="1336373" y="3994382"/>
            <a:ext cx="83803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1FDC156-E1DF-4BE4-B86F-AB9B4B3035D8}"/>
              </a:ext>
            </a:extLst>
          </p:cNvPr>
          <p:cNvSpPr txBox="1"/>
          <p:nvPr/>
        </p:nvSpPr>
        <p:spPr>
          <a:xfrm>
            <a:off x="2215767" y="3981499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14C35B87-80EB-4538-B585-B23898C99258}"/>
              </a:ext>
            </a:extLst>
          </p:cNvPr>
          <p:cNvSpPr txBox="1"/>
          <p:nvPr/>
        </p:nvSpPr>
        <p:spPr>
          <a:xfrm>
            <a:off x="1351979" y="4413945"/>
            <a:ext cx="83803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F1EC773-F6BE-41FA-8634-8BEFF83B8AE1}"/>
              </a:ext>
            </a:extLst>
          </p:cNvPr>
          <p:cNvSpPr txBox="1"/>
          <p:nvPr/>
        </p:nvSpPr>
        <p:spPr>
          <a:xfrm>
            <a:off x="2231373" y="4401062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7F99431-36F2-4836-ABDD-22FEC509A496}"/>
              </a:ext>
            </a:extLst>
          </p:cNvPr>
          <p:cNvSpPr txBox="1"/>
          <p:nvPr/>
        </p:nvSpPr>
        <p:spPr>
          <a:xfrm>
            <a:off x="1333778" y="5657959"/>
            <a:ext cx="83803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D0A6F5C-DB76-45E3-9519-2FC2C34EE407}"/>
              </a:ext>
            </a:extLst>
          </p:cNvPr>
          <p:cNvSpPr txBox="1"/>
          <p:nvPr/>
        </p:nvSpPr>
        <p:spPr>
          <a:xfrm>
            <a:off x="2213172" y="5645076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12FEF56-3E6E-4AB6-9872-9F2F87D44996}"/>
              </a:ext>
            </a:extLst>
          </p:cNvPr>
          <p:cNvSpPr txBox="1"/>
          <p:nvPr/>
        </p:nvSpPr>
        <p:spPr>
          <a:xfrm>
            <a:off x="1349384" y="6077522"/>
            <a:ext cx="83803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41BA936-53E4-44E2-ABF1-4B0F720B01F2}"/>
              </a:ext>
            </a:extLst>
          </p:cNvPr>
          <p:cNvSpPr txBox="1"/>
          <p:nvPr/>
        </p:nvSpPr>
        <p:spPr>
          <a:xfrm>
            <a:off x="2228778" y="6064639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7195242-0BDF-42C5-AE85-E550A56F3350}"/>
              </a:ext>
            </a:extLst>
          </p:cNvPr>
          <p:cNvSpPr txBox="1"/>
          <p:nvPr/>
        </p:nvSpPr>
        <p:spPr>
          <a:xfrm>
            <a:off x="3945780" y="273162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1CD0113-85C9-4297-A478-0884C965A974}"/>
              </a:ext>
            </a:extLst>
          </p:cNvPr>
          <p:cNvSpPr txBox="1"/>
          <p:nvPr/>
        </p:nvSpPr>
        <p:spPr>
          <a:xfrm>
            <a:off x="5470960" y="2639759"/>
            <a:ext cx="5974449" cy="4986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9A2D229-D7D2-439C-84C2-504A0D0C56CC}"/>
              </a:ext>
            </a:extLst>
          </p:cNvPr>
          <p:cNvSpPr txBox="1"/>
          <p:nvPr/>
        </p:nvSpPr>
        <p:spPr>
          <a:xfrm>
            <a:off x="1284964" y="64968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4161C07-050E-4663-8D3C-4642970EDD86}"/>
              </a:ext>
            </a:extLst>
          </p:cNvPr>
          <p:cNvSpPr txBox="1"/>
          <p:nvPr/>
        </p:nvSpPr>
        <p:spPr>
          <a:xfrm>
            <a:off x="3271757" y="64968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92BC8D8-A371-4B82-93DF-F9311CCB6DA0}"/>
              </a:ext>
            </a:extLst>
          </p:cNvPr>
          <p:cNvSpPr txBox="1"/>
          <p:nvPr/>
        </p:nvSpPr>
        <p:spPr>
          <a:xfrm>
            <a:off x="5258550" y="64968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8E919FF-67D4-4E4A-B5A6-BDB99717CEB8}"/>
              </a:ext>
            </a:extLst>
          </p:cNvPr>
          <p:cNvSpPr txBox="1"/>
          <p:nvPr/>
        </p:nvSpPr>
        <p:spPr>
          <a:xfrm>
            <a:off x="7312065" y="649686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3167CE5-F3DC-4C3B-A5F3-8D6A61998D1C}"/>
              </a:ext>
            </a:extLst>
          </p:cNvPr>
          <p:cNvSpPr txBox="1"/>
          <p:nvPr/>
        </p:nvSpPr>
        <p:spPr>
          <a:xfrm>
            <a:off x="9077508" y="648392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47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0" y="2761570"/>
            <a:ext cx="6658709" cy="34807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Conformación COCOLA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14733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315777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C8B024-A216-47D0-9F2A-AF8BEC186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210" y="2968887"/>
            <a:ext cx="2088266" cy="296181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A3082FA7-52E2-4A90-92BA-F221010CEAE7}"/>
              </a:ext>
            </a:extLst>
          </p:cNvPr>
          <p:cNvSpPr txBox="1"/>
          <p:nvPr/>
        </p:nvSpPr>
        <p:spPr>
          <a:xfrm>
            <a:off x="3155519" y="397374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045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181873" y="41975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89230" y="4549476"/>
            <a:ext cx="15764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Programa de Capacitación 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917999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Programa de Capacitación y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id 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9958FDE-94D3-41BA-BF9B-AE7E1D832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16" y="2905864"/>
            <a:ext cx="2244541" cy="2674321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5C7873A-DB44-4FE9-9F28-15B3396109D9}"/>
              </a:ext>
            </a:extLst>
          </p:cNvPr>
          <p:cNvSpPr txBox="1"/>
          <p:nvPr/>
        </p:nvSpPr>
        <p:spPr>
          <a:xfrm>
            <a:off x="9179689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r>
              <a:rPr lang="es-CO" sz="1200" dirty="0">
                <a:solidFill>
                  <a:srgbClr val="000000"/>
                </a:solidFill>
              </a:rPr>
              <a:t> 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967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181873" y="41975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73598" y="5075073"/>
            <a:ext cx="148445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Inducción y reinducción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769766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0" y="2761570"/>
            <a:ext cx="6501901" cy="31390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Inducción Reinducción 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 id Documento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7AD1DE2-5FC7-4EB3-A2CF-8F024866B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783" y="2873360"/>
            <a:ext cx="2197202" cy="2845613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CC9F8C4D-636A-4CF7-A7C9-4F46BFE30929}"/>
              </a:ext>
            </a:extLst>
          </p:cNvPr>
          <p:cNvSpPr txBox="1"/>
          <p:nvPr/>
        </p:nvSpPr>
        <p:spPr>
          <a:xfrm>
            <a:off x="3507438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DCB5EAD-EBD9-4723-ADBD-364ABE4B2EEA}"/>
              </a:ext>
            </a:extLst>
          </p:cNvPr>
          <p:cNvSpPr txBox="1"/>
          <p:nvPr/>
        </p:nvSpPr>
        <p:spPr>
          <a:xfrm>
            <a:off x="5494231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9C018F-A13B-4C77-BC58-68EA63D5AEA6}"/>
              </a:ext>
            </a:extLst>
          </p:cNvPr>
          <p:cNvSpPr txBox="1"/>
          <p:nvPr/>
        </p:nvSpPr>
        <p:spPr>
          <a:xfrm>
            <a:off x="7481024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C357006-1EC9-48FA-ABA0-DA6E050220EA}"/>
              </a:ext>
            </a:extLst>
          </p:cNvPr>
          <p:cNvSpPr txBox="1"/>
          <p:nvPr/>
        </p:nvSpPr>
        <p:spPr>
          <a:xfrm>
            <a:off x="9534539" y="623771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017F2AE-9F26-4A34-9FF5-BF9E9A7E6ACC}"/>
              </a:ext>
            </a:extLst>
          </p:cNvPr>
          <p:cNvSpPr txBox="1"/>
          <p:nvPr/>
        </p:nvSpPr>
        <p:spPr>
          <a:xfrm>
            <a:off x="1424651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03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181873" y="41975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11076" y="5529451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50 Horas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79530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50 Horas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 </a:t>
            </a:r>
            <a:r>
              <a:rPr lang="es-CO" sz="800" dirty="0" err="1">
                <a:solidFill>
                  <a:srgbClr val="000000"/>
                </a:solidFill>
              </a:rPr>
              <a:t>iDocumento</a:t>
            </a:r>
            <a:r>
              <a:rPr lang="es-CO" sz="800" dirty="0">
                <a:solidFill>
                  <a:srgbClr val="000000"/>
                </a:solidFill>
              </a:rPr>
              <a:t>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A9D675-F376-45E5-AD4D-515DCB2DB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724" y="3125997"/>
            <a:ext cx="4227814" cy="2469818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87785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74578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761371" y="62377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814886" y="623771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D217EF-6B26-410D-BD49-6759A5841E2B}"/>
              </a:ext>
            </a:extLst>
          </p:cNvPr>
          <p:cNvSpPr txBox="1"/>
          <p:nvPr/>
        </p:nvSpPr>
        <p:spPr>
          <a:xfrm>
            <a:off x="1659645" y="623770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2866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415692" y="1701137"/>
            <a:ext cx="2425045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Responsable del SG-SST  </a:t>
            </a:r>
          </a:p>
          <a:p>
            <a:endParaRPr lang="es-MX" sz="1200" dirty="0"/>
          </a:p>
          <a:p>
            <a:r>
              <a:rPr lang="es-CO" sz="1200" dirty="0"/>
              <a:t>Responsabilidades en el SG-SST</a:t>
            </a:r>
          </a:p>
          <a:p>
            <a:endParaRPr lang="es-CO" sz="1200" dirty="0"/>
          </a:p>
          <a:p>
            <a:r>
              <a:rPr lang="es-CO" sz="1200" dirty="0"/>
              <a:t>Asignación de recursos</a:t>
            </a:r>
          </a:p>
          <a:p>
            <a:endParaRPr lang="es-CO" sz="1200" dirty="0"/>
          </a:p>
          <a:p>
            <a:r>
              <a:rPr lang="es-CO" sz="1200" dirty="0"/>
              <a:t>Afiliación al Sistema de Riesgos Laborales</a:t>
            </a:r>
          </a:p>
          <a:p>
            <a:endParaRPr lang="es-CO" sz="1200" dirty="0"/>
          </a:p>
          <a:p>
            <a:r>
              <a:rPr lang="es-CO" sz="1200" dirty="0"/>
              <a:t>Trabajadores en alto riesgo </a:t>
            </a:r>
          </a:p>
          <a:p>
            <a:endParaRPr lang="es-CO" sz="1200" dirty="0"/>
          </a:p>
          <a:p>
            <a:r>
              <a:rPr lang="es-CO" sz="1200" dirty="0"/>
              <a:t>Conformación COPASST</a:t>
            </a:r>
          </a:p>
          <a:p>
            <a:endParaRPr lang="es-CO" sz="1200" dirty="0"/>
          </a:p>
          <a:p>
            <a:r>
              <a:rPr lang="es-CO" sz="1200" dirty="0"/>
              <a:t>Conformación COCOLA</a:t>
            </a:r>
          </a:p>
          <a:p>
            <a:endParaRPr lang="es-CO" sz="1200" dirty="0"/>
          </a:p>
          <a:p>
            <a:r>
              <a:rPr lang="es-CO" sz="1200" dirty="0"/>
              <a:t>Programa de capacitación promoción y prevención PYP</a:t>
            </a:r>
          </a:p>
          <a:p>
            <a:endParaRPr lang="es-CO" sz="1200" dirty="0"/>
          </a:p>
          <a:p>
            <a:r>
              <a:rPr lang="es-CO" sz="1200" dirty="0"/>
              <a:t>Capacitación-Inducción y Reinducción</a:t>
            </a:r>
          </a:p>
          <a:p>
            <a:endParaRPr lang="es-CO" sz="1200" dirty="0"/>
          </a:p>
          <a:p>
            <a:r>
              <a:rPr lang="es-CO" sz="1200" dirty="0"/>
              <a:t>Curso de 50 horas</a:t>
            </a:r>
          </a:p>
          <a:p>
            <a:endParaRPr lang="es-CO" sz="1200" dirty="0"/>
          </a:p>
          <a:p>
            <a:r>
              <a:rPr lang="es-CO" sz="1200" dirty="0"/>
              <a:t>Informes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6166684" y="252679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438456" y="29856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6220578" y="342437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220578" y="37956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181873" y="41975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C667629-3B64-4769-9029-C2C8B284F1E6}"/>
              </a:ext>
            </a:extLst>
          </p:cNvPr>
          <p:cNvSpPr/>
          <p:nvPr/>
        </p:nvSpPr>
        <p:spPr>
          <a:xfrm>
            <a:off x="6260469" y="475076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033009" y="52763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6573642" y="213196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FEC2E71D-19E6-4551-8540-479F983FE612}"/>
              </a:ext>
            </a:extLst>
          </p:cNvPr>
          <p:cNvSpPr/>
          <p:nvPr/>
        </p:nvSpPr>
        <p:spPr>
          <a:xfrm>
            <a:off x="5908431" y="56679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1F363A-F1B9-4A0A-A60F-9F3C2B5C827B}"/>
              </a:ext>
            </a:extLst>
          </p:cNvPr>
          <p:cNvSpPr txBox="1"/>
          <p:nvPr/>
        </p:nvSpPr>
        <p:spPr>
          <a:xfrm>
            <a:off x="6911076" y="5948453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Informes</a:t>
            </a:r>
            <a:endParaRPr lang="es-CO" sz="1200" dirty="0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49FA56AD-4081-45FE-9EB6-D43B81B97188}"/>
              </a:ext>
            </a:extLst>
          </p:cNvPr>
          <p:cNvSpPr/>
          <p:nvPr/>
        </p:nvSpPr>
        <p:spPr>
          <a:xfrm>
            <a:off x="5313409" y="60187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0511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3675888" y="3191221"/>
            <a:ext cx="7875751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Andresito: en esta pantalla la idea es que me arroje informes de cada </a:t>
            </a:r>
            <a:r>
              <a:rPr lang="es-MX" dirty="0" err="1">
                <a:solidFill>
                  <a:srgbClr val="FF0000"/>
                </a:solidFill>
              </a:rPr>
              <a:t>item</a:t>
            </a:r>
            <a:r>
              <a:rPr lang="es-MX" dirty="0">
                <a:solidFill>
                  <a:srgbClr val="FF0000"/>
                </a:solidFill>
              </a:rPr>
              <a:t> del ciclo PLANEAR (Los resaltados en azul)</a:t>
            </a: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MX" dirty="0">
              <a:solidFill>
                <a:srgbClr val="FF0000"/>
              </a:solidFill>
            </a:endParaRPr>
          </a:p>
          <a:p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Informes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03033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3980167" y="27534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 Exportar Archivo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5415310" y="2652816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8035345" y="272266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75E851-FC3C-4AFB-8ADD-34B52F6F9E9C}"/>
              </a:ext>
            </a:extLst>
          </p:cNvPr>
          <p:cNvSpPr txBox="1"/>
          <p:nvPr/>
        </p:nvSpPr>
        <p:spPr>
          <a:xfrm>
            <a:off x="1284964" y="3196184"/>
            <a:ext cx="2317772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000" dirty="0">
                <a:solidFill>
                  <a:srgbClr val="00B0F0"/>
                </a:solidFill>
              </a:rPr>
              <a:t>Responsable del SG-SST  </a:t>
            </a:r>
          </a:p>
          <a:p>
            <a:endParaRPr lang="es-MX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Responsabilidades en el SG-SST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Asignación de recursos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Afiliación al Sistema de Riesgos Laborales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Trabajadores en alto riesgo 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Conformación COPASST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Conformación COCOLA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Programa de capacitación promoción y prevención PYP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Capacitación-Inducción y Reinducción</a:t>
            </a:r>
          </a:p>
          <a:p>
            <a:endParaRPr lang="es-CO" sz="1000" dirty="0">
              <a:solidFill>
                <a:srgbClr val="00B0F0"/>
              </a:solidFill>
            </a:endParaRPr>
          </a:p>
          <a:p>
            <a:r>
              <a:rPr lang="es-CO" sz="1000" dirty="0">
                <a:solidFill>
                  <a:srgbClr val="00B0F0"/>
                </a:solidFill>
              </a:rPr>
              <a:t>Curso de 50 horas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10D2060-5DB3-4FA2-9EB8-ECEA8ED721DA}"/>
              </a:ext>
            </a:extLst>
          </p:cNvPr>
          <p:cNvCxnSpPr>
            <a:cxnSpLocks/>
          </p:cNvCxnSpPr>
          <p:nvPr/>
        </p:nvCxnSpPr>
        <p:spPr>
          <a:xfrm flipH="1">
            <a:off x="2898649" y="3803904"/>
            <a:ext cx="3483863" cy="8961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37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2485252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082272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Políticas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Política: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75B430B-D5DC-45B9-8D44-3DFC06F63019}"/>
              </a:ext>
            </a:extLst>
          </p:cNvPr>
          <p:cNvSpPr txBox="1"/>
          <p:nvPr/>
        </p:nvSpPr>
        <p:spPr>
          <a:xfrm>
            <a:off x="2810143" y="2753443"/>
            <a:ext cx="167038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Seguridad y salud en el Trabajo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92A6445-510B-46F6-A38B-46AA9A88E894}"/>
              </a:ext>
            </a:extLst>
          </p:cNvPr>
          <p:cNvSpPr txBox="1"/>
          <p:nvPr/>
        </p:nvSpPr>
        <p:spPr>
          <a:xfrm>
            <a:off x="4480530" y="3115070"/>
            <a:ext cx="7071108" cy="280076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/>
              <a:t>POLÍTICA DE SEGURIDAD Y SALUD EN EL </a:t>
            </a:r>
          </a:p>
          <a:p>
            <a:pPr algn="ctr"/>
            <a:r>
              <a:rPr lang="es-MX" sz="800" b="1" dirty="0"/>
              <a:t>TRABAJO</a:t>
            </a:r>
          </a:p>
          <a:p>
            <a:endParaRPr lang="es-MX" sz="800" dirty="0"/>
          </a:p>
          <a:p>
            <a:endParaRPr lang="es-MX" sz="800" dirty="0"/>
          </a:p>
          <a:p>
            <a:r>
              <a:rPr lang="es-MX" sz="800" dirty="0"/>
              <a:t>La Empresa MUNDO BAGS se dedica a la comercialización de bolsos maletas y accesorios, considera que la prevención de accidentes y enfermedades laborales es un aspecto fundamental de las actividades laborales, por lo cual se elaboró la matriz de identificación de peligros, evaluación valoración de riesgos y se establecieron las medidas de intervención para cada uno de los peligros identificados en cada uno de los lugares de trabajo.</a:t>
            </a:r>
          </a:p>
          <a:p>
            <a:endParaRPr lang="es-MX" sz="800" dirty="0"/>
          </a:p>
          <a:p>
            <a:r>
              <a:rPr lang="es-MX" sz="800" dirty="0"/>
              <a:t>Por lo cual estamos comprometidos en propiciar el mejoramiento continuo de las condiciones de trabajo, salud y seguridad de todos los niveles de nuestra organización. Mediante el desarrollo del sistema de seguridad y salud en el trabajo</a:t>
            </a:r>
          </a:p>
          <a:p>
            <a:endParaRPr lang="es-MX" sz="800" dirty="0"/>
          </a:p>
          <a:p>
            <a:r>
              <a:rPr lang="es-MX" sz="800" dirty="0"/>
              <a:t>Hay un firme Compromiso para cumplir con la Legislación Colombiana en seguridad y salud en el trabajo establecida por el Ministerio de Trabajo y de otra índole que haya suscrito la empresa MUNDO BAGS. </a:t>
            </a:r>
          </a:p>
          <a:p>
            <a:endParaRPr lang="es-MX" sz="800" dirty="0"/>
          </a:p>
          <a:p>
            <a:r>
              <a:rPr lang="es-MX" sz="800" dirty="0"/>
              <a:t>Para llevar a cabo la gestión de la Seguridad y Salud en el Trabajo MUNDO BAGS dispondrá de todos los recursos humanos, tecnológicos y financieros necesarios que permitan la ejecución de diseño, ejecución y mantenimiento del SG-SST.</a:t>
            </a:r>
          </a:p>
          <a:p>
            <a:endParaRPr lang="es-MX" sz="800" dirty="0"/>
          </a:p>
          <a:p>
            <a:r>
              <a:rPr lang="es-MX" sz="800" dirty="0"/>
              <a:t>___________________________________	</a:t>
            </a:r>
          </a:p>
          <a:p>
            <a:r>
              <a:rPr lang="es-MX" sz="800" dirty="0"/>
              <a:t>XXXXXXXXXXXXXXXXXXXXXXXXXXXXXXXXX</a:t>
            </a:r>
          </a:p>
          <a:p>
            <a:r>
              <a:rPr lang="es-MX" sz="800" dirty="0"/>
              <a:t>Representante Legal</a:t>
            </a:r>
          </a:p>
          <a:p>
            <a:endParaRPr lang="es-MX" sz="800" dirty="0"/>
          </a:p>
          <a:p>
            <a:r>
              <a:rPr lang="es-MX" sz="800" dirty="0"/>
              <a:t>Fecha de firma: 01-08-2017	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CE779AB-A711-4744-841A-3D786C5C666A}"/>
              </a:ext>
            </a:extLst>
          </p:cNvPr>
          <p:cNvSpPr txBox="1"/>
          <p:nvPr/>
        </p:nvSpPr>
        <p:spPr>
          <a:xfrm>
            <a:off x="2899945" y="316666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B79CF4-F61C-4321-B3CE-ACE5112D9C25}"/>
              </a:ext>
            </a:extLst>
          </p:cNvPr>
          <p:cNvSpPr txBox="1"/>
          <p:nvPr/>
        </p:nvSpPr>
        <p:spPr>
          <a:xfrm>
            <a:off x="4825333" y="275865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Versión: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1A02563-4BC4-405C-B806-9AF0DC62D378}"/>
              </a:ext>
            </a:extLst>
          </p:cNvPr>
          <p:cNvSpPr txBox="1"/>
          <p:nvPr/>
        </p:nvSpPr>
        <p:spPr>
          <a:xfrm>
            <a:off x="6350513" y="2750532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V1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E9E4F91C-9F74-476B-B8EB-54C3180628EE}"/>
              </a:ext>
            </a:extLst>
          </p:cNvPr>
          <p:cNvSpPr txBox="1"/>
          <p:nvPr/>
        </p:nvSpPr>
        <p:spPr>
          <a:xfrm>
            <a:off x="9097073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61B6863-95DA-4DE4-82CD-3D85E4323394}"/>
              </a:ext>
            </a:extLst>
          </p:cNvPr>
          <p:cNvSpPr txBox="1"/>
          <p:nvPr/>
        </p:nvSpPr>
        <p:spPr>
          <a:xfrm>
            <a:off x="1319360" y="358185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Adjuntar</a:t>
            </a:r>
            <a:r>
              <a:rPr lang="es-CO" sz="800" dirty="0">
                <a:solidFill>
                  <a:srgbClr val="00B0F0"/>
                </a:solidFill>
              </a:rPr>
              <a:t> </a:t>
            </a:r>
            <a:r>
              <a:rPr lang="es-CO" sz="800" dirty="0">
                <a:solidFill>
                  <a:srgbClr val="000000"/>
                </a:solidFill>
              </a:rPr>
              <a:t>Firma: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84100BC-544B-4915-ADB1-39E5200A90DB}"/>
              </a:ext>
            </a:extLst>
          </p:cNvPr>
          <p:cNvSpPr txBox="1"/>
          <p:nvPr/>
        </p:nvSpPr>
        <p:spPr>
          <a:xfrm>
            <a:off x="2757497" y="3578655"/>
            <a:ext cx="167038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Adjuntar Archivo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B897350-616F-42FA-981A-1BD647E2F927}"/>
              </a:ext>
            </a:extLst>
          </p:cNvPr>
          <p:cNvSpPr txBox="1"/>
          <p:nvPr/>
        </p:nvSpPr>
        <p:spPr>
          <a:xfrm>
            <a:off x="1319359" y="5733968"/>
            <a:ext cx="124304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de firma: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34F365E-8B42-4D23-9B55-A2BDF3FF1568}"/>
              </a:ext>
            </a:extLst>
          </p:cNvPr>
          <p:cNvSpPr txBox="1"/>
          <p:nvPr/>
        </p:nvSpPr>
        <p:spPr>
          <a:xfrm>
            <a:off x="2615050" y="5730772"/>
            <a:ext cx="167038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0</a:t>
            </a:r>
            <a:r>
              <a:rPr lang="es-CO" sz="800" dirty="0"/>
              <a:t>1-08-2017</a:t>
            </a:r>
          </a:p>
        </p:txBody>
      </p:sp>
    </p:spTree>
    <p:extLst>
      <p:ext uri="{BB962C8B-B14F-4D97-AF65-F5344CB8AC3E}">
        <p14:creationId xmlns:p14="http://schemas.microsoft.com/office/powerpoint/2010/main" val="2924681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Políticas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84298" y="460084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8AE61D-AD63-4B04-9BD0-010AC3BF8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239" y="2974277"/>
            <a:ext cx="1872161" cy="247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63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 Generales 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6096000" y="293212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2747861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Objetivos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3927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400750" y="2136773"/>
            <a:ext cx="1164731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Objetivos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2737194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4723987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671078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8764295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755B06A-C84A-4880-B834-1D0BA5C8927B}"/>
              </a:ext>
            </a:extLst>
          </p:cNvPr>
          <p:cNvSpPr txBox="1"/>
          <p:nvPr/>
        </p:nvSpPr>
        <p:spPr>
          <a:xfrm>
            <a:off x="400750" y="2631467"/>
            <a:ext cx="688311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Fecha:</a:t>
            </a:r>
            <a:endParaRPr lang="es-CO" sz="900" dirty="0"/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6E947211-1857-4F82-AF97-7258B2A02CB9}"/>
              </a:ext>
            </a:extLst>
          </p:cNvPr>
          <p:cNvSpPr txBox="1"/>
          <p:nvPr/>
        </p:nvSpPr>
        <p:spPr>
          <a:xfrm>
            <a:off x="10442836" y="6232423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r>
              <a:rPr lang="es-CO" sz="1200" dirty="0">
                <a:solidFill>
                  <a:srgbClr val="000000"/>
                </a:solidFill>
              </a:rPr>
              <a:t> 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2" name="CuadroTexto 211">
            <a:extLst>
              <a:ext uri="{FF2B5EF4-FFF2-40B4-BE49-F238E27FC236}">
                <a16:creationId xmlns:a16="http://schemas.microsoft.com/office/drawing/2014/main" id="{B697817B-A2FA-4E90-9C24-3E3216D19CCD}"/>
              </a:ext>
            </a:extLst>
          </p:cNvPr>
          <p:cNvSpPr txBox="1"/>
          <p:nvPr/>
        </p:nvSpPr>
        <p:spPr>
          <a:xfrm>
            <a:off x="1217521" y="2646855"/>
            <a:ext cx="111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BDD94CC3-DD28-4219-BD76-4B52EE11C024}"/>
              </a:ext>
            </a:extLst>
          </p:cNvPr>
          <p:cNvSpPr txBox="1"/>
          <p:nvPr/>
        </p:nvSpPr>
        <p:spPr>
          <a:xfrm>
            <a:off x="400750" y="2973173"/>
            <a:ext cx="11647315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900" dirty="0"/>
              <a:t>OBJETIVOS GENERALES 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078FE964-83BD-4A74-884E-87E47A2CB2D9}"/>
              </a:ext>
            </a:extLst>
          </p:cNvPr>
          <p:cNvSpPr txBox="1"/>
          <p:nvPr/>
        </p:nvSpPr>
        <p:spPr>
          <a:xfrm>
            <a:off x="400750" y="3341081"/>
            <a:ext cx="11647315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1. Identificar los peligros, evaluar y valorar los riesgos y establecer los respectivos controles.</a:t>
            </a:r>
          </a:p>
          <a:p>
            <a:r>
              <a:rPr lang="es-MX" sz="800" dirty="0"/>
              <a:t>2. Proteger la seguridad y salud de todos los trabajadores, mediante la mejora continua del Sistema de Gestión de la Seguridad y Salud en el Trabajo SGSST</a:t>
            </a:r>
          </a:p>
          <a:p>
            <a:r>
              <a:rPr lang="es-MX" sz="800" dirty="0"/>
              <a:t>3. Cumplir la normatividad nacional vigente aplicable en materia de riesgos laborales“</a:t>
            </a:r>
          </a:p>
          <a:p>
            <a:endParaRPr lang="es-MX" sz="800" dirty="0"/>
          </a:p>
          <a:p>
            <a:r>
              <a:rPr lang="es-MX" sz="800" dirty="0"/>
              <a:t>Actuando bajo los principios del mejoramiento continuo, evaluación y control de los riesgos, apoyado en personal competente y en el Vigía de Seguridad y Salud en el Trabajo, se definen los Objetivos del SG-SST alineados al compromiso de la Política en SST</a:t>
            </a: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12AC4745-5289-480C-B63C-D281556CCE70}"/>
              </a:ext>
            </a:extLst>
          </p:cNvPr>
          <p:cNvSpPr txBox="1"/>
          <p:nvPr/>
        </p:nvSpPr>
        <p:spPr>
          <a:xfrm>
            <a:off x="400750" y="4138868"/>
            <a:ext cx="816771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#</a:t>
            </a:r>
            <a:endParaRPr lang="es-CO" sz="900" dirty="0"/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66BD19EC-1637-46C1-B20A-500983F05884}"/>
              </a:ext>
            </a:extLst>
          </p:cNvPr>
          <p:cNvSpPr txBox="1"/>
          <p:nvPr/>
        </p:nvSpPr>
        <p:spPr>
          <a:xfrm>
            <a:off x="1319361" y="4138867"/>
            <a:ext cx="3889638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Objetivos</a:t>
            </a:r>
            <a:endParaRPr lang="es-CO" sz="900" dirty="0"/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0BBF37A6-FC09-4753-88CF-58D4F050EFEC}"/>
              </a:ext>
            </a:extLst>
          </p:cNvPr>
          <p:cNvSpPr txBox="1"/>
          <p:nvPr/>
        </p:nvSpPr>
        <p:spPr>
          <a:xfrm>
            <a:off x="5292946" y="4138867"/>
            <a:ext cx="3261360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Algunas sugerencias</a:t>
            </a:r>
            <a:endParaRPr lang="es-CO" sz="900" dirty="0"/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D249EC73-3B26-4ECE-BFDE-1217354A65A7}"/>
              </a:ext>
            </a:extLst>
          </p:cNvPr>
          <p:cNvSpPr txBox="1"/>
          <p:nvPr/>
        </p:nvSpPr>
        <p:spPr>
          <a:xfrm>
            <a:off x="8646671" y="4128812"/>
            <a:ext cx="3261360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Metas</a:t>
            </a:r>
            <a:endParaRPr lang="es-CO" sz="900" dirty="0"/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065AFCA8-85CF-47A3-9CBC-D53AD2F6E7FF}"/>
              </a:ext>
            </a:extLst>
          </p:cNvPr>
          <p:cNvSpPr txBox="1"/>
          <p:nvPr/>
        </p:nvSpPr>
        <p:spPr>
          <a:xfrm>
            <a:off x="400750" y="4413954"/>
            <a:ext cx="8167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</a:t>
            </a:r>
            <a:endParaRPr lang="es-CO" sz="800" dirty="0"/>
          </a:p>
        </p:txBody>
      </p:sp>
      <p:sp>
        <p:nvSpPr>
          <p:cNvPr id="221" name="CuadroTexto 220">
            <a:extLst>
              <a:ext uri="{FF2B5EF4-FFF2-40B4-BE49-F238E27FC236}">
                <a16:creationId xmlns:a16="http://schemas.microsoft.com/office/drawing/2014/main" id="{FEE2168B-BBA6-44A1-B836-85FC0FA23D70}"/>
              </a:ext>
            </a:extLst>
          </p:cNvPr>
          <p:cNvSpPr txBox="1"/>
          <p:nvPr/>
        </p:nvSpPr>
        <p:spPr>
          <a:xfrm>
            <a:off x="5292946" y="4413954"/>
            <a:ext cx="3261360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* Mantener actualizada la matriz de requisitos legales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 dirty="0"/>
              <a:t>Realizar las auditorías internas dando cumplimiento al Pan de trabajo.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800" dirty="0"/>
              <a:t>Monitorear planes de mejora de los procesos que hacen parte del Sistema de Gestión de SST</a:t>
            </a:r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CC24F0F8-14B9-45D8-A768-BDA540437388}"/>
              </a:ext>
            </a:extLst>
          </p:cNvPr>
          <p:cNvSpPr txBox="1"/>
          <p:nvPr/>
        </p:nvSpPr>
        <p:spPr>
          <a:xfrm>
            <a:off x="8646671" y="4413954"/>
            <a:ext cx="3261360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Cumplimiento por medio de indicadores de estructura, proceso y resultado del Sistema de Gestión de Seguridad y Salud en el trabajo.</a:t>
            </a:r>
          </a:p>
          <a:p>
            <a:r>
              <a:rPr lang="es-MX" sz="800"/>
              <a:t>Allí donde se relacionan la meta de cada objetivo</a:t>
            </a:r>
            <a:endParaRPr lang="es-CO" sz="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472384A3-AC86-4F25-BAFF-8A69E0BC0341}"/>
              </a:ext>
            </a:extLst>
          </p:cNvPr>
          <p:cNvSpPr txBox="1"/>
          <p:nvPr/>
        </p:nvSpPr>
        <p:spPr>
          <a:xfrm>
            <a:off x="1319359" y="4425485"/>
            <a:ext cx="3881221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Intervenir la vulnerabilidad jurídica de la empresa, cumpliendo con la normatividad vigente aplicable a la organización en materia de riesgos laborales.</a:t>
            </a:r>
            <a:endParaRPr lang="es-CO" sz="800" dirty="0"/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8C14ECD3-BE0A-4C75-9AA1-6A91B4BB114F}"/>
              </a:ext>
            </a:extLst>
          </p:cNvPr>
          <p:cNvSpPr txBox="1"/>
          <p:nvPr/>
        </p:nvSpPr>
        <p:spPr>
          <a:xfrm>
            <a:off x="401366" y="5140557"/>
            <a:ext cx="816771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Aprueba:</a:t>
            </a:r>
            <a:endParaRPr lang="es-CO" sz="900" dirty="0"/>
          </a:p>
        </p:txBody>
      </p: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AF5FFA8F-09E9-4EAE-8CF7-C42D2F5F8996}"/>
              </a:ext>
            </a:extLst>
          </p:cNvPr>
          <p:cNvSpPr txBox="1"/>
          <p:nvPr/>
        </p:nvSpPr>
        <p:spPr>
          <a:xfrm>
            <a:off x="1321243" y="5140557"/>
            <a:ext cx="111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Representante Legal</a:t>
            </a:r>
            <a:endParaRPr lang="es-CO" sz="800" dirty="0"/>
          </a:p>
        </p:txBody>
      </p:sp>
      <p:sp>
        <p:nvSpPr>
          <p:cNvPr id="230" name="CuadroTexto 229">
            <a:extLst>
              <a:ext uri="{FF2B5EF4-FFF2-40B4-BE49-F238E27FC236}">
                <a16:creationId xmlns:a16="http://schemas.microsoft.com/office/drawing/2014/main" id="{0CC1BF1E-5A4D-4E8C-8C5E-182EE57EAC12}"/>
              </a:ext>
            </a:extLst>
          </p:cNvPr>
          <p:cNvSpPr txBox="1"/>
          <p:nvPr/>
        </p:nvSpPr>
        <p:spPr>
          <a:xfrm>
            <a:off x="400750" y="5501687"/>
            <a:ext cx="816771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Nombre:</a:t>
            </a:r>
            <a:endParaRPr lang="es-CO" sz="900" dirty="0"/>
          </a:p>
        </p:txBody>
      </p:sp>
      <p:sp>
        <p:nvSpPr>
          <p:cNvPr id="231" name="CuadroTexto 230">
            <a:extLst>
              <a:ext uri="{FF2B5EF4-FFF2-40B4-BE49-F238E27FC236}">
                <a16:creationId xmlns:a16="http://schemas.microsoft.com/office/drawing/2014/main" id="{8289FE5F-829D-445B-9F48-F81EF1795A8B}"/>
              </a:ext>
            </a:extLst>
          </p:cNvPr>
          <p:cNvSpPr txBox="1"/>
          <p:nvPr/>
        </p:nvSpPr>
        <p:spPr>
          <a:xfrm>
            <a:off x="1320627" y="5501687"/>
            <a:ext cx="111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6FFCD3E0-9515-43FB-B604-2B5FE7706E85}"/>
              </a:ext>
            </a:extLst>
          </p:cNvPr>
          <p:cNvSpPr txBox="1"/>
          <p:nvPr/>
        </p:nvSpPr>
        <p:spPr>
          <a:xfrm>
            <a:off x="400750" y="5833997"/>
            <a:ext cx="816771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Firma:</a:t>
            </a:r>
            <a:endParaRPr lang="es-CO" sz="900" dirty="0"/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B9ED3438-B981-418A-91CD-B33AF7C4F1EF}"/>
              </a:ext>
            </a:extLst>
          </p:cNvPr>
          <p:cNvSpPr txBox="1"/>
          <p:nvPr/>
        </p:nvSpPr>
        <p:spPr>
          <a:xfrm>
            <a:off x="1320627" y="5833997"/>
            <a:ext cx="111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4285974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Objetivos - indicadores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Indicador: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Estructura </a:t>
            </a:r>
          </a:p>
          <a:p>
            <a:r>
              <a:rPr lang="es-MX" sz="800" dirty="0"/>
              <a:t>Proceso </a:t>
            </a:r>
          </a:p>
          <a:p>
            <a:r>
              <a:rPr lang="es-MX" sz="800" dirty="0"/>
              <a:t>Resultado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768070" y="426999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9305A5-A05F-4A90-B83C-4551477A5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178" y="3483624"/>
            <a:ext cx="5972913" cy="13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44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3139392"/>
            <a:ext cx="124023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Evaluación Inicial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1118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inicial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058015AB-17A8-40A5-B02A-DC0ED5487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518646"/>
              </p:ext>
            </p:extLst>
          </p:nvPr>
        </p:nvGraphicFramePr>
        <p:xfrm>
          <a:off x="604299" y="2450126"/>
          <a:ext cx="11228631" cy="3664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3" name="Worksheet" r:id="rId5" imgW="13677964" imgH="7496075" progId="Excel.Sheet.12">
                  <p:embed/>
                </p:oleObj>
              </mc:Choice>
              <mc:Fallback>
                <p:oleObj name="Worksheet" r:id="rId5" imgW="13677964" imgH="74960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4299" y="2450126"/>
                        <a:ext cx="11228631" cy="3664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FD53DD3D-CA42-4B14-9523-F93FC205C7A1}"/>
              </a:ext>
            </a:extLst>
          </p:cNvPr>
          <p:cNvSpPr txBox="1"/>
          <p:nvPr/>
        </p:nvSpPr>
        <p:spPr>
          <a:xfrm>
            <a:off x="9148454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138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inicial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Estándar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Recursos</a:t>
            </a:r>
          </a:p>
          <a:p>
            <a:r>
              <a:rPr lang="es-MX" sz="800" dirty="0"/>
              <a:t>Gestión integral </a:t>
            </a:r>
          </a:p>
          <a:p>
            <a:r>
              <a:rPr lang="es-MX" sz="800" dirty="0"/>
              <a:t>Gestión de salud </a:t>
            </a:r>
          </a:p>
          <a:p>
            <a:endParaRPr lang="es-MX" sz="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41CFCE-E867-44A4-BF95-FC8ED5687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48" y="3090759"/>
            <a:ext cx="3380216" cy="232132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C666436-0A1F-41D4-B03E-0B81EA4DC0E6}"/>
              </a:ext>
            </a:extLst>
          </p:cNvPr>
          <p:cNvSpPr txBox="1"/>
          <p:nvPr/>
        </p:nvSpPr>
        <p:spPr>
          <a:xfrm>
            <a:off x="2768070" y="426999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3719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3544725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PAT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7426327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Plan anual de trabajo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3795432" y="618703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5782225" y="618703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7769018" y="618703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9822533" y="6187036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8E441D4-44B1-4C8D-B429-9FEC4E106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899139"/>
              </p:ext>
            </p:extLst>
          </p:nvPr>
        </p:nvGraphicFramePr>
        <p:xfrm>
          <a:off x="352425" y="2682875"/>
          <a:ext cx="11785600" cy="231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6" name="Worksheet" r:id="rId5" imgW="12782390" imgH="11839646" progId="Excel.Sheet.8">
                  <p:embed/>
                </p:oleObj>
              </mc:Choice>
              <mc:Fallback>
                <p:oleObj name="Worksheet" r:id="rId5" imgW="12782390" imgH="11839646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425" y="2682875"/>
                        <a:ext cx="11785600" cy="231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7FB024E-27F1-4B2E-A0DC-F3A091FE3858}"/>
              </a:ext>
            </a:extLst>
          </p:cNvPr>
          <p:cNvSpPr txBox="1"/>
          <p:nvPr/>
        </p:nvSpPr>
        <p:spPr>
          <a:xfrm>
            <a:off x="1651998" y="619890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8503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Plan de trabajo anual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Actividad: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-Estándares mínimos</a:t>
            </a:r>
          </a:p>
          <a:p>
            <a:r>
              <a:rPr lang="es-MX" sz="800" dirty="0"/>
              <a:t>-Publicación y socialización de políticas</a:t>
            </a:r>
          </a:p>
          <a:p>
            <a:r>
              <a:rPr lang="es-MX" sz="800" dirty="0"/>
              <a:t>-Actualización de la matriz de peligros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4B8813-3D0D-4E60-853C-C6C2CB758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979" y="3142915"/>
            <a:ext cx="4700728" cy="2194711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66A93FF-A4EF-458D-BF85-A7A3995BC341}"/>
              </a:ext>
            </a:extLst>
          </p:cNvPr>
          <p:cNvSpPr txBox="1"/>
          <p:nvPr/>
        </p:nvSpPr>
        <p:spPr>
          <a:xfrm>
            <a:off x="2768070" y="426999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5629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523928" y="3955136"/>
            <a:ext cx="142468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Control de documentos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6357837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Control de documentos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4226947" y="632059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6213740" y="632059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8200533" y="632059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10254048" y="632059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6F3E457E-29BA-4620-8CBE-4BFE29FCF3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472119"/>
              </p:ext>
            </p:extLst>
          </p:nvPr>
        </p:nvGraphicFramePr>
        <p:xfrm>
          <a:off x="707666" y="2592125"/>
          <a:ext cx="10996654" cy="3464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0" name="Worksheet" r:id="rId5" imgW="12830031" imgH="6714954" progId="Excel.Sheet.12">
                  <p:embed/>
                </p:oleObj>
              </mc:Choice>
              <mc:Fallback>
                <p:oleObj name="Worksheet" r:id="rId5" imgW="12830031" imgH="671495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7666" y="2592125"/>
                        <a:ext cx="10996654" cy="3464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46DB1A09-229B-4FB7-8E17-68C8CAAA517F}"/>
              </a:ext>
            </a:extLst>
          </p:cNvPr>
          <p:cNvSpPr txBox="1"/>
          <p:nvPr/>
        </p:nvSpPr>
        <p:spPr>
          <a:xfrm>
            <a:off x="1698807" y="632059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4724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Control de Documentos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Tipo de 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Manual </a:t>
            </a:r>
          </a:p>
          <a:p>
            <a:r>
              <a:rPr lang="es-MX" sz="800" dirty="0"/>
              <a:t>Programas </a:t>
            </a:r>
          </a:p>
          <a:p>
            <a:r>
              <a:rPr lang="es-MX" sz="800" dirty="0"/>
              <a:t>Procedimientos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84FFA3C-C2E6-4972-8ADF-FA1786063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641" y="2977015"/>
            <a:ext cx="3806680" cy="256010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BF51AE1C-316B-470A-84A2-E9B04ADB4290}"/>
              </a:ext>
            </a:extLst>
          </p:cNvPr>
          <p:cNvSpPr txBox="1"/>
          <p:nvPr/>
        </p:nvSpPr>
        <p:spPr>
          <a:xfrm>
            <a:off x="2768070" y="426999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0083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4371533"/>
            <a:ext cx="101626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Rendición de cuentas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5320646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 Revisión por la alta gerencia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945292" y="2753443"/>
            <a:ext cx="6061498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s-CO" sz="800" dirty="0"/>
          </a:p>
          <a:p>
            <a:pPr algn="ctr"/>
            <a:r>
              <a:rPr lang="es-CO" sz="800" dirty="0"/>
              <a:t>INTERVENCIONES EJECUTADAS</a:t>
            </a:r>
          </a:p>
          <a:p>
            <a:pPr algn="ctr"/>
            <a:endParaRPr lang="es-CO" sz="800" dirty="0"/>
          </a:p>
          <a:p>
            <a:pPr algn="ctr"/>
            <a:endParaRPr lang="es-CO" sz="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AF66AA-6EB7-40EC-B14A-DEE2029BE2A1}"/>
              </a:ext>
            </a:extLst>
          </p:cNvPr>
          <p:cNvSpPr txBox="1"/>
          <p:nvPr/>
        </p:nvSpPr>
        <p:spPr>
          <a:xfrm>
            <a:off x="8867163" y="2999354"/>
            <a:ext cx="912942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  <a:p>
            <a:pPr algn="ctr"/>
            <a:r>
              <a:rPr lang="es-CO" sz="800" dirty="0"/>
              <a:t>NO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A9BEAD1-32D8-4C51-A8E8-01F14B4B2185}"/>
              </a:ext>
            </a:extLst>
          </p:cNvPr>
          <p:cNvSpPr txBox="1"/>
          <p:nvPr/>
        </p:nvSpPr>
        <p:spPr>
          <a:xfrm>
            <a:off x="8030633" y="2753443"/>
            <a:ext cx="174947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EFECTIVIDAD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8A98756-873B-48B2-A4F9-DAF5168EC99A}"/>
              </a:ext>
            </a:extLst>
          </p:cNvPr>
          <p:cNvSpPr txBox="1"/>
          <p:nvPr/>
        </p:nvSpPr>
        <p:spPr>
          <a:xfrm>
            <a:off x="8049986" y="2999354"/>
            <a:ext cx="769490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  <a:p>
            <a:pPr algn="ctr"/>
            <a:r>
              <a:rPr lang="es-CO" sz="800" dirty="0"/>
              <a:t>SI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AF6767-C81D-472C-9F8D-F88ACA0D4FDC}"/>
              </a:ext>
            </a:extLst>
          </p:cNvPr>
          <p:cNvSpPr txBox="1"/>
          <p:nvPr/>
        </p:nvSpPr>
        <p:spPr>
          <a:xfrm>
            <a:off x="1945292" y="3371970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3A4B81C-A8BA-4FD1-9F5D-6266FA6C050F}"/>
              </a:ext>
            </a:extLst>
          </p:cNvPr>
          <p:cNvSpPr txBox="1"/>
          <p:nvPr/>
        </p:nvSpPr>
        <p:spPr>
          <a:xfrm>
            <a:off x="8049986" y="3364832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F7C1BD5-6DEF-453D-8666-7F4D571BB1C2}"/>
              </a:ext>
            </a:extLst>
          </p:cNvPr>
          <p:cNvSpPr txBox="1"/>
          <p:nvPr/>
        </p:nvSpPr>
        <p:spPr>
          <a:xfrm>
            <a:off x="8869062" y="3364832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2E18163-0137-4AD1-8779-55D1AEE4DB92}"/>
              </a:ext>
            </a:extLst>
          </p:cNvPr>
          <p:cNvSpPr txBox="1"/>
          <p:nvPr/>
        </p:nvSpPr>
        <p:spPr>
          <a:xfrm>
            <a:off x="2294757" y="3371970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Políticas, Objetivos y Metas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A84732C-23B6-462B-AA5C-7F2BF0780ECC}"/>
              </a:ext>
            </a:extLst>
          </p:cNvPr>
          <p:cNvSpPr txBox="1"/>
          <p:nvPr/>
        </p:nvSpPr>
        <p:spPr>
          <a:xfrm>
            <a:off x="1945292" y="3683810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2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BC15AB7-93BB-448A-839B-95F2795CF56E}"/>
              </a:ext>
            </a:extLst>
          </p:cNvPr>
          <p:cNvSpPr txBox="1"/>
          <p:nvPr/>
        </p:nvSpPr>
        <p:spPr>
          <a:xfrm>
            <a:off x="8049986" y="3676672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AB8A4EF-B06D-46AD-B353-8D08028B8A51}"/>
              </a:ext>
            </a:extLst>
          </p:cNvPr>
          <p:cNvSpPr txBox="1"/>
          <p:nvPr/>
        </p:nvSpPr>
        <p:spPr>
          <a:xfrm>
            <a:off x="8869062" y="3676672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9F23D2C-84B2-4C5B-9F11-1598296B0F70}"/>
              </a:ext>
            </a:extLst>
          </p:cNvPr>
          <p:cNvSpPr txBox="1"/>
          <p:nvPr/>
        </p:nvSpPr>
        <p:spPr>
          <a:xfrm>
            <a:off x="2294757" y="3683810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Análisis estadístico de accidentalidad y enfermedad laboral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BD58F8E-DBA5-4783-B083-3F1701BFC97D}"/>
              </a:ext>
            </a:extLst>
          </p:cNvPr>
          <p:cNvSpPr txBox="1"/>
          <p:nvPr/>
        </p:nvSpPr>
        <p:spPr>
          <a:xfrm>
            <a:off x="1945292" y="3964851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3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FDE3AE3-B013-4DC9-BAA1-C2A5577A82A6}"/>
              </a:ext>
            </a:extLst>
          </p:cNvPr>
          <p:cNvSpPr txBox="1"/>
          <p:nvPr/>
        </p:nvSpPr>
        <p:spPr>
          <a:xfrm>
            <a:off x="8049986" y="3957713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FCA2C4C-45E9-40EC-8CB6-98EA7AD8A5E6}"/>
              </a:ext>
            </a:extLst>
          </p:cNvPr>
          <p:cNvSpPr txBox="1"/>
          <p:nvPr/>
        </p:nvSpPr>
        <p:spPr>
          <a:xfrm>
            <a:off x="8869062" y="3957713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C9AAE18-54C0-4884-A0CF-36DD0B1AF6DA}"/>
              </a:ext>
            </a:extLst>
          </p:cNvPr>
          <p:cNvSpPr txBox="1"/>
          <p:nvPr/>
        </p:nvSpPr>
        <p:spPr>
          <a:xfrm>
            <a:off x="2294757" y="3964851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Resultado de participación y consulta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2441D94-BF41-443E-A06C-B0F191E8350C}"/>
              </a:ext>
            </a:extLst>
          </p:cNvPr>
          <p:cNvSpPr txBox="1"/>
          <p:nvPr/>
        </p:nvSpPr>
        <p:spPr>
          <a:xfrm>
            <a:off x="1945292" y="4251861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4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2A27AB9-A826-4A5A-99DA-8A9F333E1CDB}"/>
              </a:ext>
            </a:extLst>
          </p:cNvPr>
          <p:cNvSpPr txBox="1"/>
          <p:nvPr/>
        </p:nvSpPr>
        <p:spPr>
          <a:xfrm>
            <a:off x="8049986" y="4244723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A077647-9B57-4D8A-B765-54AFF5D2D6A5}"/>
              </a:ext>
            </a:extLst>
          </p:cNvPr>
          <p:cNvSpPr txBox="1"/>
          <p:nvPr/>
        </p:nvSpPr>
        <p:spPr>
          <a:xfrm>
            <a:off x="8869062" y="4244723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FF20E8D-F42E-4079-B01F-2DA7F1258296}"/>
              </a:ext>
            </a:extLst>
          </p:cNvPr>
          <p:cNvSpPr txBox="1"/>
          <p:nvPr/>
        </p:nvSpPr>
        <p:spPr>
          <a:xfrm>
            <a:off x="2294757" y="4251861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Estado de acciones correctivas y de mejora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189A847-3B64-49CE-AAD8-46F94BDE276B}"/>
              </a:ext>
            </a:extLst>
          </p:cNvPr>
          <p:cNvSpPr txBox="1"/>
          <p:nvPr/>
        </p:nvSpPr>
        <p:spPr>
          <a:xfrm>
            <a:off x="1945292" y="4535835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5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07CBCAF-3EBF-4A43-A792-378C4E47EDD9}"/>
              </a:ext>
            </a:extLst>
          </p:cNvPr>
          <p:cNvSpPr txBox="1"/>
          <p:nvPr/>
        </p:nvSpPr>
        <p:spPr>
          <a:xfrm>
            <a:off x="8049986" y="4528697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8E7FD8E-B0B3-48A4-8115-D26966722C69}"/>
              </a:ext>
            </a:extLst>
          </p:cNvPr>
          <p:cNvSpPr txBox="1"/>
          <p:nvPr/>
        </p:nvSpPr>
        <p:spPr>
          <a:xfrm>
            <a:off x="8869062" y="4528697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6D8882A8-7A62-42C4-A237-2C9397B30191}"/>
              </a:ext>
            </a:extLst>
          </p:cNvPr>
          <p:cNvSpPr txBox="1"/>
          <p:nvPr/>
        </p:nvSpPr>
        <p:spPr>
          <a:xfrm>
            <a:off x="2294757" y="4535835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Acciones de seguimiento de las revisiones previas de la gerencia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719BFF-C296-4AF1-AD23-4DAD69AFB63D}"/>
              </a:ext>
            </a:extLst>
          </p:cNvPr>
          <p:cNvSpPr txBox="1"/>
          <p:nvPr/>
        </p:nvSpPr>
        <p:spPr>
          <a:xfrm>
            <a:off x="1945292" y="4816876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6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54983AA-A2D8-4939-B47B-B7AF37857C4C}"/>
              </a:ext>
            </a:extLst>
          </p:cNvPr>
          <p:cNvSpPr txBox="1"/>
          <p:nvPr/>
        </p:nvSpPr>
        <p:spPr>
          <a:xfrm>
            <a:off x="8049986" y="4809738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148AA86-9777-4B4C-99BA-EB8C08C579D2}"/>
              </a:ext>
            </a:extLst>
          </p:cNvPr>
          <p:cNvSpPr txBox="1"/>
          <p:nvPr/>
        </p:nvSpPr>
        <p:spPr>
          <a:xfrm>
            <a:off x="8869062" y="4809738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8C1BA94-B1CA-474F-9E3D-953E14A55C8F}"/>
              </a:ext>
            </a:extLst>
          </p:cNvPr>
          <p:cNvSpPr txBox="1"/>
          <p:nvPr/>
        </p:nvSpPr>
        <p:spPr>
          <a:xfrm>
            <a:off x="2294757" y="4816876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Cambios que podrían afectar el SG-SST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CDEAD46-416B-42F8-814F-FC2641AC7E44}"/>
              </a:ext>
            </a:extLst>
          </p:cNvPr>
          <p:cNvSpPr txBox="1"/>
          <p:nvPr/>
        </p:nvSpPr>
        <p:spPr>
          <a:xfrm>
            <a:off x="1945292" y="5103886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7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CF9739C-D9E4-4F0B-B975-B56A0ABEA484}"/>
              </a:ext>
            </a:extLst>
          </p:cNvPr>
          <p:cNvSpPr txBox="1"/>
          <p:nvPr/>
        </p:nvSpPr>
        <p:spPr>
          <a:xfrm>
            <a:off x="8049986" y="5096748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199D9A3-A41F-44E0-8AAB-65C02D92A6FC}"/>
              </a:ext>
            </a:extLst>
          </p:cNvPr>
          <p:cNvSpPr txBox="1"/>
          <p:nvPr/>
        </p:nvSpPr>
        <p:spPr>
          <a:xfrm>
            <a:off x="8869062" y="5096748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13F1CA1-3A39-4487-AAAC-9AB1668167A6}"/>
              </a:ext>
            </a:extLst>
          </p:cNvPr>
          <p:cNvSpPr txBox="1"/>
          <p:nvPr/>
        </p:nvSpPr>
        <p:spPr>
          <a:xfrm>
            <a:off x="2294757" y="5103886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Desempeño de los Programas de gestión de Seguridad y Salud en el Trabajo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7F19CEA-CE6C-45C8-B256-F9F5428319C9}"/>
              </a:ext>
            </a:extLst>
          </p:cNvPr>
          <p:cNvSpPr txBox="1"/>
          <p:nvPr/>
        </p:nvSpPr>
        <p:spPr>
          <a:xfrm>
            <a:off x="1951681" y="5392622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8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E6F5F9D3-AC70-467E-9E65-2149EE157F62}"/>
              </a:ext>
            </a:extLst>
          </p:cNvPr>
          <p:cNvSpPr txBox="1"/>
          <p:nvPr/>
        </p:nvSpPr>
        <p:spPr>
          <a:xfrm>
            <a:off x="8056375" y="5385484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D8F9405-3287-4550-B514-11C2F7CD9481}"/>
              </a:ext>
            </a:extLst>
          </p:cNvPr>
          <p:cNvSpPr txBox="1"/>
          <p:nvPr/>
        </p:nvSpPr>
        <p:spPr>
          <a:xfrm>
            <a:off x="8875451" y="5385484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287DF60A-FCE3-47B4-8F0A-44AD980577B6}"/>
              </a:ext>
            </a:extLst>
          </p:cNvPr>
          <p:cNvSpPr txBox="1"/>
          <p:nvPr/>
        </p:nvSpPr>
        <p:spPr>
          <a:xfrm>
            <a:off x="2301146" y="5392622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Evolución y cumplimiento legal del SG-SST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5ECF84A-575F-4B06-91C7-612637356C06}"/>
              </a:ext>
            </a:extLst>
          </p:cNvPr>
          <p:cNvSpPr txBox="1"/>
          <p:nvPr/>
        </p:nvSpPr>
        <p:spPr>
          <a:xfrm>
            <a:off x="1951681" y="5679632"/>
            <a:ext cx="30492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9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D983D05-189B-4138-AAF7-2E097DE0A4FB}"/>
              </a:ext>
            </a:extLst>
          </p:cNvPr>
          <p:cNvSpPr txBox="1"/>
          <p:nvPr/>
        </p:nvSpPr>
        <p:spPr>
          <a:xfrm>
            <a:off x="8056375" y="5672494"/>
            <a:ext cx="7694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X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BD6609B2-DA8B-435F-B7C2-F132DBEB55D6}"/>
              </a:ext>
            </a:extLst>
          </p:cNvPr>
          <p:cNvSpPr txBox="1"/>
          <p:nvPr/>
        </p:nvSpPr>
        <p:spPr>
          <a:xfrm>
            <a:off x="8875451" y="5672494"/>
            <a:ext cx="9110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A77FEC72-B915-433A-99C1-CA9CBE2CD21B}"/>
              </a:ext>
            </a:extLst>
          </p:cNvPr>
          <p:cNvSpPr txBox="1"/>
          <p:nvPr/>
        </p:nvSpPr>
        <p:spPr>
          <a:xfrm>
            <a:off x="2301146" y="5679632"/>
            <a:ext cx="5705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Necesidad de recursos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741B0E40-50A7-4984-8C39-148E6E9A9D77}"/>
              </a:ext>
            </a:extLst>
          </p:cNvPr>
          <p:cNvSpPr txBox="1"/>
          <p:nvPr/>
        </p:nvSpPr>
        <p:spPr>
          <a:xfrm>
            <a:off x="9153930" y="6249246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730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Revisión por la alta gerencia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92A6445-510B-46F6-A38B-46AA9A88E894}"/>
              </a:ext>
            </a:extLst>
          </p:cNvPr>
          <p:cNvSpPr txBox="1"/>
          <p:nvPr/>
        </p:nvSpPr>
        <p:spPr>
          <a:xfrm>
            <a:off x="4087368" y="2718974"/>
            <a:ext cx="7464271" cy="409342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r>
              <a:rPr lang="es-MX" sz="1600" dirty="0">
                <a:solidFill>
                  <a:srgbClr val="FF0000"/>
                </a:solidFill>
              </a:rPr>
              <a:t>Andresito </a:t>
            </a:r>
          </a:p>
          <a:p>
            <a:pPr algn="just"/>
            <a:r>
              <a:rPr lang="es-MX" sz="1600" dirty="0">
                <a:solidFill>
                  <a:srgbClr val="FF0000"/>
                </a:solidFill>
              </a:rPr>
              <a:t>En esta pantalla me podría traer un informe de la encuesta</a:t>
            </a:r>
          </a:p>
          <a:p>
            <a:pPr algn="just"/>
            <a:endParaRPr lang="es-MX" sz="1600" dirty="0">
              <a:solidFill>
                <a:srgbClr val="FF0000"/>
              </a:solidFill>
            </a:endParaRPr>
          </a:p>
          <a:p>
            <a:pPr algn="just"/>
            <a:endParaRPr lang="es-MX" sz="1600" dirty="0">
              <a:solidFill>
                <a:srgbClr val="FF0000"/>
              </a:solidFill>
            </a:endParaRPr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800" dirty="0"/>
          </a:p>
          <a:p>
            <a:pPr algn="just"/>
            <a:endParaRPr lang="es-MX" sz="4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CE779AB-A711-4744-841A-3D786C5C666A}"/>
              </a:ext>
            </a:extLst>
          </p:cNvPr>
          <p:cNvSpPr txBox="1"/>
          <p:nvPr/>
        </p:nvSpPr>
        <p:spPr>
          <a:xfrm>
            <a:off x="1284964" y="313363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Exportar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2362402" y="388098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AF66AA-6EB7-40EC-B14A-DEE2029BE2A1}"/>
              </a:ext>
            </a:extLst>
          </p:cNvPr>
          <p:cNvSpPr txBox="1"/>
          <p:nvPr/>
        </p:nvSpPr>
        <p:spPr>
          <a:xfrm>
            <a:off x="2751946" y="2756354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7C1F5BF-CA28-4116-84F8-4F89FEF18B21}"/>
              </a:ext>
            </a:extLst>
          </p:cNvPr>
          <p:cNvSpPr txBox="1"/>
          <p:nvPr/>
        </p:nvSpPr>
        <p:spPr>
          <a:xfrm>
            <a:off x="2763034" y="3148153"/>
            <a:ext cx="995948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</a:t>
            </a:r>
            <a:r>
              <a:rPr lang="es-CO" sz="800" dirty="0"/>
              <a:t>DF</a:t>
            </a:r>
          </a:p>
          <a:p>
            <a:r>
              <a:rPr lang="es-CO" sz="800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4018789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Acta de revisión por la alta gerencia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Acta: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92A6445-510B-46F6-A38B-46AA9A88E894}"/>
              </a:ext>
            </a:extLst>
          </p:cNvPr>
          <p:cNvSpPr txBox="1"/>
          <p:nvPr/>
        </p:nvSpPr>
        <p:spPr>
          <a:xfrm>
            <a:off x="2930862" y="3117375"/>
            <a:ext cx="8251621" cy="313932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s-MX" sz="800" dirty="0"/>
          </a:p>
          <a:p>
            <a:pPr algn="just"/>
            <a:r>
              <a:rPr lang="es-MX" sz="800" dirty="0"/>
              <a:t>Mediante la cual se atenderá el siguiente:</a:t>
            </a:r>
          </a:p>
          <a:p>
            <a:pPr algn="just"/>
            <a:endParaRPr lang="es-MX" sz="800" dirty="0"/>
          </a:p>
          <a:p>
            <a:pPr algn="ctr"/>
            <a:r>
              <a:rPr lang="es-MX" sz="800" dirty="0"/>
              <a:t>ORDEN DEL DÍA</a:t>
            </a:r>
          </a:p>
          <a:p>
            <a:pPr algn="just"/>
            <a:endParaRPr lang="es-MX" sz="600" dirty="0"/>
          </a:p>
          <a:p>
            <a:pPr algn="just"/>
            <a:r>
              <a:rPr lang="es-MX" sz="400" dirty="0"/>
              <a:t>1. Constancia de asistencia del personal que integra la alta dirección del SG-SST de (Nombre de la</a:t>
            </a:r>
          </a:p>
          <a:p>
            <a:pPr algn="just"/>
            <a:r>
              <a:rPr lang="es-MX" sz="400" dirty="0"/>
              <a:t>empresa).</a:t>
            </a:r>
          </a:p>
          <a:p>
            <a:pPr algn="just"/>
            <a:r>
              <a:rPr lang="es-MX" sz="400" dirty="0"/>
              <a:t>2. Revisión de las estrategias implementadas y determinación de si han sido eficaces para alcanzar</a:t>
            </a:r>
          </a:p>
          <a:p>
            <a:pPr algn="just"/>
            <a:r>
              <a:rPr lang="es-MX" sz="400" dirty="0"/>
              <a:t>los objetivos, metas y resultados esperados del Sistema de Gestión de la Seguridad y Salud en el</a:t>
            </a:r>
          </a:p>
          <a:p>
            <a:pPr algn="just"/>
            <a:r>
              <a:rPr lang="es-MX" sz="400" dirty="0"/>
              <a:t>Trabajo.</a:t>
            </a:r>
          </a:p>
          <a:p>
            <a:pPr algn="just"/>
            <a:r>
              <a:rPr lang="es-MX" sz="400" dirty="0"/>
              <a:t>3. Revisión del cumplimiento del plan de trabajo anual en seguridad y salud en el trabajo y su</a:t>
            </a:r>
          </a:p>
          <a:p>
            <a:pPr algn="just"/>
            <a:r>
              <a:rPr lang="es-MX" sz="400" dirty="0"/>
              <a:t>cronograma.</a:t>
            </a:r>
          </a:p>
          <a:p>
            <a:pPr algn="just"/>
            <a:r>
              <a:rPr lang="es-MX" sz="400" dirty="0"/>
              <a:t>4. Análisis de la suficiencia de los recursos asignados para la implementación del Sistema de Gestión</a:t>
            </a:r>
          </a:p>
          <a:p>
            <a:pPr algn="just"/>
            <a:r>
              <a:rPr lang="es-MX" sz="400" dirty="0"/>
              <a:t>de la Seguridad y Salud en el Trabajo y el cumplimiento de los resultados esperados.</a:t>
            </a:r>
          </a:p>
          <a:p>
            <a:pPr algn="just"/>
            <a:r>
              <a:rPr lang="es-MX" sz="400" dirty="0"/>
              <a:t>5. Verificación de la capacidad del Sistema de Gestión de la Seguridad y Salud en el Trabajo, para la</a:t>
            </a:r>
          </a:p>
          <a:p>
            <a:pPr algn="just"/>
            <a:r>
              <a:rPr lang="es-MX" sz="400" dirty="0"/>
              <a:t>satisfacción de las necesidades globales de la empresa en materia de seguridad y salud en el</a:t>
            </a:r>
          </a:p>
          <a:p>
            <a:pPr algn="just"/>
            <a:r>
              <a:rPr lang="es-MX" sz="400" dirty="0"/>
              <a:t>trabajo.</a:t>
            </a:r>
          </a:p>
          <a:p>
            <a:pPr algn="just"/>
            <a:r>
              <a:rPr lang="es-MX" sz="400" dirty="0"/>
              <a:t>6. Análisis de la necesidad de realizar cambios en el Sistema de Gestión de la Seguridad y Salud en</a:t>
            </a:r>
          </a:p>
          <a:p>
            <a:pPr algn="just"/>
            <a:r>
              <a:rPr lang="es-MX" sz="400" dirty="0"/>
              <a:t>el Trabajo, incluida la revisión de la política y sus objetivos.</a:t>
            </a:r>
          </a:p>
          <a:p>
            <a:pPr algn="just"/>
            <a:r>
              <a:rPr lang="es-MX" sz="400" dirty="0"/>
              <a:t>7. Evaluación de la eficacia de las medidas de seguimiento con base en las revisiones anteriores de</a:t>
            </a:r>
          </a:p>
          <a:p>
            <a:pPr algn="just"/>
            <a:r>
              <a:rPr lang="es-MX" sz="400" dirty="0"/>
              <a:t>la alta dirección y realización de los ajustes necesarios.</a:t>
            </a:r>
          </a:p>
          <a:p>
            <a:pPr algn="just"/>
            <a:r>
              <a:rPr lang="es-MX" sz="400" dirty="0"/>
              <a:t>8. Análisis del resultado de los indicadores y de las auditorías anteriores del Sistema de Gestión de la</a:t>
            </a:r>
          </a:p>
          <a:p>
            <a:pPr algn="just"/>
            <a:r>
              <a:rPr lang="es-MX" sz="400" dirty="0"/>
              <a:t>Seguridad y Salud en el Trabajo.</a:t>
            </a:r>
          </a:p>
          <a:p>
            <a:pPr algn="just"/>
            <a:r>
              <a:rPr lang="es-MX" sz="400" dirty="0"/>
              <a:t>9. Aporte de información sobre nuevas prioridades y objetivos estratégicos de la organización que</a:t>
            </a:r>
          </a:p>
          <a:p>
            <a:pPr algn="just"/>
            <a:r>
              <a:rPr lang="es-MX" sz="400" dirty="0"/>
              <a:t>puedan ser insumos para la planificación y la mejora continua.</a:t>
            </a:r>
          </a:p>
          <a:p>
            <a:pPr algn="just"/>
            <a:r>
              <a:rPr lang="es-MX" sz="400" dirty="0"/>
              <a:t>10. Recolección de información para determinar si las medidas de prevención y control de peligros y</a:t>
            </a:r>
          </a:p>
          <a:p>
            <a:pPr algn="just"/>
            <a:r>
              <a:rPr lang="es-MX" sz="400" dirty="0"/>
              <a:t>riesgos se aplican y son eficaces.</a:t>
            </a:r>
          </a:p>
          <a:p>
            <a:pPr algn="just"/>
            <a:r>
              <a:rPr lang="es-MX" sz="400" dirty="0"/>
              <a:t>11. Divulgación de encuesta realizada a los trabajadores sobre los resultados y el desempeño en</a:t>
            </a:r>
          </a:p>
          <a:p>
            <a:pPr algn="just"/>
            <a:r>
              <a:rPr lang="es-MX" sz="400" dirty="0"/>
              <a:t>seguridad y salud en el trabajo del SG-SST.</a:t>
            </a:r>
          </a:p>
          <a:p>
            <a:pPr algn="just"/>
            <a:r>
              <a:rPr lang="es-MX" sz="400" dirty="0"/>
              <a:t>12. Toma de decisiones que tengan por objeto mejorar la identificación de peligros y el control de</a:t>
            </a:r>
          </a:p>
          <a:p>
            <a:pPr algn="just"/>
            <a:r>
              <a:rPr lang="es-MX" sz="400" dirty="0"/>
              <a:t>los riesgos y en general mejorar la gestión en seguridad y salud en el trabajo de la empresa.</a:t>
            </a:r>
          </a:p>
          <a:p>
            <a:pPr algn="just"/>
            <a:r>
              <a:rPr lang="es-MX" sz="400" dirty="0"/>
              <a:t>13. Determinación de la participación de los trabajadores.</a:t>
            </a:r>
          </a:p>
          <a:p>
            <a:pPr algn="just"/>
            <a:endParaRPr lang="es-MX" sz="400" dirty="0"/>
          </a:p>
          <a:p>
            <a:pPr algn="just"/>
            <a:endParaRPr lang="es-MX" sz="400" dirty="0"/>
          </a:p>
          <a:p>
            <a:pPr algn="ctr"/>
            <a:r>
              <a:rPr lang="es-MX" sz="400" dirty="0"/>
              <a:t>APROBACIÓN DEL ACTA.</a:t>
            </a:r>
          </a:p>
          <a:p>
            <a:pPr algn="just"/>
            <a:endParaRPr lang="es-MX" sz="400" dirty="0"/>
          </a:p>
          <a:p>
            <a:pPr algn="just"/>
            <a:r>
              <a:rPr lang="es-MX" sz="400" dirty="0"/>
              <a:t>La presente acta es aprobada por los asistentes a la reunión y en prueba de lo anterior, se firma por:</a:t>
            </a:r>
          </a:p>
          <a:p>
            <a:pPr algn="just"/>
            <a:endParaRPr lang="es-MX" sz="400" dirty="0"/>
          </a:p>
          <a:p>
            <a:pPr algn="just"/>
            <a:r>
              <a:rPr lang="es-MX" sz="400" dirty="0"/>
              <a:t>_____________________________________________________</a:t>
            </a:r>
          </a:p>
          <a:p>
            <a:pPr algn="just"/>
            <a:r>
              <a:rPr lang="es-MX" sz="400" dirty="0"/>
              <a:t>(Nombre completo e identificación).</a:t>
            </a:r>
          </a:p>
          <a:p>
            <a:pPr algn="just"/>
            <a:r>
              <a:rPr lang="es-MX" sz="400" dirty="0"/>
              <a:t>Representante Legal de (Nombre de la empresa y NIT):</a:t>
            </a:r>
          </a:p>
          <a:p>
            <a:pPr algn="just"/>
            <a:endParaRPr lang="es-MX" sz="400" dirty="0"/>
          </a:p>
          <a:p>
            <a:pPr algn="just"/>
            <a:r>
              <a:rPr lang="es-MX" sz="400" dirty="0"/>
              <a:t>_________________________________________________</a:t>
            </a:r>
          </a:p>
          <a:p>
            <a:pPr algn="just"/>
            <a:r>
              <a:rPr lang="es-MX" sz="400" dirty="0"/>
              <a:t>(Integrantes de la alta dirección, identificación y cargo)</a:t>
            </a:r>
          </a:p>
          <a:p>
            <a:pPr algn="just"/>
            <a:endParaRPr lang="es-MX" sz="4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CE779AB-A711-4744-841A-3D786C5C666A}"/>
              </a:ext>
            </a:extLst>
          </p:cNvPr>
          <p:cNvSpPr txBox="1"/>
          <p:nvPr/>
        </p:nvSpPr>
        <p:spPr>
          <a:xfrm>
            <a:off x="1284964" y="313363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47208" y="63520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34001" y="63520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320794" y="635206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74309" y="635206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B79CF4-F61C-4321-B3CE-ACE5112D9C25}"/>
              </a:ext>
            </a:extLst>
          </p:cNvPr>
          <p:cNvSpPr txBox="1"/>
          <p:nvPr/>
        </p:nvSpPr>
        <p:spPr>
          <a:xfrm>
            <a:off x="4825333" y="275865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Versión: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1A02563-4BC4-405C-B806-9AF0DC62D378}"/>
              </a:ext>
            </a:extLst>
          </p:cNvPr>
          <p:cNvSpPr txBox="1"/>
          <p:nvPr/>
        </p:nvSpPr>
        <p:spPr>
          <a:xfrm>
            <a:off x="6350513" y="2750532"/>
            <a:ext cx="9959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V1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5AF66AA-6EB7-40EC-B14A-DEE2029BE2A1}"/>
              </a:ext>
            </a:extLst>
          </p:cNvPr>
          <p:cNvSpPr txBox="1"/>
          <p:nvPr/>
        </p:nvSpPr>
        <p:spPr>
          <a:xfrm>
            <a:off x="3473738" y="2756354"/>
            <a:ext cx="2741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</a:t>
            </a:r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A9BEAD1-32D8-4C51-A8E8-01F14B4B2185}"/>
              </a:ext>
            </a:extLst>
          </p:cNvPr>
          <p:cNvSpPr txBox="1"/>
          <p:nvPr/>
        </p:nvSpPr>
        <p:spPr>
          <a:xfrm>
            <a:off x="2732700" y="2763038"/>
            <a:ext cx="60135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9694E3C-60CA-4189-B614-399567BB0FDB}"/>
              </a:ext>
            </a:extLst>
          </p:cNvPr>
          <p:cNvSpPr txBox="1"/>
          <p:nvPr/>
        </p:nvSpPr>
        <p:spPr>
          <a:xfrm>
            <a:off x="9271946" y="635206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6877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Acta de revisión por la alta gerencia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810143" y="437771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82DB20-76A2-405F-8832-925C3F6C3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301" y="2977014"/>
            <a:ext cx="3026079" cy="26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571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523928" y="4598352"/>
            <a:ext cx="101626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Matriz Legal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087325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Matriz Legal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D9557D00-7CBE-4FEE-8D68-32ED935D0C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990075"/>
              </p:ext>
            </p:extLst>
          </p:nvPr>
        </p:nvGraphicFramePr>
        <p:xfrm>
          <a:off x="470809" y="2635474"/>
          <a:ext cx="11580513" cy="310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6" name="Worksheet" r:id="rId5" imgW="33023287" imgH="11782453" progId="Excel.Sheet.12">
                  <p:embed/>
                </p:oleObj>
              </mc:Choice>
              <mc:Fallback>
                <p:oleObj name="Worksheet" r:id="rId5" imgW="33023287" imgH="1178245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809" y="2635474"/>
                        <a:ext cx="11580513" cy="3102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A32D66F1-3C1C-4C9A-BC29-720A6346705C}"/>
              </a:ext>
            </a:extLst>
          </p:cNvPr>
          <p:cNvSpPr txBox="1"/>
          <p:nvPr/>
        </p:nvSpPr>
        <p:spPr>
          <a:xfrm>
            <a:off x="9238343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0519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Matriz Legal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Tipo de norma: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Decreto </a:t>
            </a:r>
          </a:p>
          <a:p>
            <a:r>
              <a:rPr lang="es-MX" sz="800" dirty="0"/>
              <a:t>Resolución</a:t>
            </a:r>
          </a:p>
          <a:p>
            <a:r>
              <a:rPr lang="es-MX" sz="800" dirty="0"/>
              <a:t>Ley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28977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35F37A-0184-419C-A555-51BD67538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989" y="2977015"/>
            <a:ext cx="4933793" cy="22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3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5025381"/>
            <a:ext cx="130427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Comunicaciones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8636387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Mecanismo de comunicación </a:t>
            </a:r>
            <a:endParaRPr lang="es-CO" sz="11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3907454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5894247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788104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9934555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E2FA7EF-A19D-4008-BC79-307C45708B4A}"/>
              </a:ext>
            </a:extLst>
          </p:cNvPr>
          <p:cNvSpPr txBox="1"/>
          <p:nvPr/>
        </p:nvSpPr>
        <p:spPr>
          <a:xfrm>
            <a:off x="3404287" y="3135143"/>
            <a:ext cx="47146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En este ítem, los mecanismos de comunicación son la pagina web y los correos.</a:t>
            </a:r>
          </a:p>
          <a:p>
            <a:endParaRPr lang="es-MX" dirty="0">
              <a:solidFill>
                <a:srgbClr val="FF0000"/>
              </a:solidFill>
            </a:endParaRPr>
          </a:p>
          <a:p>
            <a:r>
              <a:rPr lang="es-MX" dirty="0">
                <a:solidFill>
                  <a:srgbClr val="FF0000"/>
                </a:solidFill>
              </a:rPr>
              <a:t>¿Como se podría integral estos mecanismos al software?  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E6651D8-23FA-4C4B-82F5-6304467CED2E}"/>
              </a:ext>
            </a:extLst>
          </p:cNvPr>
          <p:cNvSpPr txBox="1"/>
          <p:nvPr/>
        </p:nvSpPr>
        <p:spPr>
          <a:xfrm>
            <a:off x="1853939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0755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5372058"/>
            <a:ext cx="117581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Adquisiciones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83296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Adquisiciones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84513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Requisitos de compra: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84513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Dotación</a:t>
            </a:r>
          </a:p>
          <a:p>
            <a:r>
              <a:rPr lang="es-MX" sz="800" dirty="0"/>
              <a:t>EPP</a:t>
            </a:r>
          </a:p>
          <a:p>
            <a:r>
              <a:rPr lang="es-MX" sz="800" dirty="0"/>
              <a:t>Plan de emergencia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309498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Solicitud compra o alquiler: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3086860"/>
            <a:ext cx="189547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Departamento de compras </a:t>
            </a:r>
          </a:p>
          <a:p>
            <a:r>
              <a:rPr lang="es-MX" sz="800" dirty="0"/>
              <a:t>Alta dirección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DB85519-F098-4E28-A908-D91F8E1FC94C}"/>
              </a:ext>
            </a:extLst>
          </p:cNvPr>
          <p:cNvSpPr txBox="1"/>
          <p:nvPr/>
        </p:nvSpPr>
        <p:spPr>
          <a:xfrm>
            <a:off x="5192656" y="309498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FF56775-B43A-4C51-BCDC-87A4424301C0}"/>
              </a:ext>
            </a:extLst>
          </p:cNvPr>
          <p:cNvSpPr txBox="1"/>
          <p:nvPr/>
        </p:nvSpPr>
        <p:spPr>
          <a:xfrm>
            <a:off x="5136411" y="39528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Aceptación: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7531BCF-A421-45F3-A453-FEECA2825AF3}"/>
              </a:ext>
            </a:extLst>
          </p:cNvPr>
          <p:cNvSpPr txBox="1"/>
          <p:nvPr/>
        </p:nvSpPr>
        <p:spPr>
          <a:xfrm>
            <a:off x="6703335" y="308040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858A1E5-1E82-4632-BBCF-98B4EC48FC31}"/>
              </a:ext>
            </a:extLst>
          </p:cNvPr>
          <p:cNvSpPr txBox="1"/>
          <p:nvPr/>
        </p:nvSpPr>
        <p:spPr>
          <a:xfrm>
            <a:off x="6710396" y="3953255"/>
            <a:ext cx="698589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</a:p>
          <a:p>
            <a:r>
              <a:rPr lang="es-MX" sz="800" dirty="0"/>
              <a:t>NO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DAF6A7-6DDC-48DE-8B05-343306E37FBE}"/>
              </a:ext>
            </a:extLst>
          </p:cNvPr>
          <p:cNvSpPr txBox="1"/>
          <p:nvPr/>
        </p:nvSpPr>
        <p:spPr>
          <a:xfrm>
            <a:off x="8728091" y="306974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Revisión del riesgo: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58D191C-B137-405D-AF6F-5131C6137EB3}"/>
              </a:ext>
            </a:extLst>
          </p:cNvPr>
          <p:cNvSpPr txBox="1"/>
          <p:nvPr/>
        </p:nvSpPr>
        <p:spPr>
          <a:xfrm>
            <a:off x="10209402" y="3069740"/>
            <a:ext cx="134223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DBBB97C-B54A-4A40-A707-1BCD66DAF5FC}"/>
              </a:ext>
            </a:extLst>
          </p:cNvPr>
          <p:cNvSpPr txBox="1"/>
          <p:nvPr/>
        </p:nvSpPr>
        <p:spPr>
          <a:xfrm>
            <a:off x="7597478" y="3950409"/>
            <a:ext cx="1385492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/>
              <a:t>Procedimiento identificación del peligros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2FAB268-1788-416B-933D-5A0C952F89EA}"/>
              </a:ext>
            </a:extLst>
          </p:cNvPr>
          <p:cNvSpPr txBox="1"/>
          <p:nvPr/>
        </p:nvSpPr>
        <p:spPr>
          <a:xfrm>
            <a:off x="9165845" y="395285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9ED5401-A46B-4EED-8F8E-39B5BF919B19}"/>
              </a:ext>
            </a:extLst>
          </p:cNvPr>
          <p:cNvSpPr txBox="1"/>
          <p:nvPr/>
        </p:nvSpPr>
        <p:spPr>
          <a:xfrm>
            <a:off x="1237339" y="495695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Responsable: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2670456" y="495695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4DABF85E-8252-4850-B98D-FB17E728B69C}"/>
              </a:ext>
            </a:extLst>
          </p:cNvPr>
          <p:cNvSpPr txBox="1"/>
          <p:nvPr/>
        </p:nvSpPr>
        <p:spPr>
          <a:xfrm>
            <a:off x="9420837" y="625895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9514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Adquisiciones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24027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1101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 de proveedores y/o contratistas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6910846" y="58802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203431" y="640458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338486" y="5792044"/>
            <a:ext cx="117771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Contrataciones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336228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758952" y="2345650"/>
            <a:ext cx="10792687" cy="2605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Selección  de proveedor o  contratistas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988579" y="386941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Certificado ARL: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3498860" y="38694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966381" y="343426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contratante: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3491560" y="3426140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1459047" y="573623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3445840" y="573623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5432633" y="573623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7486148" y="573623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0B8797C-50F6-4388-A8B3-423BF20FA403}"/>
              </a:ext>
            </a:extLst>
          </p:cNvPr>
          <p:cNvSpPr txBox="1"/>
          <p:nvPr/>
        </p:nvSpPr>
        <p:spPr>
          <a:xfrm>
            <a:off x="5856975" y="38590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Copia Cedula 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6BFDFE4-9F04-41F0-9EDD-61963214F26F}"/>
              </a:ext>
            </a:extLst>
          </p:cNvPr>
          <p:cNvSpPr txBox="1"/>
          <p:nvPr/>
        </p:nvSpPr>
        <p:spPr>
          <a:xfrm>
            <a:off x="7367256" y="385901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EEE31F-DB75-4ACE-A5EB-D1F7DB6EAD42}"/>
              </a:ext>
            </a:extLst>
          </p:cNvPr>
          <p:cNvSpPr txBox="1"/>
          <p:nvPr/>
        </p:nvSpPr>
        <p:spPr>
          <a:xfrm>
            <a:off x="9471215" y="573623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DE91073-5A81-4531-A0AE-2896A2A30D39}"/>
              </a:ext>
            </a:extLst>
          </p:cNvPr>
          <p:cNvSpPr txBox="1"/>
          <p:nvPr/>
        </p:nvSpPr>
        <p:spPr>
          <a:xfrm>
            <a:off x="766301" y="283033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BDC7EC4-C994-492F-A12C-DCE1EC7E155E}"/>
              </a:ext>
            </a:extLst>
          </p:cNvPr>
          <p:cNvSpPr txBox="1"/>
          <p:nvPr/>
        </p:nvSpPr>
        <p:spPr>
          <a:xfrm>
            <a:off x="2291480" y="282220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CB12678-8BB3-4510-8337-C5047E4A6E7A}"/>
              </a:ext>
            </a:extLst>
          </p:cNvPr>
          <p:cNvSpPr txBox="1"/>
          <p:nvPr/>
        </p:nvSpPr>
        <p:spPr>
          <a:xfrm>
            <a:off x="5859367" y="342614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 de 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9B95B22-B1AB-4505-A6E5-2481B14DC13A}"/>
              </a:ext>
            </a:extLst>
          </p:cNvPr>
          <p:cNvSpPr txBox="1"/>
          <p:nvPr/>
        </p:nvSpPr>
        <p:spPr>
          <a:xfrm>
            <a:off x="7384546" y="341801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B14120-73C3-4935-9456-97E6D08A4624}"/>
              </a:ext>
            </a:extLst>
          </p:cNvPr>
          <p:cNvSpPr txBox="1"/>
          <p:nvPr/>
        </p:nvSpPr>
        <p:spPr>
          <a:xfrm>
            <a:off x="1966381" y="423272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RUT: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663323C-3787-430D-9106-7EAEC7FD71AA}"/>
              </a:ext>
            </a:extLst>
          </p:cNvPr>
          <p:cNvSpPr txBox="1"/>
          <p:nvPr/>
        </p:nvSpPr>
        <p:spPr>
          <a:xfrm>
            <a:off x="3476662" y="423272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7965BA9F-5392-44FD-ACE6-01AE98491C06}"/>
              </a:ext>
            </a:extLst>
          </p:cNvPr>
          <p:cNvSpPr txBox="1"/>
          <p:nvPr/>
        </p:nvSpPr>
        <p:spPr>
          <a:xfrm>
            <a:off x="5834777" y="422232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Certificado de alturas: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A7DF778-D726-475B-AAAB-54D442198FA4}"/>
              </a:ext>
            </a:extLst>
          </p:cNvPr>
          <p:cNvSpPr txBox="1"/>
          <p:nvPr/>
        </p:nvSpPr>
        <p:spPr>
          <a:xfrm>
            <a:off x="7345058" y="422232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033BFCA-4705-42BB-8104-3908FAE7B989}"/>
              </a:ext>
            </a:extLst>
          </p:cNvPr>
          <p:cNvSpPr txBox="1"/>
          <p:nvPr/>
        </p:nvSpPr>
        <p:spPr>
          <a:xfrm>
            <a:off x="1988579" y="46425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Cámara de Comercio: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F89CC19-C382-4311-83A4-D602C107D936}"/>
              </a:ext>
            </a:extLst>
          </p:cNvPr>
          <p:cNvSpPr txBox="1"/>
          <p:nvPr/>
        </p:nvSpPr>
        <p:spPr>
          <a:xfrm>
            <a:off x="3498860" y="464255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126A413-93EF-477B-81D1-449DB6E90A37}"/>
              </a:ext>
            </a:extLst>
          </p:cNvPr>
          <p:cNvSpPr txBox="1"/>
          <p:nvPr/>
        </p:nvSpPr>
        <p:spPr>
          <a:xfrm>
            <a:off x="5856975" y="463215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Certificación de permisos: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E4183EA-277B-4036-B962-2C4DAEAB74C1}"/>
              </a:ext>
            </a:extLst>
          </p:cNvPr>
          <p:cNvSpPr txBox="1"/>
          <p:nvPr/>
        </p:nvSpPr>
        <p:spPr>
          <a:xfrm>
            <a:off x="7367256" y="463215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</p:spTree>
    <p:extLst>
      <p:ext uri="{BB962C8B-B14F-4D97-AF65-F5344CB8AC3E}">
        <p14:creationId xmlns:p14="http://schemas.microsoft.com/office/powerpoint/2010/main" val="250264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60" y="2169561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de proveedores y contratistas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74876" y="2509361"/>
            <a:ext cx="223961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Distribución porcentual </a:t>
            </a:r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DB85519-F098-4E28-A908-D91F8E1FC94C}"/>
              </a:ext>
            </a:extLst>
          </p:cNvPr>
          <p:cNvSpPr txBox="1"/>
          <p:nvPr/>
        </p:nvSpPr>
        <p:spPr>
          <a:xfrm>
            <a:off x="3573952" y="250687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Puntos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DAF6A7-6DDC-48DE-8B05-343306E37FBE}"/>
              </a:ext>
            </a:extLst>
          </p:cNvPr>
          <p:cNvSpPr txBox="1"/>
          <p:nvPr/>
        </p:nvSpPr>
        <p:spPr>
          <a:xfrm>
            <a:off x="4991300" y="250687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% de cada punto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1274876" y="2754558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Precio</a:t>
            </a:r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E63BEB1-3938-4FC9-9A77-4B59731CAD0A}"/>
              </a:ext>
            </a:extLst>
          </p:cNvPr>
          <p:cNvSpPr txBox="1"/>
          <p:nvPr/>
        </p:nvSpPr>
        <p:spPr>
          <a:xfrm>
            <a:off x="3573952" y="2754558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100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6B66A92-DBAE-42DB-8198-675A45EC6EB2}"/>
              </a:ext>
            </a:extLst>
          </p:cNvPr>
          <p:cNvSpPr txBox="1"/>
          <p:nvPr/>
        </p:nvSpPr>
        <p:spPr>
          <a:xfrm>
            <a:off x="4991300" y="2738349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20%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17ECD5A-378F-4198-9711-6ADD1517CDCC}"/>
              </a:ext>
            </a:extLst>
          </p:cNvPr>
          <p:cNvSpPr txBox="1"/>
          <p:nvPr/>
        </p:nvSpPr>
        <p:spPr>
          <a:xfrm>
            <a:off x="1274876" y="3008845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Tiempo de respuesta de cotización </a:t>
            </a:r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E219C8B6-63A1-49B5-8A9D-50C42462BA33}"/>
              </a:ext>
            </a:extLst>
          </p:cNvPr>
          <p:cNvSpPr txBox="1"/>
          <p:nvPr/>
        </p:nvSpPr>
        <p:spPr>
          <a:xfrm>
            <a:off x="3573952" y="3008845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25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5B74CAB-EAC0-4304-9C15-EF091C0213A4}"/>
              </a:ext>
            </a:extLst>
          </p:cNvPr>
          <p:cNvSpPr txBox="1"/>
          <p:nvPr/>
        </p:nvSpPr>
        <p:spPr>
          <a:xfrm>
            <a:off x="4991300" y="2992636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5% </a:t>
            </a:r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24584B6-05EE-44DB-BFBC-862675211403}"/>
              </a:ext>
            </a:extLst>
          </p:cNvPr>
          <p:cNvSpPr txBox="1"/>
          <p:nvPr/>
        </p:nvSpPr>
        <p:spPr>
          <a:xfrm>
            <a:off x="1274876" y="3282294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Tiempo de retraso en la entrega </a:t>
            </a:r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ED3AE5A-1B27-4523-B85F-1FC702E116F6}"/>
              </a:ext>
            </a:extLst>
          </p:cNvPr>
          <p:cNvSpPr txBox="1"/>
          <p:nvPr/>
        </p:nvSpPr>
        <p:spPr>
          <a:xfrm>
            <a:off x="3573952" y="3282294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125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2FCC629-E1F7-4EB6-A59F-A39AD14D0102}"/>
              </a:ext>
            </a:extLst>
          </p:cNvPr>
          <p:cNvSpPr txBox="1"/>
          <p:nvPr/>
        </p:nvSpPr>
        <p:spPr>
          <a:xfrm>
            <a:off x="4991300" y="3266085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25%</a:t>
            </a:r>
            <a:endParaRPr lang="es-MX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0669C33-4C65-475A-9CB6-F1279A5B84C4}"/>
              </a:ext>
            </a:extLst>
          </p:cNvPr>
          <p:cNvSpPr txBox="1"/>
          <p:nvPr/>
        </p:nvSpPr>
        <p:spPr>
          <a:xfrm>
            <a:off x="1274876" y="3559274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Entrega </a:t>
            </a:r>
            <a:endParaRPr lang="es-MX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AF4B42D1-43DD-4AD1-8977-7E6B342781F6}"/>
              </a:ext>
            </a:extLst>
          </p:cNvPr>
          <p:cNvSpPr txBox="1"/>
          <p:nvPr/>
        </p:nvSpPr>
        <p:spPr>
          <a:xfrm>
            <a:off x="3573952" y="3559274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50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7751152-7051-4661-B145-7FFBAA8C95C2}"/>
              </a:ext>
            </a:extLst>
          </p:cNvPr>
          <p:cNvSpPr txBox="1"/>
          <p:nvPr/>
        </p:nvSpPr>
        <p:spPr>
          <a:xfrm>
            <a:off x="4991300" y="3543065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10% </a:t>
            </a:r>
            <a:endParaRPr lang="es-MX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D5623F0-6574-4EB9-98D9-131340F7C21F}"/>
              </a:ext>
            </a:extLst>
          </p:cNvPr>
          <p:cNvSpPr txBox="1"/>
          <p:nvPr/>
        </p:nvSpPr>
        <p:spPr>
          <a:xfrm>
            <a:off x="1274876" y="3814853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Forma de pago </a:t>
            </a:r>
            <a:endParaRPr lang="es-MX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9327EE7-A469-4307-B8D7-FC44DBBC14DC}"/>
              </a:ext>
            </a:extLst>
          </p:cNvPr>
          <p:cNvSpPr txBox="1"/>
          <p:nvPr/>
        </p:nvSpPr>
        <p:spPr>
          <a:xfrm>
            <a:off x="3573952" y="3814853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15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4AC22A2-7AB7-4527-98AE-E36EDA715093}"/>
              </a:ext>
            </a:extLst>
          </p:cNvPr>
          <p:cNvSpPr txBox="1"/>
          <p:nvPr/>
        </p:nvSpPr>
        <p:spPr>
          <a:xfrm>
            <a:off x="4991300" y="3798644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3% </a:t>
            </a:r>
            <a:endParaRPr lang="es-MX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A12E0C3-1657-4C51-A399-84760B24A5D0}"/>
              </a:ext>
            </a:extLst>
          </p:cNvPr>
          <p:cNvSpPr txBox="1"/>
          <p:nvPr/>
        </p:nvSpPr>
        <p:spPr>
          <a:xfrm>
            <a:off x="1274876" y="4080695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Trayectoria (Experiencia) </a:t>
            </a:r>
            <a:endParaRPr lang="es-MX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CBFA49D-EDE5-4740-BE63-AAEBE05C92A8}"/>
              </a:ext>
            </a:extLst>
          </p:cNvPr>
          <p:cNvSpPr txBox="1"/>
          <p:nvPr/>
        </p:nvSpPr>
        <p:spPr>
          <a:xfrm>
            <a:off x="3573952" y="4080695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985A17B-8529-4999-9206-8784A9D145DA}"/>
              </a:ext>
            </a:extLst>
          </p:cNvPr>
          <p:cNvSpPr txBox="1"/>
          <p:nvPr/>
        </p:nvSpPr>
        <p:spPr>
          <a:xfrm>
            <a:off x="4991300" y="4064486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2%</a:t>
            </a:r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87EC31D-7188-49CC-ABB6-15CC95B0BB15}"/>
              </a:ext>
            </a:extLst>
          </p:cNvPr>
          <p:cNvSpPr txBox="1"/>
          <p:nvPr/>
        </p:nvSpPr>
        <p:spPr>
          <a:xfrm>
            <a:off x="1274876" y="4344042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Garantía </a:t>
            </a:r>
            <a:endParaRPr lang="es-MX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6F1A84-E973-45FE-B111-A7D584DD8C06}"/>
              </a:ext>
            </a:extLst>
          </p:cNvPr>
          <p:cNvSpPr txBox="1"/>
          <p:nvPr/>
        </p:nvSpPr>
        <p:spPr>
          <a:xfrm>
            <a:off x="3573952" y="4344042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50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F267738-FA1C-4620-B00D-6783BBE46EFD}"/>
              </a:ext>
            </a:extLst>
          </p:cNvPr>
          <p:cNvSpPr txBox="1"/>
          <p:nvPr/>
        </p:nvSpPr>
        <p:spPr>
          <a:xfrm>
            <a:off x="4991300" y="4327833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10% </a:t>
            </a:r>
            <a:endParaRPr lang="es-MX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635E29F-EC0D-4B4D-B048-6391826384CD}"/>
              </a:ext>
            </a:extLst>
          </p:cNvPr>
          <p:cNvSpPr txBox="1"/>
          <p:nvPr/>
        </p:nvSpPr>
        <p:spPr>
          <a:xfrm>
            <a:off x="1274876" y="4624869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Sistema de gestión SSOMA 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2567B33-A522-4C54-8B3A-4D7E71562B46}"/>
              </a:ext>
            </a:extLst>
          </p:cNvPr>
          <p:cNvSpPr txBox="1"/>
          <p:nvPr/>
        </p:nvSpPr>
        <p:spPr>
          <a:xfrm>
            <a:off x="3573952" y="4624869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25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43A2192-872D-4C83-A591-C9F5CE86B82F}"/>
              </a:ext>
            </a:extLst>
          </p:cNvPr>
          <p:cNvSpPr txBox="1"/>
          <p:nvPr/>
        </p:nvSpPr>
        <p:spPr>
          <a:xfrm>
            <a:off x="4991300" y="4608660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5% </a:t>
            </a:r>
            <a:endParaRPr lang="es-MX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3D4DFB5-21BC-498F-BC86-CFEA9D065F47}"/>
              </a:ext>
            </a:extLst>
          </p:cNvPr>
          <p:cNvSpPr txBox="1"/>
          <p:nvPr/>
        </p:nvSpPr>
        <p:spPr>
          <a:xfrm>
            <a:off x="1271060" y="4913255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Aspecto legal </a:t>
            </a:r>
            <a:endParaRPr lang="es-MX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C4C33B9-6BB7-4B08-A1A3-31043D5C6294}"/>
              </a:ext>
            </a:extLst>
          </p:cNvPr>
          <p:cNvSpPr txBox="1"/>
          <p:nvPr/>
        </p:nvSpPr>
        <p:spPr>
          <a:xfrm>
            <a:off x="3542531" y="4913255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25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C127E902-6FC6-4FA3-96D0-9654183C984B}"/>
              </a:ext>
            </a:extLst>
          </p:cNvPr>
          <p:cNvSpPr txBox="1"/>
          <p:nvPr/>
        </p:nvSpPr>
        <p:spPr>
          <a:xfrm>
            <a:off x="4959879" y="4897046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5% </a:t>
            </a:r>
            <a:endParaRPr lang="es-MX" sz="8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B73E7E65-1A2C-4F92-ACE6-78A836AF3540}"/>
              </a:ext>
            </a:extLst>
          </p:cNvPr>
          <p:cNvSpPr txBox="1"/>
          <p:nvPr/>
        </p:nvSpPr>
        <p:spPr>
          <a:xfrm>
            <a:off x="1277851" y="5159691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Aspecto ambiental </a:t>
            </a:r>
            <a:endParaRPr lang="es-MX" sz="8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02BEDE4-7556-412F-9546-439DE819E366}"/>
              </a:ext>
            </a:extLst>
          </p:cNvPr>
          <p:cNvSpPr txBox="1"/>
          <p:nvPr/>
        </p:nvSpPr>
        <p:spPr>
          <a:xfrm>
            <a:off x="3542531" y="5181991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25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8893C9F9-729F-4B79-894E-C5F1608A5D31}"/>
              </a:ext>
            </a:extLst>
          </p:cNvPr>
          <p:cNvSpPr txBox="1"/>
          <p:nvPr/>
        </p:nvSpPr>
        <p:spPr>
          <a:xfrm>
            <a:off x="4959879" y="5165782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5% </a:t>
            </a:r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A2D41FC-5F1D-4686-87E4-1B8297029ADB}"/>
              </a:ext>
            </a:extLst>
          </p:cNvPr>
          <p:cNvSpPr txBox="1"/>
          <p:nvPr/>
        </p:nvSpPr>
        <p:spPr>
          <a:xfrm>
            <a:off x="1271060" y="5429059"/>
            <a:ext cx="22396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Atención del proveedor </a:t>
            </a:r>
            <a:endParaRPr lang="es-MX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CA41E00B-8E59-4864-B18C-091286545930}"/>
              </a:ext>
            </a:extLst>
          </p:cNvPr>
          <p:cNvSpPr txBox="1"/>
          <p:nvPr/>
        </p:nvSpPr>
        <p:spPr>
          <a:xfrm>
            <a:off x="3535740" y="5451359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50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7C95EF0F-4A83-440A-A845-1AC9555AFE17}"/>
              </a:ext>
            </a:extLst>
          </p:cNvPr>
          <p:cNvSpPr txBox="1"/>
          <p:nvPr/>
        </p:nvSpPr>
        <p:spPr>
          <a:xfrm>
            <a:off x="4953088" y="5435150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10% </a:t>
            </a:r>
            <a:endParaRPr lang="es-MX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BBAD40A1-A5EF-4B09-972F-532AD39C5740}"/>
              </a:ext>
            </a:extLst>
          </p:cNvPr>
          <p:cNvSpPr txBox="1"/>
          <p:nvPr/>
        </p:nvSpPr>
        <p:spPr>
          <a:xfrm>
            <a:off x="3517466" y="5712806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/>
              <a:t>500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8B2D2677-186B-4B45-81DC-7550A532F22A}"/>
              </a:ext>
            </a:extLst>
          </p:cNvPr>
          <p:cNvSpPr txBox="1"/>
          <p:nvPr/>
        </p:nvSpPr>
        <p:spPr>
          <a:xfrm>
            <a:off x="4934814" y="5696597"/>
            <a:ext cx="138549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b="1"/>
              <a:t>100%</a:t>
            </a:r>
            <a:endParaRPr lang="es-MX" sz="800" b="1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19F8468-8C77-4B50-9AF3-3DDEE82F14E3}"/>
              </a:ext>
            </a:extLst>
          </p:cNvPr>
          <p:cNvSpPr txBox="1"/>
          <p:nvPr/>
        </p:nvSpPr>
        <p:spPr>
          <a:xfrm>
            <a:off x="6601047" y="2706235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Precio</a:t>
            </a:r>
            <a:endParaRPr lang="es-CO" sz="80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EC9B3B85-A8D9-4CA2-8C1B-A2EE025A690E}"/>
              </a:ext>
            </a:extLst>
          </p:cNvPr>
          <p:cNvSpPr txBox="1"/>
          <p:nvPr/>
        </p:nvSpPr>
        <p:spPr>
          <a:xfrm>
            <a:off x="6601047" y="2948993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Igual al promedio del mercado 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7EB6E22-BDDF-4687-9FBA-C10FFEC7EBC2}"/>
              </a:ext>
            </a:extLst>
          </p:cNvPr>
          <p:cNvSpPr txBox="1"/>
          <p:nvPr/>
        </p:nvSpPr>
        <p:spPr>
          <a:xfrm>
            <a:off x="10824308" y="2948993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DD1EF31-BE3C-4B0E-B4E1-5EE945978729}"/>
              </a:ext>
            </a:extLst>
          </p:cNvPr>
          <p:cNvSpPr txBox="1"/>
          <p:nvPr/>
        </p:nvSpPr>
        <p:spPr>
          <a:xfrm>
            <a:off x="6586123" y="2459328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Factores y puntos</a:t>
            </a:r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1123BA0-C6A8-4C6D-849D-11E94BFDAD4C}"/>
              </a:ext>
            </a:extLst>
          </p:cNvPr>
          <p:cNvSpPr txBox="1"/>
          <p:nvPr/>
        </p:nvSpPr>
        <p:spPr>
          <a:xfrm>
            <a:off x="6601047" y="3194162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Mayor que el promedio del mercado </a:t>
            </a:r>
            <a:endParaRPr lang="es-MX" sz="800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02B78EF-D296-4AE5-A909-2226FB8803D7}"/>
              </a:ext>
            </a:extLst>
          </p:cNvPr>
          <p:cNvSpPr txBox="1"/>
          <p:nvPr/>
        </p:nvSpPr>
        <p:spPr>
          <a:xfrm>
            <a:off x="10824308" y="3194162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D1E28F01-CFDC-4E90-A0FA-A1426FC63D13}"/>
              </a:ext>
            </a:extLst>
          </p:cNvPr>
          <p:cNvSpPr txBox="1"/>
          <p:nvPr/>
        </p:nvSpPr>
        <p:spPr>
          <a:xfrm>
            <a:off x="6601047" y="345750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Menor que el promedio del mercado </a:t>
            </a:r>
            <a:endParaRPr lang="es-MX" sz="800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024CBC4-5730-4F95-A1C9-431974BEA5B3}"/>
              </a:ext>
            </a:extLst>
          </p:cNvPr>
          <p:cNvSpPr txBox="1"/>
          <p:nvPr/>
        </p:nvSpPr>
        <p:spPr>
          <a:xfrm>
            <a:off x="10824308" y="345750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3B2E8B4-E348-47DA-AC3C-F574EF25B0B1}"/>
              </a:ext>
            </a:extLst>
          </p:cNvPr>
          <p:cNvSpPr txBox="1"/>
          <p:nvPr/>
        </p:nvSpPr>
        <p:spPr>
          <a:xfrm>
            <a:off x="6601047" y="3945425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0 días </a:t>
            </a:r>
            <a:endParaRPr lang="es-MX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6500530-C248-4E1D-A8FA-D4D5D3CB44E0}"/>
              </a:ext>
            </a:extLst>
          </p:cNvPr>
          <p:cNvSpPr txBox="1"/>
          <p:nvPr/>
        </p:nvSpPr>
        <p:spPr>
          <a:xfrm>
            <a:off x="10824308" y="3945425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1D52E64D-5A86-43A6-9252-41C64C50720B}"/>
              </a:ext>
            </a:extLst>
          </p:cNvPr>
          <p:cNvSpPr txBox="1"/>
          <p:nvPr/>
        </p:nvSpPr>
        <p:spPr>
          <a:xfrm>
            <a:off x="6601047" y="4223223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1-2 días </a:t>
            </a:r>
            <a:endParaRPr lang="es-MX" sz="8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268B458-EFE2-4C96-9F30-ACF56A433040}"/>
              </a:ext>
            </a:extLst>
          </p:cNvPr>
          <p:cNvSpPr txBox="1"/>
          <p:nvPr/>
        </p:nvSpPr>
        <p:spPr>
          <a:xfrm>
            <a:off x="10824308" y="4223223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9FAC190-219B-4BF5-9A34-CA787627AC9F}"/>
              </a:ext>
            </a:extLst>
          </p:cNvPr>
          <p:cNvSpPr txBox="1"/>
          <p:nvPr/>
        </p:nvSpPr>
        <p:spPr>
          <a:xfrm>
            <a:off x="6601047" y="4476558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3-10 días </a:t>
            </a:r>
            <a:endParaRPr lang="es-MX" sz="8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3BBDDBF-BCF7-4B25-ABD2-BAEB37021EA6}"/>
              </a:ext>
            </a:extLst>
          </p:cNvPr>
          <p:cNvSpPr txBox="1"/>
          <p:nvPr/>
        </p:nvSpPr>
        <p:spPr>
          <a:xfrm>
            <a:off x="10824308" y="4476558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A4A29E8A-D457-4549-8600-41FA7FE61655}"/>
              </a:ext>
            </a:extLst>
          </p:cNvPr>
          <p:cNvSpPr txBox="1"/>
          <p:nvPr/>
        </p:nvSpPr>
        <p:spPr>
          <a:xfrm>
            <a:off x="6601047" y="4725837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Mayor a 10 días </a:t>
            </a:r>
            <a:endParaRPr lang="es-MX" sz="8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EFA0F78B-6E1F-49E1-AF75-4911DBD9E45F}"/>
              </a:ext>
            </a:extLst>
          </p:cNvPr>
          <p:cNvSpPr txBox="1"/>
          <p:nvPr/>
        </p:nvSpPr>
        <p:spPr>
          <a:xfrm>
            <a:off x="10824308" y="472583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922765D-4202-4747-9EDF-37A7545320B1}"/>
              </a:ext>
            </a:extLst>
          </p:cNvPr>
          <p:cNvSpPr txBox="1"/>
          <p:nvPr/>
        </p:nvSpPr>
        <p:spPr>
          <a:xfrm>
            <a:off x="6601047" y="5193788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Crédito 30 días </a:t>
            </a:r>
            <a:endParaRPr lang="es-MX" sz="8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6644EB5F-124F-4785-9928-A405998D1B94}"/>
              </a:ext>
            </a:extLst>
          </p:cNvPr>
          <p:cNvSpPr txBox="1"/>
          <p:nvPr/>
        </p:nvSpPr>
        <p:spPr>
          <a:xfrm>
            <a:off x="10810403" y="5185902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3FF6E9C5-1070-4EF4-944B-109A60E04A12}"/>
              </a:ext>
            </a:extLst>
          </p:cNvPr>
          <p:cNvSpPr txBox="1"/>
          <p:nvPr/>
        </p:nvSpPr>
        <p:spPr>
          <a:xfrm>
            <a:off x="6601046" y="5437893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Crédito 45 días </a:t>
            </a:r>
            <a:endParaRPr lang="es-MX" sz="800" dirty="0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45A693B7-EDE6-46A0-B5EC-9BD37914D960}"/>
              </a:ext>
            </a:extLst>
          </p:cNvPr>
          <p:cNvSpPr txBox="1"/>
          <p:nvPr/>
        </p:nvSpPr>
        <p:spPr>
          <a:xfrm>
            <a:off x="10810403" y="5428444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A7456AF-32D6-4485-A95D-8499E77ABFC8}"/>
              </a:ext>
            </a:extLst>
          </p:cNvPr>
          <p:cNvSpPr txBox="1"/>
          <p:nvPr/>
        </p:nvSpPr>
        <p:spPr>
          <a:xfrm>
            <a:off x="6614952" y="3696008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Tiempo de retraso en la entrega </a:t>
            </a:r>
            <a:endParaRPr lang="es-CO" sz="800" dirty="0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3408B982-4C29-4871-B0F0-9D4E076363F7}"/>
              </a:ext>
            </a:extLst>
          </p:cNvPr>
          <p:cNvSpPr txBox="1"/>
          <p:nvPr/>
        </p:nvSpPr>
        <p:spPr>
          <a:xfrm>
            <a:off x="6601047" y="4961125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Forma de pago</a:t>
            </a:r>
            <a:endParaRPr lang="es-CO" sz="800" dirty="0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97D68153-0711-4843-8E96-3D51449D1A8A}"/>
              </a:ext>
            </a:extLst>
          </p:cNvPr>
          <p:cNvSpPr txBox="1"/>
          <p:nvPr/>
        </p:nvSpPr>
        <p:spPr>
          <a:xfrm>
            <a:off x="6601046" y="5682936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Crédito 60 días </a:t>
            </a:r>
            <a:endParaRPr lang="es-MX" sz="8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76D91E55-C5A5-468C-9F1F-69ED6CB49DA3}"/>
              </a:ext>
            </a:extLst>
          </p:cNvPr>
          <p:cNvSpPr txBox="1"/>
          <p:nvPr/>
        </p:nvSpPr>
        <p:spPr>
          <a:xfrm>
            <a:off x="10810402" y="5675050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386A89FD-4C29-4D40-949A-47ED361965DF}"/>
              </a:ext>
            </a:extLst>
          </p:cNvPr>
          <p:cNvSpPr txBox="1"/>
          <p:nvPr/>
        </p:nvSpPr>
        <p:spPr>
          <a:xfrm>
            <a:off x="6601046" y="5929946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Crédito 90 días</a:t>
            </a:r>
            <a:endParaRPr lang="es-MX" sz="800" dirty="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D9951D01-85A7-4639-8AB3-DF5715F36E09}"/>
              </a:ext>
            </a:extLst>
          </p:cNvPr>
          <p:cNvSpPr txBox="1"/>
          <p:nvPr/>
        </p:nvSpPr>
        <p:spPr>
          <a:xfrm>
            <a:off x="10810402" y="5917592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27EBEBA6-15D6-4CEA-A3B4-CB10360DC2D0}"/>
              </a:ext>
            </a:extLst>
          </p:cNvPr>
          <p:cNvSpPr txBox="1"/>
          <p:nvPr/>
        </p:nvSpPr>
        <p:spPr>
          <a:xfrm>
            <a:off x="6625616" y="6183784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Pago de contado </a:t>
            </a:r>
            <a:endParaRPr lang="es-MX" sz="800" dirty="0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7D4D4BBA-5DB1-4C77-9B18-335B4EE5B9BE}"/>
              </a:ext>
            </a:extLst>
          </p:cNvPr>
          <p:cNvSpPr txBox="1"/>
          <p:nvPr/>
        </p:nvSpPr>
        <p:spPr>
          <a:xfrm>
            <a:off x="10834972" y="6171430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6AD11AC2-D744-4563-B8BC-42C7D19F667C}"/>
              </a:ext>
            </a:extLst>
          </p:cNvPr>
          <p:cNvSpPr txBox="1"/>
          <p:nvPr/>
        </p:nvSpPr>
        <p:spPr>
          <a:xfrm>
            <a:off x="1585813" y="5729015"/>
            <a:ext cx="1766987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FF0000"/>
                </a:solidFill>
              </a:rPr>
              <a:t>Nota:  esta tabla debe ser visible y fija con la información que le dejo , porque este es el criterio de evaluación </a:t>
            </a:r>
          </a:p>
        </p:txBody>
      </p:sp>
    </p:spTree>
    <p:extLst>
      <p:ext uri="{BB962C8B-B14F-4D97-AF65-F5344CB8AC3E}">
        <p14:creationId xmlns:p14="http://schemas.microsoft.com/office/powerpoint/2010/main" val="1392568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60" y="2169561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de proveedores y contratistas </a:t>
            </a:r>
            <a:endParaRPr lang="es-CO" sz="11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19F8468-8C77-4B50-9AF3-3DDEE82F14E3}"/>
              </a:ext>
            </a:extLst>
          </p:cNvPr>
          <p:cNvSpPr txBox="1"/>
          <p:nvPr/>
        </p:nvSpPr>
        <p:spPr>
          <a:xfrm>
            <a:off x="6549750" y="2955708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Entrega</a:t>
            </a:r>
            <a:endParaRPr lang="es-CO" sz="80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EC9B3B85-A8D9-4CA2-8C1B-A2EE025A690E}"/>
              </a:ext>
            </a:extLst>
          </p:cNvPr>
          <p:cNvSpPr txBox="1"/>
          <p:nvPr/>
        </p:nvSpPr>
        <p:spPr>
          <a:xfrm>
            <a:off x="6572218" y="270292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Más de un día </a:t>
            </a:r>
            <a:endParaRPr lang="es-MX" sz="8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37EB6E22-BDDF-4687-9FBA-C10FFEC7EBC2}"/>
              </a:ext>
            </a:extLst>
          </p:cNvPr>
          <p:cNvSpPr txBox="1"/>
          <p:nvPr/>
        </p:nvSpPr>
        <p:spPr>
          <a:xfrm>
            <a:off x="10795479" y="270292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DD1EF31-BE3C-4B0E-B4E1-5EE945978729}"/>
              </a:ext>
            </a:extLst>
          </p:cNvPr>
          <p:cNvSpPr txBox="1"/>
          <p:nvPr/>
        </p:nvSpPr>
        <p:spPr>
          <a:xfrm>
            <a:off x="1270039" y="2459328"/>
            <a:ext cx="102666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Factores y puntos</a:t>
            </a:r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1123BA0-C6A8-4C6D-849D-11E94BFDAD4C}"/>
              </a:ext>
            </a:extLst>
          </p:cNvPr>
          <p:cNvSpPr txBox="1"/>
          <p:nvPr/>
        </p:nvSpPr>
        <p:spPr>
          <a:xfrm>
            <a:off x="6572218" y="319930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Entrega en nuestras instalaciones (Con recargo) 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02B78EF-D296-4AE5-A909-2226FB8803D7}"/>
              </a:ext>
            </a:extLst>
          </p:cNvPr>
          <p:cNvSpPr txBox="1"/>
          <p:nvPr/>
        </p:nvSpPr>
        <p:spPr>
          <a:xfrm>
            <a:off x="10795479" y="319930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D1E28F01-CFDC-4E90-A0FA-A1426FC63D13}"/>
              </a:ext>
            </a:extLst>
          </p:cNvPr>
          <p:cNvSpPr txBox="1"/>
          <p:nvPr/>
        </p:nvSpPr>
        <p:spPr>
          <a:xfrm>
            <a:off x="6572218" y="3462656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Entrega en nuestras instalaciones (Sin recargo) </a:t>
            </a:r>
            <a:endParaRPr lang="es-MX" sz="800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024CBC4-5730-4F95-A1C9-431974BEA5B3}"/>
              </a:ext>
            </a:extLst>
          </p:cNvPr>
          <p:cNvSpPr txBox="1"/>
          <p:nvPr/>
        </p:nvSpPr>
        <p:spPr>
          <a:xfrm>
            <a:off x="10795479" y="3462656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3B2E8B4-E348-47DA-AC3C-F574EF25B0B1}"/>
              </a:ext>
            </a:extLst>
          </p:cNvPr>
          <p:cNvSpPr txBox="1"/>
          <p:nvPr/>
        </p:nvSpPr>
        <p:spPr>
          <a:xfrm>
            <a:off x="6586122" y="371583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Se debe recoger el producto</a:t>
            </a:r>
            <a:endParaRPr lang="es-MX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6500530-C248-4E1D-A8FA-D4D5D3CB44E0}"/>
              </a:ext>
            </a:extLst>
          </p:cNvPr>
          <p:cNvSpPr txBox="1"/>
          <p:nvPr/>
        </p:nvSpPr>
        <p:spPr>
          <a:xfrm>
            <a:off x="10795479" y="3709392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1D52E64D-5A86-43A6-9252-41C64C50720B}"/>
              </a:ext>
            </a:extLst>
          </p:cNvPr>
          <p:cNvSpPr txBox="1"/>
          <p:nvPr/>
        </p:nvSpPr>
        <p:spPr>
          <a:xfrm>
            <a:off x="6572218" y="4228370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No otorga garantía </a:t>
            </a:r>
            <a:endParaRPr lang="es-MX" sz="8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268B458-EFE2-4C96-9F30-ACF56A433040}"/>
              </a:ext>
            </a:extLst>
          </p:cNvPr>
          <p:cNvSpPr txBox="1"/>
          <p:nvPr/>
        </p:nvSpPr>
        <p:spPr>
          <a:xfrm>
            <a:off x="10795479" y="4228370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E9FAC190-219B-4BF5-9A34-CA787627AC9F}"/>
              </a:ext>
            </a:extLst>
          </p:cNvPr>
          <p:cNvSpPr txBox="1"/>
          <p:nvPr/>
        </p:nvSpPr>
        <p:spPr>
          <a:xfrm>
            <a:off x="6572218" y="4481705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Otorga garantía parcial </a:t>
            </a:r>
            <a:endParaRPr lang="es-MX" sz="8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3BBDDBF-BCF7-4B25-ABD2-BAEB37021EA6}"/>
              </a:ext>
            </a:extLst>
          </p:cNvPr>
          <p:cNvSpPr txBox="1"/>
          <p:nvPr/>
        </p:nvSpPr>
        <p:spPr>
          <a:xfrm>
            <a:off x="10795479" y="4481705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A4A29E8A-D457-4549-8600-41FA7FE61655}"/>
              </a:ext>
            </a:extLst>
          </p:cNvPr>
          <p:cNvSpPr txBox="1"/>
          <p:nvPr/>
        </p:nvSpPr>
        <p:spPr>
          <a:xfrm>
            <a:off x="6572218" y="4730984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Otorga garantía total </a:t>
            </a:r>
            <a:endParaRPr lang="es-MX" sz="8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EFA0F78B-6E1F-49E1-AF75-4911DBD9E45F}"/>
              </a:ext>
            </a:extLst>
          </p:cNvPr>
          <p:cNvSpPr txBox="1"/>
          <p:nvPr/>
        </p:nvSpPr>
        <p:spPr>
          <a:xfrm>
            <a:off x="10795479" y="4730984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922765D-4202-4747-9EDF-37A7545320B1}"/>
              </a:ext>
            </a:extLst>
          </p:cNvPr>
          <p:cNvSpPr txBox="1"/>
          <p:nvPr/>
        </p:nvSpPr>
        <p:spPr>
          <a:xfrm>
            <a:off x="6572218" y="5198935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Cumple con requisitos en SSOMA </a:t>
            </a:r>
            <a:endParaRPr lang="es-MX" sz="8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6644EB5F-124F-4785-9928-A405998D1B94}"/>
              </a:ext>
            </a:extLst>
          </p:cNvPr>
          <p:cNvSpPr txBox="1"/>
          <p:nvPr/>
        </p:nvSpPr>
        <p:spPr>
          <a:xfrm>
            <a:off x="10781574" y="519104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3FF6E9C5-1070-4EF4-944B-109A60E04A12}"/>
              </a:ext>
            </a:extLst>
          </p:cNvPr>
          <p:cNvSpPr txBox="1"/>
          <p:nvPr/>
        </p:nvSpPr>
        <p:spPr>
          <a:xfrm>
            <a:off x="6572217" y="5443040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No cumple con requisitos en SSOMA</a:t>
            </a:r>
            <a:endParaRPr lang="es-MX" sz="800" dirty="0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45A693B7-EDE6-46A0-B5EC-9BD37914D960}"/>
              </a:ext>
            </a:extLst>
          </p:cNvPr>
          <p:cNvSpPr txBox="1"/>
          <p:nvPr/>
        </p:nvSpPr>
        <p:spPr>
          <a:xfrm>
            <a:off x="10781574" y="5433591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A7456AF-32D6-4485-A95D-8499E77ABFC8}"/>
              </a:ext>
            </a:extLst>
          </p:cNvPr>
          <p:cNvSpPr txBox="1"/>
          <p:nvPr/>
        </p:nvSpPr>
        <p:spPr>
          <a:xfrm>
            <a:off x="6557294" y="3975187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Garantía </a:t>
            </a:r>
            <a:endParaRPr lang="es-CO" sz="800" dirty="0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3408B982-4C29-4871-B0F0-9D4E076363F7}"/>
              </a:ext>
            </a:extLst>
          </p:cNvPr>
          <p:cNvSpPr txBox="1"/>
          <p:nvPr/>
        </p:nvSpPr>
        <p:spPr>
          <a:xfrm>
            <a:off x="6572218" y="4966272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Sistema de gestión SSOMA </a:t>
            </a:r>
            <a:endParaRPr lang="es-CO" sz="800" dirty="0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97D68153-0711-4843-8E96-3D51449D1A8A}"/>
              </a:ext>
            </a:extLst>
          </p:cNvPr>
          <p:cNvSpPr txBox="1"/>
          <p:nvPr/>
        </p:nvSpPr>
        <p:spPr>
          <a:xfrm>
            <a:off x="6572217" y="5688083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Tiene un SSOMA certificado </a:t>
            </a:r>
            <a:endParaRPr lang="es-MX" sz="8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76D91E55-C5A5-468C-9F1F-69ED6CB49DA3}"/>
              </a:ext>
            </a:extLst>
          </p:cNvPr>
          <p:cNvSpPr txBox="1"/>
          <p:nvPr/>
        </p:nvSpPr>
        <p:spPr>
          <a:xfrm>
            <a:off x="10781573" y="568019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8F1BA17A-5A1B-4072-B368-E09233A768CA}"/>
              </a:ext>
            </a:extLst>
          </p:cNvPr>
          <p:cNvSpPr txBox="1"/>
          <p:nvPr/>
        </p:nvSpPr>
        <p:spPr>
          <a:xfrm>
            <a:off x="1270039" y="2691870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Trayectoria (Experiencia)</a:t>
            </a:r>
            <a:endParaRPr lang="es-CO" sz="8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01F4EA5D-9423-428A-8486-7C5D3FA79D51}"/>
              </a:ext>
            </a:extLst>
          </p:cNvPr>
          <p:cNvSpPr txBox="1"/>
          <p:nvPr/>
        </p:nvSpPr>
        <p:spPr>
          <a:xfrm>
            <a:off x="1270039" y="2934628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De 2 a 5 años </a:t>
            </a:r>
            <a:endParaRPr lang="es-MX" sz="8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E24320BB-CE70-4F50-87B6-67FAAB4AA8DF}"/>
              </a:ext>
            </a:extLst>
          </p:cNvPr>
          <p:cNvSpPr txBox="1"/>
          <p:nvPr/>
        </p:nvSpPr>
        <p:spPr>
          <a:xfrm>
            <a:off x="5493300" y="2934628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9678D926-0F41-466F-8498-08BE4A93D0C0}"/>
              </a:ext>
            </a:extLst>
          </p:cNvPr>
          <p:cNvSpPr txBox="1"/>
          <p:nvPr/>
        </p:nvSpPr>
        <p:spPr>
          <a:xfrm>
            <a:off x="1270039" y="3179797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De 6 a 8 años </a:t>
            </a:r>
            <a:endParaRPr lang="es-MX" sz="800" dirty="0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F3AA6E4-B79F-48FA-A725-D8F40E4B4A89}"/>
              </a:ext>
            </a:extLst>
          </p:cNvPr>
          <p:cNvSpPr txBox="1"/>
          <p:nvPr/>
        </p:nvSpPr>
        <p:spPr>
          <a:xfrm>
            <a:off x="5493300" y="317979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318CAB1E-FA46-46C4-A363-4BF3472DD1B3}"/>
              </a:ext>
            </a:extLst>
          </p:cNvPr>
          <p:cNvSpPr txBox="1"/>
          <p:nvPr/>
        </p:nvSpPr>
        <p:spPr>
          <a:xfrm>
            <a:off x="1270039" y="3443144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Más de 8 años</a:t>
            </a:r>
            <a:endParaRPr lang="es-MX" sz="800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B696B2A3-F8AC-40E2-AD37-DBABB357F1A1}"/>
              </a:ext>
            </a:extLst>
          </p:cNvPr>
          <p:cNvSpPr txBox="1"/>
          <p:nvPr/>
        </p:nvSpPr>
        <p:spPr>
          <a:xfrm>
            <a:off x="5493300" y="3443144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5B975458-14A1-472F-BDA8-95F1A32653BD}"/>
              </a:ext>
            </a:extLst>
          </p:cNvPr>
          <p:cNvSpPr txBox="1"/>
          <p:nvPr/>
        </p:nvSpPr>
        <p:spPr>
          <a:xfrm>
            <a:off x="1278047" y="368865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Menos de 2 años 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6B3F5CB5-ADB5-498F-8ABF-B722F368D6A2}"/>
              </a:ext>
            </a:extLst>
          </p:cNvPr>
          <p:cNvSpPr txBox="1"/>
          <p:nvPr/>
        </p:nvSpPr>
        <p:spPr>
          <a:xfrm>
            <a:off x="5503964" y="368865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DF4DC5FD-F88F-4A9A-A84C-6E4F8A111B78}"/>
              </a:ext>
            </a:extLst>
          </p:cNvPr>
          <p:cNvSpPr txBox="1"/>
          <p:nvPr/>
        </p:nvSpPr>
        <p:spPr>
          <a:xfrm>
            <a:off x="1270039" y="4208858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Cumple con requisitos legales </a:t>
            </a:r>
            <a:endParaRPr lang="es-MX" sz="800" dirty="0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A76E81DA-E50D-422B-8D70-D3703AD9915D}"/>
              </a:ext>
            </a:extLst>
          </p:cNvPr>
          <p:cNvSpPr txBox="1"/>
          <p:nvPr/>
        </p:nvSpPr>
        <p:spPr>
          <a:xfrm>
            <a:off x="5493300" y="4208858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D1CE6487-B625-45E4-B6E4-AD9822DC2097}"/>
              </a:ext>
            </a:extLst>
          </p:cNvPr>
          <p:cNvSpPr txBox="1"/>
          <p:nvPr/>
        </p:nvSpPr>
        <p:spPr>
          <a:xfrm>
            <a:off x="1270038" y="4451986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No cumple con requisitos </a:t>
            </a:r>
            <a:endParaRPr lang="es-MX" sz="800" dirty="0"/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F51296B6-8E2D-45F3-8DF8-3B3924C33CB6}"/>
              </a:ext>
            </a:extLst>
          </p:cNvPr>
          <p:cNvSpPr txBox="1"/>
          <p:nvPr/>
        </p:nvSpPr>
        <p:spPr>
          <a:xfrm>
            <a:off x="5493300" y="4462193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71AE3873-E953-4AC5-A914-6F6EC965D82C}"/>
              </a:ext>
            </a:extLst>
          </p:cNvPr>
          <p:cNvSpPr txBox="1"/>
          <p:nvPr/>
        </p:nvSpPr>
        <p:spPr>
          <a:xfrm>
            <a:off x="1282156" y="4966510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Excelente </a:t>
            </a:r>
            <a:endParaRPr lang="es-MX" sz="8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252EE29B-661D-4259-B6D8-E6C8E0C08309}"/>
              </a:ext>
            </a:extLst>
          </p:cNvPr>
          <p:cNvSpPr txBox="1"/>
          <p:nvPr/>
        </p:nvSpPr>
        <p:spPr>
          <a:xfrm>
            <a:off x="5479394" y="4952430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9C28A713-9B65-4BD6-A70F-32F523DC9631}"/>
              </a:ext>
            </a:extLst>
          </p:cNvPr>
          <p:cNvSpPr txBox="1"/>
          <p:nvPr/>
        </p:nvSpPr>
        <p:spPr>
          <a:xfrm>
            <a:off x="1270039" y="5179423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Mala </a:t>
            </a:r>
            <a:endParaRPr lang="es-MX" sz="800" dirty="0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E686BCF2-5F9C-4A52-9F06-7FB86F6A8DA2}"/>
              </a:ext>
            </a:extLst>
          </p:cNvPr>
          <p:cNvSpPr txBox="1"/>
          <p:nvPr/>
        </p:nvSpPr>
        <p:spPr>
          <a:xfrm>
            <a:off x="5479395" y="517153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5A0A4220-5557-4C4F-8D05-6B7ED84CAB18}"/>
              </a:ext>
            </a:extLst>
          </p:cNvPr>
          <p:cNvSpPr txBox="1"/>
          <p:nvPr/>
        </p:nvSpPr>
        <p:spPr>
          <a:xfrm>
            <a:off x="1270038" y="5423528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Regular </a:t>
            </a:r>
            <a:endParaRPr lang="es-MX" sz="800" dirty="0"/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7A5E0D83-9B2A-40DA-BE2F-D9E4733F6BDC}"/>
              </a:ext>
            </a:extLst>
          </p:cNvPr>
          <p:cNvSpPr txBox="1"/>
          <p:nvPr/>
        </p:nvSpPr>
        <p:spPr>
          <a:xfrm>
            <a:off x="5479395" y="5414079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F1E2F226-5940-46EE-BC25-0BB00F91787F}"/>
              </a:ext>
            </a:extLst>
          </p:cNvPr>
          <p:cNvSpPr txBox="1"/>
          <p:nvPr/>
        </p:nvSpPr>
        <p:spPr>
          <a:xfrm>
            <a:off x="1278047" y="3947188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Aspecto legal</a:t>
            </a:r>
            <a:endParaRPr lang="es-CO" sz="800" dirty="0"/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6A3A56D0-FD7C-4CFB-83B0-93CCDC878FBE}"/>
              </a:ext>
            </a:extLst>
          </p:cNvPr>
          <p:cNvSpPr txBox="1"/>
          <p:nvPr/>
        </p:nvSpPr>
        <p:spPr>
          <a:xfrm>
            <a:off x="1255115" y="4712036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Atención del proveedor </a:t>
            </a:r>
            <a:endParaRPr lang="es-CO" sz="800" dirty="0"/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57F6AAD3-5B5A-4C3A-9F06-8E84DB252E8D}"/>
              </a:ext>
            </a:extLst>
          </p:cNvPr>
          <p:cNvSpPr txBox="1"/>
          <p:nvPr/>
        </p:nvSpPr>
        <p:spPr>
          <a:xfrm>
            <a:off x="1270038" y="5915581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De 4 horas a 1 día </a:t>
            </a:r>
            <a:endParaRPr lang="es-MX" sz="800" dirty="0"/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8B1BC2AA-0366-4366-9888-C1D1E65C025F}"/>
              </a:ext>
            </a:extLst>
          </p:cNvPr>
          <p:cNvSpPr txBox="1"/>
          <p:nvPr/>
        </p:nvSpPr>
        <p:spPr>
          <a:xfrm>
            <a:off x="5479394" y="590322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E35EA266-336A-452E-A1F5-43C4E89DA0A7}"/>
              </a:ext>
            </a:extLst>
          </p:cNvPr>
          <p:cNvSpPr txBox="1"/>
          <p:nvPr/>
        </p:nvSpPr>
        <p:spPr>
          <a:xfrm>
            <a:off x="1294608" y="6169419"/>
            <a:ext cx="416855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entre 0 y 4 horas </a:t>
            </a:r>
            <a:endParaRPr lang="es-MX" sz="800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6B0C9DB4-06EC-488B-B6C8-8B9014F1BEE9}"/>
              </a:ext>
            </a:extLst>
          </p:cNvPr>
          <p:cNvSpPr txBox="1"/>
          <p:nvPr/>
        </p:nvSpPr>
        <p:spPr>
          <a:xfrm>
            <a:off x="5503964" y="6157065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E2139D8A-C354-497C-9004-941D71B38BE6}"/>
              </a:ext>
            </a:extLst>
          </p:cNvPr>
          <p:cNvSpPr txBox="1"/>
          <p:nvPr/>
        </p:nvSpPr>
        <p:spPr>
          <a:xfrm>
            <a:off x="1278047" y="5695416"/>
            <a:ext cx="49505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/>
              <a:t>Tiempo de respuesta de cotización 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0102006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57" y="2241254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de proveedores y contratistas 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88051" y="614489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44852" y="614489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30735" y="614489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897503" y="6144898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F19F8468-8C77-4B50-9AF3-3DDEE82F14E3}"/>
              </a:ext>
            </a:extLst>
          </p:cNvPr>
          <p:cNvSpPr txBox="1"/>
          <p:nvPr/>
        </p:nvSpPr>
        <p:spPr>
          <a:xfrm>
            <a:off x="6406792" y="2874460"/>
            <a:ext cx="513094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Calificación</a:t>
            </a:r>
            <a:r>
              <a:rPr lang="es-CO" sz="800" dirty="0"/>
              <a:t> obtenida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2DD1EF31-BE3C-4B0E-B4E1-5EE945978729}"/>
              </a:ext>
            </a:extLst>
          </p:cNvPr>
          <p:cNvSpPr txBox="1"/>
          <p:nvPr/>
        </p:nvSpPr>
        <p:spPr>
          <a:xfrm>
            <a:off x="1284964" y="2630859"/>
            <a:ext cx="102666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Factores y puntos</a:t>
            </a:r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1123BA0-C6A8-4C6D-849D-11E94BFDAD4C}"/>
              </a:ext>
            </a:extLst>
          </p:cNvPr>
          <p:cNvSpPr txBox="1"/>
          <p:nvPr/>
        </p:nvSpPr>
        <p:spPr>
          <a:xfrm>
            <a:off x="6429261" y="3118061"/>
            <a:ext cx="24528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/>
              <a:t>Clasificación</a:t>
            </a:r>
            <a:r>
              <a:rPr lang="es-CO" sz="800" dirty="0"/>
              <a:t> </a:t>
            </a:r>
            <a:endParaRPr lang="es-MX" sz="800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F02B78EF-D296-4AE5-A909-2226FB8803D7}"/>
              </a:ext>
            </a:extLst>
          </p:cNvPr>
          <p:cNvSpPr txBox="1"/>
          <p:nvPr/>
        </p:nvSpPr>
        <p:spPr>
          <a:xfrm>
            <a:off x="8901435" y="3118061"/>
            <a:ext cx="26363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b="1" dirty="0"/>
              <a:t>Rango de puntos </a:t>
            </a:r>
            <a:endParaRPr lang="es-MX" sz="800" b="1" dirty="0"/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D1E28F01-CFDC-4E90-A0FA-A1426FC63D13}"/>
              </a:ext>
            </a:extLst>
          </p:cNvPr>
          <p:cNvSpPr txBox="1"/>
          <p:nvPr/>
        </p:nvSpPr>
        <p:spPr>
          <a:xfrm>
            <a:off x="6429261" y="3381408"/>
            <a:ext cx="24528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Compañías idónea </a:t>
            </a:r>
            <a:endParaRPr lang="es-MX" sz="800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6024CBC4-5730-4F95-A1C9-431974BEA5B3}"/>
              </a:ext>
            </a:extLst>
          </p:cNvPr>
          <p:cNvSpPr txBox="1"/>
          <p:nvPr/>
        </p:nvSpPr>
        <p:spPr>
          <a:xfrm>
            <a:off x="8901434" y="3381408"/>
            <a:ext cx="263629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&gt; 425 </a:t>
            </a:r>
            <a:endParaRPr lang="es-MX" sz="800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8F1BA17A-5A1B-4072-B368-E09233A768CA}"/>
              </a:ext>
            </a:extLst>
          </p:cNvPr>
          <p:cNvSpPr txBox="1"/>
          <p:nvPr/>
        </p:nvSpPr>
        <p:spPr>
          <a:xfrm>
            <a:off x="1295416" y="2879753"/>
            <a:ext cx="49924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Aspecto ambiental </a:t>
            </a:r>
            <a:endParaRPr lang="es-CO" sz="8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01F4EA5D-9423-428A-8486-7C5D3FA79D51}"/>
              </a:ext>
            </a:extLst>
          </p:cNvPr>
          <p:cNvSpPr txBox="1"/>
          <p:nvPr/>
        </p:nvSpPr>
        <p:spPr>
          <a:xfrm>
            <a:off x="1295416" y="3122511"/>
            <a:ext cx="421040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Cuenta con licencia ambiental </a:t>
            </a:r>
            <a:endParaRPr lang="es-MX" sz="8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E24320BB-CE70-4F50-87B6-67FAAB4AA8DF}"/>
              </a:ext>
            </a:extLst>
          </p:cNvPr>
          <p:cNvSpPr txBox="1"/>
          <p:nvPr/>
        </p:nvSpPr>
        <p:spPr>
          <a:xfrm>
            <a:off x="5560527" y="3122511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9678D926-0F41-466F-8498-08BE4A93D0C0}"/>
              </a:ext>
            </a:extLst>
          </p:cNvPr>
          <p:cNvSpPr txBox="1"/>
          <p:nvPr/>
        </p:nvSpPr>
        <p:spPr>
          <a:xfrm>
            <a:off x="1295416" y="3367680"/>
            <a:ext cx="421040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Cuenta con plan de gestión de residuos </a:t>
            </a:r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CF3AA6E4-B79F-48FA-A725-D8F40E4B4A89}"/>
              </a:ext>
            </a:extLst>
          </p:cNvPr>
          <p:cNvSpPr txBox="1"/>
          <p:nvPr/>
        </p:nvSpPr>
        <p:spPr>
          <a:xfrm>
            <a:off x="5560527" y="3367680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318CAB1E-FA46-46C4-A363-4BF3472DD1B3}"/>
              </a:ext>
            </a:extLst>
          </p:cNvPr>
          <p:cNvSpPr txBox="1"/>
          <p:nvPr/>
        </p:nvSpPr>
        <p:spPr>
          <a:xfrm>
            <a:off x="1295416" y="3631027"/>
            <a:ext cx="421040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Cuenta con un programa de gestión ambiental </a:t>
            </a:r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B696B2A3-F8AC-40E2-AD37-DBABB357F1A1}"/>
              </a:ext>
            </a:extLst>
          </p:cNvPr>
          <p:cNvSpPr txBox="1"/>
          <p:nvPr/>
        </p:nvSpPr>
        <p:spPr>
          <a:xfrm>
            <a:off x="5560527" y="3631027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5B975458-14A1-472F-BDA8-95F1A32653BD}"/>
              </a:ext>
            </a:extLst>
          </p:cNvPr>
          <p:cNvSpPr txBox="1"/>
          <p:nvPr/>
        </p:nvSpPr>
        <p:spPr>
          <a:xfrm>
            <a:off x="1303424" y="3876542"/>
            <a:ext cx="421040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No cumple requisitos ambientales </a:t>
            </a:r>
            <a:endParaRPr lang="es-MX" sz="800" dirty="0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6B3F5CB5-ADB5-498F-8ABF-B722F368D6A2}"/>
              </a:ext>
            </a:extLst>
          </p:cNvPr>
          <p:cNvSpPr txBox="1"/>
          <p:nvPr/>
        </p:nvSpPr>
        <p:spPr>
          <a:xfrm>
            <a:off x="5571191" y="3876542"/>
            <a:ext cx="70174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BED27C6-65DE-4586-A696-CC0096F7BD12}"/>
              </a:ext>
            </a:extLst>
          </p:cNvPr>
          <p:cNvSpPr txBox="1"/>
          <p:nvPr/>
        </p:nvSpPr>
        <p:spPr>
          <a:xfrm>
            <a:off x="6429260" y="3644746"/>
            <a:ext cx="24528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Compañías aceptable</a:t>
            </a:r>
            <a:endParaRPr lang="es-MX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C1766CA0-9733-4B03-8989-33C5C2D3B547}"/>
              </a:ext>
            </a:extLst>
          </p:cNvPr>
          <p:cNvSpPr txBox="1"/>
          <p:nvPr/>
        </p:nvSpPr>
        <p:spPr>
          <a:xfrm>
            <a:off x="8901433" y="3644746"/>
            <a:ext cx="265020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Entre 310 y 424 </a:t>
            </a:r>
            <a:endParaRPr lang="es-MX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5BFD24C9-41B3-4242-804D-90130C259F9B}"/>
              </a:ext>
            </a:extLst>
          </p:cNvPr>
          <p:cNvSpPr txBox="1"/>
          <p:nvPr/>
        </p:nvSpPr>
        <p:spPr>
          <a:xfrm>
            <a:off x="6429260" y="3900090"/>
            <a:ext cx="24528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Compañías para trabajar con supervisión continua </a:t>
            </a:r>
            <a:endParaRPr lang="es-MX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95A6978-EB0F-4BF8-AD77-51D1CDDD7E3F}"/>
              </a:ext>
            </a:extLst>
          </p:cNvPr>
          <p:cNvSpPr txBox="1"/>
          <p:nvPr/>
        </p:nvSpPr>
        <p:spPr>
          <a:xfrm>
            <a:off x="8901433" y="3900090"/>
            <a:ext cx="263629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Entre 250 y 309 </a:t>
            </a:r>
            <a:endParaRPr lang="es-MX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2851969F-BC8F-429B-8733-2EAE180F8F09}"/>
              </a:ext>
            </a:extLst>
          </p:cNvPr>
          <p:cNvSpPr txBox="1"/>
          <p:nvPr/>
        </p:nvSpPr>
        <p:spPr>
          <a:xfrm>
            <a:off x="6429260" y="4151694"/>
            <a:ext cx="24528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/>
              <a:t>Compañías no aptas </a:t>
            </a:r>
            <a:endParaRPr lang="es-MX" sz="800" dirty="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437231A-A4EF-4175-89CD-62D44F7D62A8}"/>
              </a:ext>
            </a:extLst>
          </p:cNvPr>
          <p:cNvSpPr txBox="1"/>
          <p:nvPr/>
        </p:nvSpPr>
        <p:spPr>
          <a:xfrm>
            <a:off x="8901434" y="4151694"/>
            <a:ext cx="2636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&lt; 150 </a:t>
            </a:r>
            <a:endParaRPr lang="es-MX" sz="800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865BDED4-BD11-4644-B2F7-4290ABB722B7}"/>
              </a:ext>
            </a:extLst>
          </p:cNvPr>
          <p:cNvSpPr txBox="1"/>
          <p:nvPr/>
        </p:nvSpPr>
        <p:spPr>
          <a:xfrm>
            <a:off x="1295416" y="4648198"/>
            <a:ext cx="10061290" cy="132343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57D944D-8360-4238-8BBD-19A9809F5EA8}"/>
              </a:ext>
            </a:extLst>
          </p:cNvPr>
          <p:cNvSpPr txBox="1"/>
          <p:nvPr/>
        </p:nvSpPr>
        <p:spPr>
          <a:xfrm>
            <a:off x="610595" y="4648198"/>
            <a:ext cx="56386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N</a:t>
            </a:r>
            <a:r>
              <a:rPr lang="es-CO" sz="800" dirty="0" err="1"/>
              <a:t>otas</a:t>
            </a:r>
            <a:r>
              <a:rPr lang="es-CO" sz="800" dirty="0"/>
              <a:t>: 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146B666-D683-4CC5-A167-E672653A2850}"/>
              </a:ext>
            </a:extLst>
          </p:cNvPr>
          <p:cNvSpPr txBox="1"/>
          <p:nvPr/>
        </p:nvSpPr>
        <p:spPr>
          <a:xfrm>
            <a:off x="1997380" y="614489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0BEDC3-2BFF-4A1E-AD58-EA9C20CB148C}"/>
              </a:ext>
            </a:extLst>
          </p:cNvPr>
          <p:cNvSpPr txBox="1"/>
          <p:nvPr/>
        </p:nvSpPr>
        <p:spPr>
          <a:xfrm>
            <a:off x="10918894" y="3335719"/>
            <a:ext cx="25462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rgbClr val="FF0000"/>
                </a:solidFill>
              </a:rPr>
              <a:t>Andresito, esta tabla de calificación se alimenta a medida que doy los puntos en la evaluación y el puntaje máximo es de 500 puntos , como lo indico en la distribución porcentual de la diapositiva 69.</a:t>
            </a:r>
            <a:endParaRPr lang="es-CO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363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17179" y="2753444"/>
            <a:ext cx="6644720" cy="33032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126834" y="2377316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Selección y evaluación de proveedores y contratistas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126834" y="410975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637115" y="4109754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174459" y="335960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contratante: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699638" y="3351479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37007" y="551300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28A3822-19CD-4AA7-B663-286B28E91193}"/>
              </a:ext>
            </a:extLst>
          </p:cNvPr>
          <p:cNvSpPr txBox="1"/>
          <p:nvPr/>
        </p:nvSpPr>
        <p:spPr>
          <a:xfrm>
            <a:off x="1174459" y="281677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BB4306C-F66C-4709-BC1D-FC9DB7094C8E}"/>
              </a:ext>
            </a:extLst>
          </p:cNvPr>
          <p:cNvSpPr txBox="1"/>
          <p:nvPr/>
        </p:nvSpPr>
        <p:spPr>
          <a:xfrm>
            <a:off x="2699639" y="2808648"/>
            <a:ext cx="12489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73115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3084298" y="1686032"/>
            <a:ext cx="126105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Recursos</a:t>
            </a:r>
          </a:p>
          <a:p>
            <a:endParaRPr lang="es-MX" dirty="0"/>
          </a:p>
          <a:p>
            <a:r>
              <a:rPr lang="es-MX" dirty="0"/>
              <a:t>Gestión integral</a:t>
            </a:r>
            <a:endParaRPr lang="es-CO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 rot="5400000">
            <a:off x="4103076" y="186215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4554081" y="2464072"/>
            <a:ext cx="2761119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Políticas</a:t>
            </a:r>
          </a:p>
          <a:p>
            <a:endParaRPr lang="es-MX" sz="1200" dirty="0"/>
          </a:p>
          <a:p>
            <a:r>
              <a:rPr lang="es-MX" sz="1200" dirty="0"/>
              <a:t>Objetivos</a:t>
            </a:r>
          </a:p>
          <a:p>
            <a:endParaRPr lang="es-MX" sz="1200" dirty="0"/>
          </a:p>
          <a:p>
            <a:r>
              <a:rPr lang="es-CO" sz="1200" dirty="0"/>
              <a:t>Evaluación inicial</a:t>
            </a:r>
          </a:p>
          <a:p>
            <a:endParaRPr lang="es-CO" sz="1200" dirty="0"/>
          </a:p>
          <a:p>
            <a:r>
              <a:rPr lang="es-CO" sz="1200" dirty="0"/>
              <a:t>Plan anual de Trabajo</a:t>
            </a:r>
          </a:p>
          <a:p>
            <a:endParaRPr lang="es-CO" sz="1200" dirty="0"/>
          </a:p>
          <a:p>
            <a:r>
              <a:rPr lang="es-CO" sz="1200" dirty="0"/>
              <a:t>Conservación de documentación</a:t>
            </a:r>
          </a:p>
          <a:p>
            <a:endParaRPr lang="es-CO" sz="1200" dirty="0"/>
          </a:p>
          <a:p>
            <a:r>
              <a:rPr lang="es-CO" sz="1200" dirty="0"/>
              <a:t>Rendición de cuentas </a:t>
            </a:r>
          </a:p>
          <a:p>
            <a:endParaRPr lang="es-CO" sz="1200" dirty="0"/>
          </a:p>
          <a:p>
            <a:r>
              <a:rPr lang="es-CO" sz="1200" dirty="0"/>
              <a:t>Matriz Legal</a:t>
            </a:r>
          </a:p>
          <a:p>
            <a:endParaRPr lang="es-CO" sz="1200" dirty="0"/>
          </a:p>
          <a:p>
            <a:r>
              <a:rPr lang="es-CO" sz="1200" dirty="0"/>
              <a:t>Mecanismo de comunicación </a:t>
            </a:r>
          </a:p>
          <a:p>
            <a:endParaRPr lang="es-CO" sz="1200" dirty="0"/>
          </a:p>
          <a:p>
            <a:r>
              <a:rPr lang="es-CO" sz="1200" dirty="0"/>
              <a:t>Adquisición de productos </a:t>
            </a:r>
          </a:p>
          <a:p>
            <a:endParaRPr lang="es-CO" sz="1200" dirty="0"/>
          </a:p>
          <a:p>
            <a:r>
              <a:rPr lang="es-CO" sz="1200" dirty="0"/>
              <a:t>Contratación</a:t>
            </a:r>
          </a:p>
          <a:p>
            <a:endParaRPr lang="es-CO" sz="1200" dirty="0"/>
          </a:p>
          <a:p>
            <a:r>
              <a:rPr lang="es-CO" sz="1200" dirty="0"/>
              <a:t>Gestión del cambio 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5338253" y="25858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5355697" y="28930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5766604" y="32778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6097843" y="368322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6827071" y="40179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6269264" y="4434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4016569" y="254804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5656476" y="47368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6480768" y="547270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C2285C44-F8A6-4128-A952-E95DEEC94C66}"/>
              </a:ext>
            </a:extLst>
          </p:cNvPr>
          <p:cNvSpPr/>
          <p:nvPr/>
        </p:nvSpPr>
        <p:spPr>
          <a:xfrm>
            <a:off x="5750261" y="58741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69152A89-0047-4136-A7D8-3D34F42D887F}"/>
              </a:ext>
            </a:extLst>
          </p:cNvPr>
          <p:cNvSpPr/>
          <p:nvPr/>
        </p:nvSpPr>
        <p:spPr>
          <a:xfrm>
            <a:off x="6175479" y="619055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6609232" y="51260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3D20094-CD23-4412-A067-3B0B81524D2C}"/>
              </a:ext>
            </a:extLst>
          </p:cNvPr>
          <p:cNvSpPr txBox="1"/>
          <p:nvPr/>
        </p:nvSpPr>
        <p:spPr>
          <a:xfrm>
            <a:off x="7419209" y="6127763"/>
            <a:ext cx="138872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Gestión del Cambio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8493738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57" y="2260686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Gestión del cambio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74876" y="2738581"/>
            <a:ext cx="58763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Fecha:</a:t>
            </a:r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DB85519-F098-4E28-A908-D91F8E1FC94C}"/>
              </a:ext>
            </a:extLst>
          </p:cNvPr>
          <p:cNvSpPr txBox="1"/>
          <p:nvPr/>
        </p:nvSpPr>
        <p:spPr>
          <a:xfrm>
            <a:off x="1271058" y="3588181"/>
            <a:ext cx="2097371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R</a:t>
            </a:r>
            <a:r>
              <a:rPr lang="es-CO" sz="800" dirty="0">
                <a:solidFill>
                  <a:srgbClr val="000000"/>
                </a:solidFill>
              </a:rPr>
              <a:t>recomendaciones de seguridad y salud en el trabajo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DAF6A7-6DDC-48DE-8B05-343306E37FBE}"/>
              </a:ext>
            </a:extLst>
          </p:cNvPr>
          <p:cNvSpPr txBox="1"/>
          <p:nvPr/>
        </p:nvSpPr>
        <p:spPr>
          <a:xfrm>
            <a:off x="1271059" y="3324004"/>
            <a:ext cx="209737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A</a:t>
            </a:r>
            <a:r>
              <a:rPr lang="es-CO" sz="800" dirty="0">
                <a:solidFill>
                  <a:srgbClr val="000000"/>
                </a:solidFill>
              </a:rPr>
              <a:t>análisis del riesgo /requisito legal aplicable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1870739" y="2733418"/>
            <a:ext cx="11792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187A6D8-4361-4F44-9EF4-C00751F28865}"/>
              </a:ext>
            </a:extLst>
          </p:cNvPr>
          <p:cNvSpPr txBox="1"/>
          <p:nvPr/>
        </p:nvSpPr>
        <p:spPr>
          <a:xfrm>
            <a:off x="1274876" y="3030115"/>
            <a:ext cx="117922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Descripción del cambio:</a:t>
            </a:r>
            <a:endParaRPr lang="es-CO" sz="800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F4908A46-29B0-4CA5-82EC-E1994203ED73}"/>
              </a:ext>
            </a:extLst>
          </p:cNvPr>
          <p:cNvSpPr txBox="1"/>
          <p:nvPr/>
        </p:nvSpPr>
        <p:spPr>
          <a:xfrm>
            <a:off x="2467304" y="3024952"/>
            <a:ext cx="90704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F1C774F2-3331-4678-B1FB-A08619513518}"/>
              </a:ext>
            </a:extLst>
          </p:cNvPr>
          <p:cNvSpPr txBox="1"/>
          <p:nvPr/>
        </p:nvSpPr>
        <p:spPr>
          <a:xfrm>
            <a:off x="3407124" y="3332046"/>
            <a:ext cx="813060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74C154B5-AA64-45B2-932F-5FC67CE8CDC5}"/>
              </a:ext>
            </a:extLst>
          </p:cNvPr>
          <p:cNvSpPr txBox="1"/>
          <p:nvPr/>
        </p:nvSpPr>
        <p:spPr>
          <a:xfrm>
            <a:off x="3407124" y="3593770"/>
            <a:ext cx="8130608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21FF1947-DE48-4FB2-95A8-DBFDB2147D36}"/>
              </a:ext>
            </a:extLst>
          </p:cNvPr>
          <p:cNvSpPr txBox="1"/>
          <p:nvPr/>
        </p:nvSpPr>
        <p:spPr>
          <a:xfrm>
            <a:off x="1271057" y="3975468"/>
            <a:ext cx="102666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A</a:t>
            </a:r>
            <a:r>
              <a:rPr lang="es-CO" sz="800" dirty="0">
                <a:solidFill>
                  <a:srgbClr val="000000"/>
                </a:solidFill>
              </a:rPr>
              <a:t>nálisis del impacto del sistema de seguridad y salud en el trabajo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2695867F-2C2B-4124-825E-1BF372C008D4}"/>
              </a:ext>
            </a:extLst>
          </p:cNvPr>
          <p:cNvSpPr txBox="1"/>
          <p:nvPr/>
        </p:nvSpPr>
        <p:spPr>
          <a:xfrm>
            <a:off x="1271057" y="4221189"/>
            <a:ext cx="28392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Peligros y/o riesgos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E380BBAD-706E-4C2B-A9F2-22C681DA29B5}"/>
              </a:ext>
            </a:extLst>
          </p:cNvPr>
          <p:cNvSpPr txBox="1"/>
          <p:nvPr/>
        </p:nvSpPr>
        <p:spPr>
          <a:xfrm>
            <a:off x="4163221" y="4232337"/>
            <a:ext cx="73745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72CAB891-1837-4209-9E44-31312AF4B7CF}"/>
              </a:ext>
            </a:extLst>
          </p:cNvPr>
          <p:cNvSpPr txBox="1"/>
          <p:nvPr/>
        </p:nvSpPr>
        <p:spPr>
          <a:xfrm>
            <a:off x="1284964" y="4485678"/>
            <a:ext cx="28392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Requisitos legales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0668E017-4073-4E9E-A7FA-AD35599D9624}"/>
              </a:ext>
            </a:extLst>
          </p:cNvPr>
          <p:cNvSpPr txBox="1"/>
          <p:nvPr/>
        </p:nvSpPr>
        <p:spPr>
          <a:xfrm>
            <a:off x="4177128" y="4496826"/>
            <a:ext cx="73745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288A66EF-18E7-4816-BEA0-9A6345B6D9A7}"/>
              </a:ext>
            </a:extLst>
          </p:cNvPr>
          <p:cNvSpPr txBox="1"/>
          <p:nvPr/>
        </p:nvSpPr>
        <p:spPr>
          <a:xfrm>
            <a:off x="1284964" y="4739149"/>
            <a:ext cx="28392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Sistema de gestión 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C14312CC-08B4-4551-877F-840E85F71DF5}"/>
              </a:ext>
            </a:extLst>
          </p:cNvPr>
          <p:cNvSpPr txBox="1"/>
          <p:nvPr/>
        </p:nvSpPr>
        <p:spPr>
          <a:xfrm>
            <a:off x="4177128" y="4750297"/>
            <a:ext cx="73745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D879C29-A77A-4F0E-B6BB-11D47896D266}"/>
              </a:ext>
            </a:extLst>
          </p:cNvPr>
          <p:cNvSpPr txBox="1"/>
          <p:nvPr/>
        </p:nvSpPr>
        <p:spPr>
          <a:xfrm>
            <a:off x="1284964" y="5000078"/>
            <a:ext cx="28392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Procedimiento o instrucciones de trabajo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41B85C8A-A542-4FC5-BEE4-1BA18ADCACCA}"/>
              </a:ext>
            </a:extLst>
          </p:cNvPr>
          <p:cNvSpPr txBox="1"/>
          <p:nvPr/>
        </p:nvSpPr>
        <p:spPr>
          <a:xfrm>
            <a:off x="4177128" y="5011226"/>
            <a:ext cx="73745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CAB57253-8469-4605-BDA1-7F36F1EBA19D}"/>
              </a:ext>
            </a:extLst>
          </p:cNvPr>
          <p:cNvSpPr txBox="1"/>
          <p:nvPr/>
        </p:nvSpPr>
        <p:spPr>
          <a:xfrm>
            <a:off x="1284964" y="5263887"/>
            <a:ext cx="283929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Otros</a:t>
            </a: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4BB21A05-029F-4B8A-9116-7C8D7B0BAAA6}"/>
              </a:ext>
            </a:extLst>
          </p:cNvPr>
          <p:cNvSpPr txBox="1"/>
          <p:nvPr/>
        </p:nvSpPr>
        <p:spPr>
          <a:xfrm>
            <a:off x="4177128" y="5275035"/>
            <a:ext cx="73745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6654829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60" y="2169561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Gestión del cambio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5" y="2605617"/>
            <a:ext cx="58763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Fecha: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795199" y="630190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043042" y="630190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474539" y="630190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727350" y="6301901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1880828" y="2600454"/>
            <a:ext cx="11792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21FF1947-DE48-4FB2-95A8-DBFDB2147D36}"/>
              </a:ext>
            </a:extLst>
          </p:cNvPr>
          <p:cNvSpPr txBox="1"/>
          <p:nvPr/>
        </p:nvSpPr>
        <p:spPr>
          <a:xfrm>
            <a:off x="1271057" y="3008457"/>
            <a:ext cx="102666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Planeación del cambio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2695867F-2C2B-4124-825E-1BF372C008D4}"/>
              </a:ext>
            </a:extLst>
          </p:cNvPr>
          <p:cNvSpPr txBox="1"/>
          <p:nvPr/>
        </p:nvSpPr>
        <p:spPr>
          <a:xfrm>
            <a:off x="1271058" y="3254178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Actividad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72CAB891-1837-4209-9E44-31312AF4B7CF}"/>
              </a:ext>
            </a:extLst>
          </p:cNvPr>
          <p:cNvSpPr txBox="1"/>
          <p:nvPr/>
        </p:nvSpPr>
        <p:spPr>
          <a:xfrm>
            <a:off x="3256704" y="3250679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Responsable 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288A66EF-18E7-4816-BEA0-9A6345B6D9A7}"/>
              </a:ext>
            </a:extLst>
          </p:cNvPr>
          <p:cNvSpPr txBox="1"/>
          <p:nvPr/>
        </p:nvSpPr>
        <p:spPr>
          <a:xfrm>
            <a:off x="5495846" y="3250679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Comunicar cambio A: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D879C29-A77A-4F0E-B6BB-11D47896D266}"/>
              </a:ext>
            </a:extLst>
          </p:cNvPr>
          <p:cNvSpPr txBox="1"/>
          <p:nvPr/>
        </p:nvSpPr>
        <p:spPr>
          <a:xfrm>
            <a:off x="7497720" y="3250679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Fecha ejecución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CAB57253-8469-4605-BDA1-7F36F1EBA19D}"/>
              </a:ext>
            </a:extLst>
          </p:cNvPr>
          <p:cNvSpPr txBox="1"/>
          <p:nvPr/>
        </p:nvSpPr>
        <p:spPr>
          <a:xfrm>
            <a:off x="9561514" y="3250679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Fecha seguimiento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34B220C-EF01-45F9-8431-215FC72CAAE4}"/>
              </a:ext>
            </a:extLst>
          </p:cNvPr>
          <p:cNvSpPr txBox="1"/>
          <p:nvPr/>
        </p:nvSpPr>
        <p:spPr>
          <a:xfrm>
            <a:off x="1271058" y="3530685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493E6E-9A79-4042-B4FE-63EC8BE02D16}"/>
              </a:ext>
            </a:extLst>
          </p:cNvPr>
          <p:cNvSpPr txBox="1"/>
          <p:nvPr/>
        </p:nvSpPr>
        <p:spPr>
          <a:xfrm>
            <a:off x="3256704" y="3527186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A275FF5-8BF3-4CFB-995A-2BC7A19C84DB}"/>
              </a:ext>
            </a:extLst>
          </p:cNvPr>
          <p:cNvSpPr txBox="1"/>
          <p:nvPr/>
        </p:nvSpPr>
        <p:spPr>
          <a:xfrm>
            <a:off x="5495846" y="3527186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26D85EC-DC1C-4297-A877-81A45B8F28CA}"/>
              </a:ext>
            </a:extLst>
          </p:cNvPr>
          <p:cNvSpPr txBox="1"/>
          <p:nvPr/>
        </p:nvSpPr>
        <p:spPr>
          <a:xfrm>
            <a:off x="7497720" y="3527186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0DCB65D-5AD2-4C27-995C-5C39D0E7A1C7}"/>
              </a:ext>
            </a:extLst>
          </p:cNvPr>
          <p:cNvSpPr txBox="1"/>
          <p:nvPr/>
        </p:nvSpPr>
        <p:spPr>
          <a:xfrm>
            <a:off x="9561514" y="3527186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7FB1429-E26D-4579-89EA-5879328D6856}"/>
              </a:ext>
            </a:extLst>
          </p:cNvPr>
          <p:cNvSpPr txBox="1"/>
          <p:nvPr/>
        </p:nvSpPr>
        <p:spPr>
          <a:xfrm>
            <a:off x="1271057" y="3811925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3897498-1D9A-42C1-9596-EB4196520C60}"/>
              </a:ext>
            </a:extLst>
          </p:cNvPr>
          <p:cNvSpPr txBox="1"/>
          <p:nvPr/>
        </p:nvSpPr>
        <p:spPr>
          <a:xfrm>
            <a:off x="3256703" y="3808426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DDFE9FC-BC33-4A47-907D-855ED7BC1CBC}"/>
              </a:ext>
            </a:extLst>
          </p:cNvPr>
          <p:cNvSpPr txBox="1"/>
          <p:nvPr/>
        </p:nvSpPr>
        <p:spPr>
          <a:xfrm>
            <a:off x="5495845" y="3808426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D8F37B8-8771-4937-9460-24F00B82B293}"/>
              </a:ext>
            </a:extLst>
          </p:cNvPr>
          <p:cNvSpPr txBox="1"/>
          <p:nvPr/>
        </p:nvSpPr>
        <p:spPr>
          <a:xfrm>
            <a:off x="7497719" y="3808426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4AA6673-3E27-4266-AA3F-A95494D61CAB}"/>
              </a:ext>
            </a:extLst>
          </p:cNvPr>
          <p:cNvSpPr txBox="1"/>
          <p:nvPr/>
        </p:nvSpPr>
        <p:spPr>
          <a:xfrm>
            <a:off x="9561513" y="3808426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3C31AD08-7745-4818-9E23-D3962BD305AC}"/>
              </a:ext>
            </a:extLst>
          </p:cNvPr>
          <p:cNvSpPr txBox="1"/>
          <p:nvPr/>
        </p:nvSpPr>
        <p:spPr>
          <a:xfrm>
            <a:off x="1271057" y="4090538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1EE402B5-BDDD-4509-B7EC-FA99661B83CE}"/>
              </a:ext>
            </a:extLst>
          </p:cNvPr>
          <p:cNvSpPr txBox="1"/>
          <p:nvPr/>
        </p:nvSpPr>
        <p:spPr>
          <a:xfrm>
            <a:off x="3256703" y="4087039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23E773C-AB2A-48B8-8C42-4FD6C7FF1826}"/>
              </a:ext>
            </a:extLst>
          </p:cNvPr>
          <p:cNvSpPr txBox="1"/>
          <p:nvPr/>
        </p:nvSpPr>
        <p:spPr>
          <a:xfrm>
            <a:off x="5495845" y="4087039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38290EB-3FA8-40ED-8981-F4F645976C64}"/>
              </a:ext>
            </a:extLst>
          </p:cNvPr>
          <p:cNvSpPr txBox="1"/>
          <p:nvPr/>
        </p:nvSpPr>
        <p:spPr>
          <a:xfrm>
            <a:off x="7497719" y="4087039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BFEF1BA-EDA1-47FB-8EAA-A3CE364ED224}"/>
              </a:ext>
            </a:extLst>
          </p:cNvPr>
          <p:cNvSpPr txBox="1"/>
          <p:nvPr/>
        </p:nvSpPr>
        <p:spPr>
          <a:xfrm>
            <a:off x="9561513" y="4087039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CFA3BEF-811C-493D-80D0-FBB0CEC73762}"/>
              </a:ext>
            </a:extLst>
          </p:cNvPr>
          <p:cNvSpPr txBox="1"/>
          <p:nvPr/>
        </p:nvSpPr>
        <p:spPr>
          <a:xfrm>
            <a:off x="1271057" y="4378670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F2B73F0-0BB9-40B1-B570-B2728D711B0A}"/>
              </a:ext>
            </a:extLst>
          </p:cNvPr>
          <p:cNvSpPr txBox="1"/>
          <p:nvPr/>
        </p:nvSpPr>
        <p:spPr>
          <a:xfrm>
            <a:off x="3256703" y="4375171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E02C2CB-881E-4500-8E1D-4278CE9F129E}"/>
              </a:ext>
            </a:extLst>
          </p:cNvPr>
          <p:cNvSpPr txBox="1"/>
          <p:nvPr/>
        </p:nvSpPr>
        <p:spPr>
          <a:xfrm>
            <a:off x="5495845" y="4375171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4A6E3DB-8693-415C-98D7-9E7E98639D5D}"/>
              </a:ext>
            </a:extLst>
          </p:cNvPr>
          <p:cNvSpPr txBox="1"/>
          <p:nvPr/>
        </p:nvSpPr>
        <p:spPr>
          <a:xfrm>
            <a:off x="7497719" y="4375171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CADAAB3-5037-476B-8371-1474D22E1D8D}"/>
              </a:ext>
            </a:extLst>
          </p:cNvPr>
          <p:cNvSpPr txBox="1"/>
          <p:nvPr/>
        </p:nvSpPr>
        <p:spPr>
          <a:xfrm>
            <a:off x="9561513" y="4375171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98966B4-9321-4825-BA1D-054B01E8BD2C}"/>
              </a:ext>
            </a:extLst>
          </p:cNvPr>
          <p:cNvSpPr txBox="1"/>
          <p:nvPr/>
        </p:nvSpPr>
        <p:spPr>
          <a:xfrm>
            <a:off x="1271057" y="4694989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48DA228-4FCE-49F9-B443-CA00347EC641}"/>
              </a:ext>
            </a:extLst>
          </p:cNvPr>
          <p:cNvSpPr txBox="1"/>
          <p:nvPr/>
        </p:nvSpPr>
        <p:spPr>
          <a:xfrm>
            <a:off x="3256703" y="4691490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3406A12-52D4-49BA-B24A-3E6B8FA48F73}"/>
              </a:ext>
            </a:extLst>
          </p:cNvPr>
          <p:cNvSpPr txBox="1"/>
          <p:nvPr/>
        </p:nvSpPr>
        <p:spPr>
          <a:xfrm>
            <a:off x="5495845" y="4691490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0054A3EB-7DCA-4710-AB44-999AC217D258}"/>
              </a:ext>
            </a:extLst>
          </p:cNvPr>
          <p:cNvSpPr txBox="1"/>
          <p:nvPr/>
        </p:nvSpPr>
        <p:spPr>
          <a:xfrm>
            <a:off x="7497719" y="4691490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D6FA93B-1C86-4559-A1A9-9BB2E7D7D62B}"/>
              </a:ext>
            </a:extLst>
          </p:cNvPr>
          <p:cNvSpPr txBox="1"/>
          <p:nvPr/>
        </p:nvSpPr>
        <p:spPr>
          <a:xfrm>
            <a:off x="9561513" y="4691490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A17EBD9-9057-4C52-A536-0438303666DE}"/>
              </a:ext>
            </a:extLst>
          </p:cNvPr>
          <p:cNvSpPr txBox="1"/>
          <p:nvPr/>
        </p:nvSpPr>
        <p:spPr>
          <a:xfrm>
            <a:off x="1271057" y="5007809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B3E9D07-BD7F-4DC0-9FCB-905E591ABCAB}"/>
              </a:ext>
            </a:extLst>
          </p:cNvPr>
          <p:cNvSpPr txBox="1"/>
          <p:nvPr/>
        </p:nvSpPr>
        <p:spPr>
          <a:xfrm>
            <a:off x="3256703" y="5004310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8E19709-D8D9-4842-8AD8-EB2CCCDB590F}"/>
              </a:ext>
            </a:extLst>
          </p:cNvPr>
          <p:cNvSpPr txBox="1"/>
          <p:nvPr/>
        </p:nvSpPr>
        <p:spPr>
          <a:xfrm>
            <a:off x="5495845" y="5004310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8A7D2B3-D07C-4812-80E2-A919E754BE7F}"/>
              </a:ext>
            </a:extLst>
          </p:cNvPr>
          <p:cNvSpPr txBox="1"/>
          <p:nvPr/>
        </p:nvSpPr>
        <p:spPr>
          <a:xfrm>
            <a:off x="7497719" y="5004310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C91E460-D40D-4966-A2FA-C8850A355314}"/>
              </a:ext>
            </a:extLst>
          </p:cNvPr>
          <p:cNvSpPr txBox="1"/>
          <p:nvPr/>
        </p:nvSpPr>
        <p:spPr>
          <a:xfrm>
            <a:off x="9561513" y="5004310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F7ED5187-F1E1-42DB-93A3-CC10D023D916}"/>
              </a:ext>
            </a:extLst>
          </p:cNvPr>
          <p:cNvSpPr txBox="1"/>
          <p:nvPr/>
        </p:nvSpPr>
        <p:spPr>
          <a:xfrm>
            <a:off x="1284965" y="5280966"/>
            <a:ext cx="191367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DBDF1938-56D5-44E2-8B8F-46DD65533F48}"/>
              </a:ext>
            </a:extLst>
          </p:cNvPr>
          <p:cNvSpPr txBox="1"/>
          <p:nvPr/>
        </p:nvSpPr>
        <p:spPr>
          <a:xfrm>
            <a:off x="3270611" y="5277467"/>
            <a:ext cx="216717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BE00C31B-DA01-4D2C-85F8-2FF385083A7E}"/>
              </a:ext>
            </a:extLst>
          </p:cNvPr>
          <p:cNvSpPr txBox="1"/>
          <p:nvPr/>
        </p:nvSpPr>
        <p:spPr>
          <a:xfrm>
            <a:off x="5509753" y="5277467"/>
            <a:ext cx="1914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D0C59D2B-7231-4734-B309-6FCBA2562E5D}"/>
              </a:ext>
            </a:extLst>
          </p:cNvPr>
          <p:cNvSpPr txBox="1"/>
          <p:nvPr/>
        </p:nvSpPr>
        <p:spPr>
          <a:xfrm>
            <a:off x="7511627" y="5277467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B74E0556-4804-44FD-A798-8D4F10AC85EF}"/>
              </a:ext>
            </a:extLst>
          </p:cNvPr>
          <p:cNvSpPr txBox="1"/>
          <p:nvPr/>
        </p:nvSpPr>
        <p:spPr>
          <a:xfrm>
            <a:off x="9575421" y="5277467"/>
            <a:ext cx="19762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4077CD3-4A6A-43C1-9E4E-AE28C26BD8B6}"/>
              </a:ext>
            </a:extLst>
          </p:cNvPr>
          <p:cNvSpPr txBox="1"/>
          <p:nvPr/>
        </p:nvSpPr>
        <p:spPr>
          <a:xfrm>
            <a:off x="1096864" y="629892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4194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3" cy="36300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Gestión del cambio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885872" y="437771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06135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97846" y="1968634"/>
            <a:ext cx="130842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Sociodemográfica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73203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60" y="2169561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Descripción sociodemográfico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5" y="2605617"/>
            <a:ext cx="58763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Fecha:</a:t>
            </a:r>
            <a:endParaRPr lang="es-CO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1880828" y="2600454"/>
            <a:ext cx="11792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493E6E-9A79-4042-B4FE-63EC8BE02D16}"/>
              </a:ext>
            </a:extLst>
          </p:cNvPr>
          <p:cNvSpPr txBox="1"/>
          <p:nvPr/>
        </p:nvSpPr>
        <p:spPr>
          <a:xfrm>
            <a:off x="1284970" y="3226539"/>
            <a:ext cx="305257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Nombre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A275FF5-8BF3-4CFB-995A-2BC7A19C84DB}"/>
              </a:ext>
            </a:extLst>
          </p:cNvPr>
          <p:cNvSpPr txBox="1"/>
          <p:nvPr/>
        </p:nvSpPr>
        <p:spPr>
          <a:xfrm>
            <a:off x="4415697" y="3226539"/>
            <a:ext cx="712203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3D8F37B8-8771-4937-9460-24F00B82B293}"/>
              </a:ext>
            </a:extLst>
          </p:cNvPr>
          <p:cNvSpPr txBox="1"/>
          <p:nvPr/>
        </p:nvSpPr>
        <p:spPr>
          <a:xfrm>
            <a:off x="1271061" y="3479634"/>
            <a:ext cx="306648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Cargo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4AA6673-3E27-4266-AA3F-A95494D61CAB}"/>
              </a:ext>
            </a:extLst>
          </p:cNvPr>
          <p:cNvSpPr txBox="1"/>
          <p:nvPr/>
        </p:nvSpPr>
        <p:spPr>
          <a:xfrm>
            <a:off x="4415696" y="3474659"/>
            <a:ext cx="710813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EF5D68-A3B5-435B-9F25-BA8E8BDD8938}"/>
              </a:ext>
            </a:extLst>
          </p:cNvPr>
          <p:cNvSpPr txBox="1"/>
          <p:nvPr/>
        </p:nvSpPr>
        <p:spPr>
          <a:xfrm>
            <a:off x="1259712" y="2985181"/>
            <a:ext cx="102780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Esta encuesta hace parte de la estructura del Sistema de Gestión en Seguridad y Salud  en el Trabajo y el contenido de la misma es información clasificada.</a:t>
            </a:r>
            <a:endParaRPr lang="es-CO" sz="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762590-08A4-4BAA-AB1E-32494EE0045B}"/>
              </a:ext>
            </a:extLst>
          </p:cNvPr>
          <p:cNvSpPr txBox="1"/>
          <p:nvPr/>
        </p:nvSpPr>
        <p:spPr>
          <a:xfrm>
            <a:off x="4806316" y="2506257"/>
            <a:ext cx="4204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rgbClr val="FF0000"/>
                </a:solidFill>
              </a:rPr>
              <a:t>Nota: esta encuesta estaría disponible en el portal de empleados</a:t>
            </a:r>
            <a:endParaRPr lang="es-CO" sz="1200" dirty="0">
              <a:solidFill>
                <a:srgbClr val="FF0000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3F86101-596C-4612-B6A5-FEF39C6EB6F7}"/>
              </a:ext>
            </a:extLst>
          </p:cNvPr>
          <p:cNvSpPr txBox="1"/>
          <p:nvPr/>
        </p:nvSpPr>
        <p:spPr>
          <a:xfrm>
            <a:off x="1278015" y="3737697"/>
            <a:ext cx="305257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Área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F790480E-A150-40E5-A2F4-7B1653DE7F2B}"/>
              </a:ext>
            </a:extLst>
          </p:cNvPr>
          <p:cNvSpPr txBox="1"/>
          <p:nvPr/>
        </p:nvSpPr>
        <p:spPr>
          <a:xfrm>
            <a:off x="4422648" y="3737697"/>
            <a:ext cx="710813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8729BF7-B371-474D-B381-425B078F0F07}"/>
              </a:ext>
            </a:extLst>
          </p:cNvPr>
          <p:cNvSpPr txBox="1"/>
          <p:nvPr/>
        </p:nvSpPr>
        <p:spPr>
          <a:xfrm>
            <a:off x="1291217" y="4248855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E1A8E150-C306-4A00-B1CC-D44C47F579E1}"/>
              </a:ext>
            </a:extLst>
          </p:cNvPr>
          <p:cNvSpPr txBox="1"/>
          <p:nvPr/>
        </p:nvSpPr>
        <p:spPr>
          <a:xfrm>
            <a:off x="1546740" y="4248855"/>
            <a:ext cx="4252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EDAD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653B6B71-B5E8-4AE3-A0FE-031EDB13989F}"/>
              </a:ext>
            </a:extLst>
          </p:cNvPr>
          <p:cNvSpPr txBox="1"/>
          <p:nvPr/>
        </p:nvSpPr>
        <p:spPr>
          <a:xfrm>
            <a:off x="2023553" y="4248855"/>
            <a:ext cx="1186084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Menor de 18 años	</a:t>
            </a:r>
          </a:p>
          <a:p>
            <a:r>
              <a:rPr lang="es-MX" sz="800" dirty="0"/>
              <a:t>b. 18 - 27 años	</a:t>
            </a:r>
          </a:p>
          <a:p>
            <a:r>
              <a:rPr lang="es-MX" sz="800" dirty="0"/>
              <a:t>c. 28 - 37 años	</a:t>
            </a:r>
          </a:p>
          <a:p>
            <a:r>
              <a:rPr lang="es-MX" sz="800" dirty="0"/>
              <a:t>d. 38 - 47 años	</a:t>
            </a:r>
          </a:p>
          <a:p>
            <a:r>
              <a:rPr lang="es-MX" sz="800" dirty="0"/>
              <a:t>e. 48 años o mas	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B026997F-A3EF-4E84-A78B-6ED81345AC93}"/>
              </a:ext>
            </a:extLst>
          </p:cNvPr>
          <p:cNvSpPr txBox="1"/>
          <p:nvPr/>
        </p:nvSpPr>
        <p:spPr>
          <a:xfrm>
            <a:off x="3256707" y="4248855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2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1FBB7237-59B4-47BB-B47B-2D92C28E41DC}"/>
              </a:ext>
            </a:extLst>
          </p:cNvPr>
          <p:cNvSpPr txBox="1"/>
          <p:nvPr/>
        </p:nvSpPr>
        <p:spPr>
          <a:xfrm>
            <a:off x="3512229" y="4248855"/>
            <a:ext cx="539260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ESTADO CIVIL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079694FA-0D7D-4D59-B112-83D188DDFEF8}"/>
              </a:ext>
            </a:extLst>
          </p:cNvPr>
          <p:cNvSpPr txBox="1"/>
          <p:nvPr/>
        </p:nvSpPr>
        <p:spPr>
          <a:xfrm>
            <a:off x="4110357" y="4248855"/>
            <a:ext cx="139354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Soltero (a)</a:t>
            </a:r>
          </a:p>
          <a:p>
            <a:r>
              <a:rPr lang="es-MX" sz="800" dirty="0"/>
              <a:t>b. Casado (a)/unión libre</a:t>
            </a:r>
          </a:p>
          <a:p>
            <a:r>
              <a:rPr lang="es-MX" sz="800" dirty="0"/>
              <a:t>c. Separado (a)/Divorciado</a:t>
            </a:r>
          </a:p>
          <a:p>
            <a:r>
              <a:rPr lang="es-MX" sz="800" dirty="0"/>
              <a:t>d. Viudo (a)	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5E2247B-9629-4D68-A50A-377737CC690D}"/>
              </a:ext>
            </a:extLst>
          </p:cNvPr>
          <p:cNvSpPr txBox="1"/>
          <p:nvPr/>
        </p:nvSpPr>
        <p:spPr>
          <a:xfrm>
            <a:off x="5546711" y="4244218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3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2D15C31-FE3E-4D14-932E-48F99D3DAD0F}"/>
              </a:ext>
            </a:extLst>
          </p:cNvPr>
          <p:cNvSpPr txBox="1"/>
          <p:nvPr/>
        </p:nvSpPr>
        <p:spPr>
          <a:xfrm>
            <a:off x="5793764" y="4248855"/>
            <a:ext cx="55040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GENERO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547C00F5-AB0F-48F9-9F7F-7CE520C46B03}"/>
              </a:ext>
            </a:extLst>
          </p:cNvPr>
          <p:cNvSpPr txBox="1"/>
          <p:nvPr/>
        </p:nvSpPr>
        <p:spPr>
          <a:xfrm>
            <a:off x="6386517" y="4244218"/>
            <a:ext cx="118608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Masculino	</a:t>
            </a:r>
          </a:p>
          <a:p>
            <a:r>
              <a:rPr lang="es-MX" sz="800" dirty="0"/>
              <a:t>b. Femenino	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672231C1-6507-4CBB-9E59-0DC8125BA581}"/>
              </a:ext>
            </a:extLst>
          </p:cNvPr>
          <p:cNvSpPr txBox="1"/>
          <p:nvPr/>
        </p:nvSpPr>
        <p:spPr>
          <a:xfrm>
            <a:off x="7611274" y="4247252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4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955453BB-ED44-494E-ADDA-D9C19FB5C9D6}"/>
              </a:ext>
            </a:extLst>
          </p:cNvPr>
          <p:cNvSpPr txBox="1"/>
          <p:nvPr/>
        </p:nvSpPr>
        <p:spPr>
          <a:xfrm>
            <a:off x="7866796" y="4247252"/>
            <a:ext cx="741067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NÚMERO DE PERSONAS A CARGO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5A4B06D0-EC10-49B0-A508-C8C744F35767}"/>
              </a:ext>
            </a:extLst>
          </p:cNvPr>
          <p:cNvSpPr txBox="1"/>
          <p:nvPr/>
        </p:nvSpPr>
        <p:spPr>
          <a:xfrm>
            <a:off x="8657578" y="4247252"/>
            <a:ext cx="114765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Ninguna</a:t>
            </a:r>
          </a:p>
          <a:p>
            <a:r>
              <a:rPr lang="es-MX" sz="800" dirty="0"/>
              <a:t>b. 1 - 3 personas</a:t>
            </a:r>
          </a:p>
          <a:p>
            <a:r>
              <a:rPr lang="es-MX" sz="800" dirty="0"/>
              <a:t>c. 4 - 6 personas</a:t>
            </a:r>
          </a:p>
          <a:p>
            <a:r>
              <a:rPr lang="es-MX" sz="800" dirty="0"/>
              <a:t>d. Más de 6 personas	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04DF6477-8DDD-4978-9480-46A925AF3AC4}"/>
              </a:ext>
            </a:extLst>
          </p:cNvPr>
          <p:cNvSpPr txBox="1"/>
          <p:nvPr/>
        </p:nvSpPr>
        <p:spPr>
          <a:xfrm>
            <a:off x="9870522" y="4243886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5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1612C93E-B8F4-49E7-A8CF-ADB3E323F21C}"/>
              </a:ext>
            </a:extLst>
          </p:cNvPr>
          <p:cNvSpPr txBox="1"/>
          <p:nvPr/>
        </p:nvSpPr>
        <p:spPr>
          <a:xfrm>
            <a:off x="10124589" y="4244218"/>
            <a:ext cx="425273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NIVEL DE ESCOLARIDAD</a:t>
            </a:r>
            <a:endParaRPr lang="es-MX" sz="8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A211207-07B8-4E4F-83F9-7B5F07B336DE}"/>
              </a:ext>
            </a:extLst>
          </p:cNvPr>
          <p:cNvSpPr txBox="1"/>
          <p:nvPr/>
        </p:nvSpPr>
        <p:spPr>
          <a:xfrm>
            <a:off x="10607788" y="4236079"/>
            <a:ext cx="1253997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Primaria</a:t>
            </a:r>
          </a:p>
          <a:p>
            <a:r>
              <a:rPr lang="es-MX" sz="800" dirty="0"/>
              <a:t>b. Secundaria	</a:t>
            </a:r>
          </a:p>
          <a:p>
            <a:r>
              <a:rPr lang="es-MX" sz="800" dirty="0"/>
              <a:t>c. Técnico / Tecnólogo</a:t>
            </a:r>
          </a:p>
          <a:p>
            <a:r>
              <a:rPr lang="es-MX" sz="800" dirty="0"/>
              <a:t>d. Universitario	</a:t>
            </a:r>
          </a:p>
          <a:p>
            <a:r>
              <a:rPr lang="es-MX" sz="800" dirty="0"/>
              <a:t>e. Especialista / Maestría	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56DBCDD-57DF-47BC-9DAD-D0F19455E310}"/>
              </a:ext>
            </a:extLst>
          </p:cNvPr>
          <p:cNvSpPr txBox="1"/>
          <p:nvPr/>
        </p:nvSpPr>
        <p:spPr>
          <a:xfrm>
            <a:off x="1278015" y="4997710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6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002C8E9C-2196-439C-9D57-5DEC6A073916}"/>
              </a:ext>
            </a:extLst>
          </p:cNvPr>
          <p:cNvSpPr txBox="1"/>
          <p:nvPr/>
        </p:nvSpPr>
        <p:spPr>
          <a:xfrm>
            <a:off x="1533538" y="4997710"/>
            <a:ext cx="689616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TENENCIA DE VIVIENDA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61600DAD-1EDF-46BC-B3F7-56F11D1975E1}"/>
              </a:ext>
            </a:extLst>
          </p:cNvPr>
          <p:cNvSpPr txBox="1"/>
          <p:nvPr/>
        </p:nvSpPr>
        <p:spPr>
          <a:xfrm>
            <a:off x="2360768" y="5004954"/>
            <a:ext cx="1186084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Propia</a:t>
            </a:r>
          </a:p>
          <a:p>
            <a:r>
              <a:rPr lang="es-MX" sz="800" dirty="0"/>
              <a:t>b. Arrendada	</a:t>
            </a:r>
          </a:p>
          <a:p>
            <a:r>
              <a:rPr lang="es-MX" sz="800" dirty="0"/>
              <a:t>c. Familiar	</a:t>
            </a:r>
          </a:p>
          <a:p>
            <a:r>
              <a:rPr lang="es-MX" sz="800" dirty="0"/>
              <a:t>d. Compartida con otra(s) familia(s)	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F8199ABF-C437-46EB-ABB6-9A5702844266}"/>
              </a:ext>
            </a:extLst>
          </p:cNvPr>
          <p:cNvSpPr txBox="1"/>
          <p:nvPr/>
        </p:nvSpPr>
        <p:spPr>
          <a:xfrm>
            <a:off x="3646385" y="5018804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7</a:t>
            </a: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C7E7A5AC-2BE0-4D86-A538-ACC4963FCDB0}"/>
              </a:ext>
            </a:extLst>
          </p:cNvPr>
          <p:cNvSpPr txBox="1"/>
          <p:nvPr/>
        </p:nvSpPr>
        <p:spPr>
          <a:xfrm>
            <a:off x="3910719" y="5014876"/>
            <a:ext cx="6366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ESTRACTO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4AE626E8-9577-4D49-9C3F-C14B478EA7DA}"/>
              </a:ext>
            </a:extLst>
          </p:cNvPr>
          <p:cNvSpPr txBox="1"/>
          <p:nvPr/>
        </p:nvSpPr>
        <p:spPr>
          <a:xfrm>
            <a:off x="4561517" y="4997710"/>
            <a:ext cx="1111061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a.1</a:t>
            </a:r>
          </a:p>
          <a:p>
            <a:r>
              <a:rPr lang="es-MX" sz="800" dirty="0"/>
              <a:t>b.2 	</a:t>
            </a:r>
          </a:p>
          <a:p>
            <a:r>
              <a:rPr lang="es-MX" sz="800" dirty="0"/>
              <a:t>c.3 	</a:t>
            </a:r>
          </a:p>
          <a:p>
            <a:r>
              <a:rPr lang="es-MX" sz="800" dirty="0"/>
              <a:t>d.4 	</a:t>
            </a:r>
          </a:p>
          <a:p>
            <a:r>
              <a:rPr lang="es-MX" sz="800" dirty="0"/>
              <a:t>e.5 </a:t>
            </a:r>
          </a:p>
          <a:p>
            <a:r>
              <a:rPr lang="es-MX" sz="800" dirty="0"/>
              <a:t>F.6	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8D4E491-79E2-42B3-802A-A51DEA884034}"/>
              </a:ext>
            </a:extLst>
          </p:cNvPr>
          <p:cNvSpPr txBox="1"/>
          <p:nvPr/>
        </p:nvSpPr>
        <p:spPr>
          <a:xfrm>
            <a:off x="5762548" y="4990671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8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4ADF2B30-B92E-460D-8EBF-1EFF77BAA972}"/>
              </a:ext>
            </a:extLst>
          </p:cNvPr>
          <p:cNvSpPr txBox="1"/>
          <p:nvPr/>
        </p:nvSpPr>
        <p:spPr>
          <a:xfrm>
            <a:off x="6016866" y="4987543"/>
            <a:ext cx="893707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PROMEDIO DE INGRESOS (S.M.L.)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C7B803A7-BB95-470D-8430-0D50CE75FF19}"/>
              </a:ext>
            </a:extLst>
          </p:cNvPr>
          <p:cNvSpPr txBox="1"/>
          <p:nvPr/>
        </p:nvSpPr>
        <p:spPr>
          <a:xfrm>
            <a:off x="6976131" y="4992570"/>
            <a:ext cx="1186084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Mínimo Legal (S.M.L.)</a:t>
            </a:r>
          </a:p>
          <a:p>
            <a:r>
              <a:rPr lang="es-MX" sz="800" dirty="0"/>
              <a:t>b. </a:t>
            </a:r>
            <a:r>
              <a:rPr lang="pt-BR" sz="800" dirty="0"/>
              <a:t>Entre 1 a 3 S.M.L.</a:t>
            </a:r>
            <a:r>
              <a:rPr lang="es-MX" sz="800" dirty="0"/>
              <a:t>	</a:t>
            </a:r>
          </a:p>
          <a:p>
            <a:r>
              <a:rPr lang="es-MX" sz="800" dirty="0"/>
              <a:t>c. </a:t>
            </a:r>
            <a:r>
              <a:rPr lang="pt-BR" sz="800" dirty="0"/>
              <a:t>Entre 4 a 5 S.M.L.</a:t>
            </a:r>
            <a:r>
              <a:rPr lang="es-MX" sz="800" dirty="0"/>
              <a:t>	</a:t>
            </a:r>
          </a:p>
          <a:p>
            <a:r>
              <a:rPr lang="es-MX" sz="800" dirty="0"/>
              <a:t>d. Entre 5 y 6 S.M.L.	</a:t>
            </a:r>
          </a:p>
          <a:p>
            <a:r>
              <a:rPr lang="es-MX" sz="800" dirty="0"/>
              <a:t>e. </a:t>
            </a:r>
            <a:r>
              <a:rPr lang="pt-BR" sz="800" dirty="0"/>
              <a:t>Mas de 7 S.M.L.</a:t>
            </a:r>
            <a:r>
              <a:rPr lang="es-MX" sz="800" dirty="0"/>
              <a:t>	</a:t>
            </a: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60D7126F-3250-4E3E-B883-729A78E8DC13}"/>
              </a:ext>
            </a:extLst>
          </p:cNvPr>
          <p:cNvSpPr txBox="1"/>
          <p:nvPr/>
        </p:nvSpPr>
        <p:spPr>
          <a:xfrm>
            <a:off x="8376286" y="5076501"/>
            <a:ext cx="20269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9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D41E4A31-17E8-4339-9E66-DF0E21EA3419}"/>
              </a:ext>
            </a:extLst>
          </p:cNvPr>
          <p:cNvSpPr txBox="1"/>
          <p:nvPr/>
        </p:nvSpPr>
        <p:spPr>
          <a:xfrm>
            <a:off x="8674200" y="5076501"/>
            <a:ext cx="804389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ANTIGÜEDAD EN LA EMPRESA</a:t>
            </a:r>
            <a:endParaRPr lang="es-MX" sz="800" dirty="0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5736E729-5F72-4E6E-894C-05CA8813FD36}"/>
              </a:ext>
            </a:extLst>
          </p:cNvPr>
          <p:cNvSpPr txBox="1"/>
          <p:nvPr/>
        </p:nvSpPr>
        <p:spPr>
          <a:xfrm>
            <a:off x="9534974" y="5098393"/>
            <a:ext cx="1186084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Menos de 1 año</a:t>
            </a:r>
          </a:p>
          <a:p>
            <a:r>
              <a:rPr lang="es-MX" sz="800" dirty="0"/>
              <a:t>b. De 1 a 5 años	</a:t>
            </a:r>
          </a:p>
          <a:p>
            <a:r>
              <a:rPr lang="es-MX" sz="800" dirty="0"/>
              <a:t>c. De 5 a 10 años	</a:t>
            </a:r>
          </a:p>
          <a:p>
            <a:r>
              <a:rPr lang="es-MX" sz="800" dirty="0"/>
              <a:t>d. De 10 a 15 años	</a:t>
            </a:r>
          </a:p>
          <a:p>
            <a:r>
              <a:rPr lang="es-MX" sz="800" dirty="0"/>
              <a:t>e. Más de 15 años	</a:t>
            </a:r>
          </a:p>
        </p:txBody>
      </p:sp>
    </p:spTree>
    <p:extLst>
      <p:ext uri="{BB962C8B-B14F-4D97-AF65-F5344CB8AC3E}">
        <p14:creationId xmlns:p14="http://schemas.microsoft.com/office/powerpoint/2010/main" val="39296384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71060" y="2169561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Descripción sociodemográfico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5" y="2605617"/>
            <a:ext cx="58763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sz="800" dirty="0"/>
              <a:t>Fecha: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95981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207658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63915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891966" y="591814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1B92BAB-8B87-454F-810F-7D17D107F584}"/>
              </a:ext>
            </a:extLst>
          </p:cNvPr>
          <p:cNvSpPr txBox="1"/>
          <p:nvPr/>
        </p:nvSpPr>
        <p:spPr>
          <a:xfrm>
            <a:off x="1880828" y="2600454"/>
            <a:ext cx="11792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2695867F-2C2B-4124-825E-1BF372C008D4}"/>
              </a:ext>
            </a:extLst>
          </p:cNvPr>
          <p:cNvSpPr txBox="1"/>
          <p:nvPr/>
        </p:nvSpPr>
        <p:spPr>
          <a:xfrm>
            <a:off x="1271057" y="2894896"/>
            <a:ext cx="191367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Encuesta Perfil sociodemográfico 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72CAB891-1837-4209-9E44-31312AF4B7CF}"/>
              </a:ext>
            </a:extLst>
          </p:cNvPr>
          <p:cNvSpPr txBox="1"/>
          <p:nvPr/>
        </p:nvSpPr>
        <p:spPr>
          <a:xfrm>
            <a:off x="3256703" y="2891397"/>
            <a:ext cx="216717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Código: FR-SST-PD-046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288A66EF-18E7-4816-BEA0-9A6345B6D9A7}"/>
              </a:ext>
            </a:extLst>
          </p:cNvPr>
          <p:cNvSpPr txBox="1"/>
          <p:nvPr/>
        </p:nvSpPr>
        <p:spPr>
          <a:xfrm>
            <a:off x="5495845" y="2891397"/>
            <a:ext cx="191429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Fecha de aprobación:</a:t>
            </a:r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D879C29-A77A-4F0E-B6BB-11D47896D266}"/>
              </a:ext>
            </a:extLst>
          </p:cNvPr>
          <p:cNvSpPr txBox="1"/>
          <p:nvPr/>
        </p:nvSpPr>
        <p:spPr>
          <a:xfrm>
            <a:off x="7497719" y="2891397"/>
            <a:ext cx="197621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Versión: 01</a:t>
            </a:r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CAB57253-8469-4605-BDA1-7F36F1EBA19D}"/>
              </a:ext>
            </a:extLst>
          </p:cNvPr>
          <p:cNvSpPr txBox="1"/>
          <p:nvPr/>
        </p:nvSpPr>
        <p:spPr>
          <a:xfrm>
            <a:off x="9561513" y="2891397"/>
            <a:ext cx="197621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Pagina 1 de 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2762590-08A4-4BAA-AB1E-32494EE0045B}"/>
              </a:ext>
            </a:extLst>
          </p:cNvPr>
          <p:cNvSpPr txBox="1"/>
          <p:nvPr/>
        </p:nvSpPr>
        <p:spPr>
          <a:xfrm>
            <a:off x="4806316" y="2506257"/>
            <a:ext cx="31848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>
                <a:solidFill>
                  <a:srgbClr val="FF0000"/>
                </a:solidFill>
              </a:rPr>
              <a:t>Nota: esta encuesta estaría disponible en el portal de empleados</a:t>
            </a:r>
            <a:endParaRPr lang="es-CO" sz="800" dirty="0">
              <a:solidFill>
                <a:srgbClr val="FF0000"/>
              </a:solidFill>
            </a:endParaRP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60D7126F-3250-4E3E-B883-729A78E8DC13}"/>
              </a:ext>
            </a:extLst>
          </p:cNvPr>
          <p:cNvSpPr txBox="1"/>
          <p:nvPr/>
        </p:nvSpPr>
        <p:spPr>
          <a:xfrm>
            <a:off x="1271057" y="3351623"/>
            <a:ext cx="2846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10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D41E4A31-17E8-4339-9E66-DF0E21EA3419}"/>
              </a:ext>
            </a:extLst>
          </p:cNvPr>
          <p:cNvSpPr txBox="1"/>
          <p:nvPr/>
        </p:nvSpPr>
        <p:spPr>
          <a:xfrm>
            <a:off x="1628891" y="3351623"/>
            <a:ext cx="811306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ANTIGÜEDAD EN EL CARGO ACTUAL</a:t>
            </a:r>
            <a:endParaRPr lang="es-MX" sz="800" dirty="0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5736E729-5F72-4E6E-894C-05CA8813FD36}"/>
              </a:ext>
            </a:extLst>
          </p:cNvPr>
          <p:cNvSpPr txBox="1"/>
          <p:nvPr/>
        </p:nvSpPr>
        <p:spPr>
          <a:xfrm>
            <a:off x="2473332" y="3336234"/>
            <a:ext cx="1179229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Menos de 1 año</a:t>
            </a:r>
          </a:p>
          <a:p>
            <a:r>
              <a:rPr lang="es-MX" sz="800" dirty="0"/>
              <a:t>b. De 1 a 5 años	</a:t>
            </a:r>
          </a:p>
          <a:p>
            <a:r>
              <a:rPr lang="es-MX" sz="800" dirty="0"/>
              <a:t>c. De 5 a 10 años	</a:t>
            </a:r>
          </a:p>
          <a:p>
            <a:r>
              <a:rPr lang="es-MX" sz="800" dirty="0"/>
              <a:t>d. De 10 a 15 años	</a:t>
            </a:r>
          </a:p>
          <a:p>
            <a:r>
              <a:rPr lang="es-MX" sz="800" dirty="0"/>
              <a:t>e. Más de 15 años	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1DA2BF7-CB1C-4B54-AC91-D4316459B4A0}"/>
              </a:ext>
            </a:extLst>
          </p:cNvPr>
          <p:cNvSpPr txBox="1"/>
          <p:nvPr/>
        </p:nvSpPr>
        <p:spPr>
          <a:xfrm>
            <a:off x="3762816" y="3361812"/>
            <a:ext cx="29639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11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15DAEEB-C4B4-4C97-BC0F-C32172F7BD66}"/>
              </a:ext>
            </a:extLst>
          </p:cNvPr>
          <p:cNvSpPr txBox="1"/>
          <p:nvPr/>
        </p:nvSpPr>
        <p:spPr>
          <a:xfrm>
            <a:off x="4096446" y="3361812"/>
            <a:ext cx="866810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TIPO DE CONTRATACIÓN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7FA0891-BCA1-4F36-957F-3C9FB51235E4}"/>
              </a:ext>
            </a:extLst>
          </p:cNvPr>
          <p:cNvSpPr txBox="1"/>
          <p:nvPr/>
        </p:nvSpPr>
        <p:spPr>
          <a:xfrm>
            <a:off x="4977243" y="3361812"/>
            <a:ext cx="1179229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a. Obra Labor</a:t>
            </a:r>
          </a:p>
          <a:p>
            <a:r>
              <a:rPr lang="es-MX" sz="800" dirty="0"/>
              <a:t>b. Fijo a un Año	</a:t>
            </a:r>
          </a:p>
          <a:p>
            <a:r>
              <a:rPr lang="es-MX" sz="800" dirty="0"/>
              <a:t>c. indefinido	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0A96BE4-0D3F-40EC-BBC9-48B57F071309}"/>
              </a:ext>
            </a:extLst>
          </p:cNvPr>
          <p:cNvSpPr txBox="1"/>
          <p:nvPr/>
        </p:nvSpPr>
        <p:spPr>
          <a:xfrm>
            <a:off x="6248071" y="3370386"/>
            <a:ext cx="29038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12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0E0D16E-529A-4855-B2B1-A7319BF3C732}"/>
              </a:ext>
            </a:extLst>
          </p:cNvPr>
          <p:cNvSpPr txBox="1"/>
          <p:nvPr/>
        </p:nvSpPr>
        <p:spPr>
          <a:xfrm>
            <a:off x="6601217" y="3367748"/>
            <a:ext cx="1238944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CONSENTIMIENTO INFORMADO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D3E570B4-409D-4934-9556-5A8CC9FBE6D0}"/>
              </a:ext>
            </a:extLst>
          </p:cNvPr>
          <p:cNvSpPr txBox="1"/>
          <p:nvPr/>
        </p:nvSpPr>
        <p:spPr>
          <a:xfrm>
            <a:off x="7927941" y="3369386"/>
            <a:ext cx="3609790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Ley 1581 de 2012: de protección de datos personales,  es una ley que complementa la regulación vigente para la protección del derecho fundamental que tienen todas las personas naturales a autorizar la información personal que es almacenada en bases de datos o archivos, así como su posterior actualización y rectificación.	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D6E5AD0-DA4B-4390-93D7-555CA1A017BA}"/>
              </a:ext>
            </a:extLst>
          </p:cNvPr>
          <p:cNvSpPr txBox="1"/>
          <p:nvPr/>
        </p:nvSpPr>
        <p:spPr>
          <a:xfrm>
            <a:off x="936145" y="591814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7215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Descripción sociodemográfico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071" y="448503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4A908A-B7E7-4188-83A3-94E841895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438" y="2977014"/>
            <a:ext cx="1940705" cy="254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183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41488" y="2277206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Promoción y prevención 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9470455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Promoción y prevención en salud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4776870" y="310960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Actividad: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6269264" y="3109687"/>
            <a:ext cx="189547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Promoción </a:t>
            </a:r>
          </a:p>
          <a:p>
            <a:r>
              <a:rPr lang="es-MX" sz="800" dirty="0"/>
              <a:t>Prevención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311055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741708" y="3109600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498280" y="5911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485073" y="5911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471866" y="5911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525381" y="591185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82F1D5F-4D72-4E96-8CC1-1467509FEE96}"/>
              </a:ext>
            </a:extLst>
          </p:cNvPr>
          <p:cNvSpPr txBox="1"/>
          <p:nvPr/>
        </p:nvSpPr>
        <p:spPr>
          <a:xfrm>
            <a:off x="8375678" y="392749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Empresa responsable: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A01545C-9C6B-496F-A9A1-EAC664E1ECD6}"/>
              </a:ext>
            </a:extLst>
          </p:cNvPr>
          <p:cNvSpPr txBox="1"/>
          <p:nvPr/>
        </p:nvSpPr>
        <p:spPr>
          <a:xfrm>
            <a:off x="9831014" y="3927497"/>
            <a:ext cx="1790469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Salud Total</a:t>
            </a:r>
          </a:p>
          <a:p>
            <a:r>
              <a:rPr lang="es-MX" sz="800" dirty="0"/>
              <a:t>Comfama</a:t>
            </a:r>
          </a:p>
          <a:p>
            <a:r>
              <a:rPr lang="es-MX" sz="800" dirty="0"/>
              <a:t>Nutrición Vital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57FE348-1D29-44C2-BD16-8638F8D3C9A0}"/>
              </a:ext>
            </a:extLst>
          </p:cNvPr>
          <p:cNvSpPr txBox="1"/>
          <p:nvPr/>
        </p:nvSpPr>
        <p:spPr>
          <a:xfrm>
            <a:off x="1270991" y="3536812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Hora: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47A711E-7898-4733-8DFC-73D78B274B3D}"/>
              </a:ext>
            </a:extLst>
          </p:cNvPr>
          <p:cNvSpPr txBox="1"/>
          <p:nvPr/>
        </p:nvSpPr>
        <p:spPr>
          <a:xfrm>
            <a:off x="2774698" y="3531877"/>
            <a:ext cx="186248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CAF30687-EE56-4033-B164-E88151FF1E16}"/>
              </a:ext>
            </a:extLst>
          </p:cNvPr>
          <p:cNvSpPr txBox="1"/>
          <p:nvPr/>
        </p:nvSpPr>
        <p:spPr>
          <a:xfrm>
            <a:off x="4883772" y="39356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Departamento: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7BD5CC7-5224-43BA-82E9-79751CF8AEC6}"/>
              </a:ext>
            </a:extLst>
          </p:cNvPr>
          <p:cNvSpPr txBox="1"/>
          <p:nvPr/>
        </p:nvSpPr>
        <p:spPr>
          <a:xfrm>
            <a:off x="6363049" y="3935624"/>
            <a:ext cx="189547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Seguridad y salud en el trabajo</a:t>
            </a:r>
          </a:p>
          <a:p>
            <a:r>
              <a:rPr lang="es-MX" sz="800" dirty="0"/>
              <a:t>Gestión Humana</a:t>
            </a:r>
          </a:p>
          <a:p>
            <a:r>
              <a:rPr lang="es-MX" sz="800" dirty="0"/>
              <a:t>Gerencia</a:t>
            </a:r>
          </a:p>
          <a:p>
            <a:r>
              <a:rPr lang="es-MX" sz="800" dirty="0"/>
              <a:t>Comercial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6FD68B-663D-413E-9279-5D54CB330C39}"/>
              </a:ext>
            </a:extLst>
          </p:cNvPr>
          <p:cNvSpPr txBox="1"/>
          <p:nvPr/>
        </p:nvSpPr>
        <p:spPr>
          <a:xfrm>
            <a:off x="3892062" y="2063262"/>
            <a:ext cx="43941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rgbClr val="FF0000"/>
                </a:solidFill>
              </a:rPr>
              <a:t>La invitación estarán disponibles en el portal de empleados  </a:t>
            </a:r>
            <a:endParaRPr lang="es-CO" sz="1200" dirty="0">
              <a:solidFill>
                <a:srgbClr val="FF0000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5048060-76BB-41F6-9F1F-F04B0185F3ED}"/>
              </a:ext>
            </a:extLst>
          </p:cNvPr>
          <p:cNvSpPr txBox="1"/>
          <p:nvPr/>
        </p:nvSpPr>
        <p:spPr>
          <a:xfrm>
            <a:off x="8286249" y="310819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Campaña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09B31BE-D0D9-4119-A3C1-44FCDD4B87A0}"/>
              </a:ext>
            </a:extLst>
          </p:cNvPr>
          <p:cNvSpPr txBox="1"/>
          <p:nvPr/>
        </p:nvSpPr>
        <p:spPr>
          <a:xfrm>
            <a:off x="9761171" y="3108198"/>
            <a:ext cx="1790469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Odontológica</a:t>
            </a:r>
          </a:p>
          <a:p>
            <a:r>
              <a:rPr lang="es-MX" sz="800" dirty="0"/>
              <a:t>Visionaria</a:t>
            </a:r>
          </a:p>
          <a:p>
            <a:r>
              <a:rPr lang="es-MX" sz="800" dirty="0"/>
              <a:t>Nutrición</a:t>
            </a:r>
          </a:p>
          <a:p>
            <a:r>
              <a:rPr lang="es-MX" sz="800" dirty="0"/>
              <a:t>Optometría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3271E70-C80B-4B6A-9C5F-C000D3AFD5EE}"/>
              </a:ext>
            </a:extLst>
          </p:cNvPr>
          <p:cNvSpPr txBox="1"/>
          <p:nvPr/>
        </p:nvSpPr>
        <p:spPr>
          <a:xfrm>
            <a:off x="1284964" y="3927595"/>
            <a:ext cx="14198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Lugar: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FE98A81-4058-4CED-8E92-904787C6B5F5}"/>
              </a:ext>
            </a:extLst>
          </p:cNvPr>
          <p:cNvSpPr txBox="1"/>
          <p:nvPr/>
        </p:nvSpPr>
        <p:spPr>
          <a:xfrm>
            <a:off x="2774697" y="3927595"/>
            <a:ext cx="186248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CEF5EE9-3F74-4585-815B-42FF775167C4}"/>
              </a:ext>
            </a:extLst>
          </p:cNvPr>
          <p:cNvSpPr txBox="1"/>
          <p:nvPr/>
        </p:nvSpPr>
        <p:spPr>
          <a:xfrm>
            <a:off x="1284964" y="4446945"/>
            <a:ext cx="14198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Evidencia fotográfica: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9921EE9-4702-42CD-B0AE-20C1E9479E5D}"/>
              </a:ext>
            </a:extLst>
          </p:cNvPr>
          <p:cNvSpPr txBox="1"/>
          <p:nvPr/>
        </p:nvSpPr>
        <p:spPr>
          <a:xfrm>
            <a:off x="2774697" y="4446945"/>
            <a:ext cx="186248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Adjuntar Archivo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BF1A2BC-311E-4FB3-A00F-3E9C42CEEBED}"/>
              </a:ext>
            </a:extLst>
          </p:cNvPr>
          <p:cNvSpPr txBox="1"/>
          <p:nvPr/>
        </p:nvSpPr>
        <p:spPr>
          <a:xfrm>
            <a:off x="1698806" y="5911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8857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90031" y="2708195"/>
            <a:ext cx="130842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Perfil del cargo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0945573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Perfil del cargo</a:t>
            </a:r>
            <a:endParaRPr lang="es-CO" sz="11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1284964" y="2716854"/>
            <a:ext cx="18954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Nombre empleado: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09B31BE-D0D9-4119-A3C1-44FCDD4B87A0}"/>
              </a:ext>
            </a:extLst>
          </p:cNvPr>
          <p:cNvSpPr txBox="1"/>
          <p:nvPr/>
        </p:nvSpPr>
        <p:spPr>
          <a:xfrm>
            <a:off x="3215119" y="2716854"/>
            <a:ext cx="17904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F690377-EF64-408B-8904-8C627B951563}"/>
              </a:ext>
            </a:extLst>
          </p:cNvPr>
          <p:cNvSpPr txBox="1"/>
          <p:nvPr/>
        </p:nvSpPr>
        <p:spPr>
          <a:xfrm>
            <a:off x="1325478" y="3035646"/>
            <a:ext cx="8453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Cargo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71788BB-330C-4F0E-A6F8-8CA4E8A6FF6F}"/>
              </a:ext>
            </a:extLst>
          </p:cNvPr>
          <p:cNvSpPr txBox="1"/>
          <p:nvPr/>
        </p:nvSpPr>
        <p:spPr>
          <a:xfrm>
            <a:off x="2220308" y="3047143"/>
            <a:ext cx="8453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Riesgo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ACACDD8-9E46-46F7-B492-F6AC13FE0865}"/>
              </a:ext>
            </a:extLst>
          </p:cNvPr>
          <p:cNvSpPr txBox="1"/>
          <p:nvPr/>
        </p:nvSpPr>
        <p:spPr>
          <a:xfrm>
            <a:off x="3131734" y="3047143"/>
            <a:ext cx="116074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Descripción del riesgo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26927BF-91D5-4920-A155-FDF3834BA391}"/>
              </a:ext>
            </a:extLst>
          </p:cNvPr>
          <p:cNvSpPr txBox="1"/>
          <p:nvPr/>
        </p:nvSpPr>
        <p:spPr>
          <a:xfrm>
            <a:off x="4350308" y="3047143"/>
            <a:ext cx="94932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Porcentaje riesgo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7C4FA8E-6A5F-411B-A88B-1211BC2ED125}"/>
              </a:ext>
            </a:extLst>
          </p:cNvPr>
          <p:cNvSpPr txBox="1"/>
          <p:nvPr/>
        </p:nvSpPr>
        <p:spPr>
          <a:xfrm>
            <a:off x="5338644" y="3035646"/>
            <a:ext cx="94932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Centro de trabajo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340CEF5-019D-4BBB-808F-A146A0FABED1}"/>
              </a:ext>
            </a:extLst>
          </p:cNvPr>
          <p:cNvSpPr txBox="1"/>
          <p:nvPr/>
        </p:nvSpPr>
        <p:spPr>
          <a:xfrm>
            <a:off x="6354004" y="3035646"/>
            <a:ext cx="8453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Sede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08F9B02-3179-4B21-AE39-87B6076BABB3}"/>
              </a:ext>
            </a:extLst>
          </p:cNvPr>
          <p:cNvSpPr txBox="1"/>
          <p:nvPr/>
        </p:nvSpPr>
        <p:spPr>
          <a:xfrm>
            <a:off x="7257223" y="3035646"/>
            <a:ext cx="103805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Dependencia /área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DBBD598-000E-4B4E-8D6A-AC060FAA550E}"/>
              </a:ext>
            </a:extLst>
          </p:cNvPr>
          <p:cNvSpPr txBox="1"/>
          <p:nvPr/>
        </p:nvSpPr>
        <p:spPr>
          <a:xfrm>
            <a:off x="8406684" y="3039263"/>
            <a:ext cx="114154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Nivel del cargo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39B24D2-B1C6-4760-9E54-FF617F6785F5}"/>
              </a:ext>
            </a:extLst>
          </p:cNvPr>
          <p:cNvSpPr txBox="1"/>
          <p:nvPr/>
        </p:nvSpPr>
        <p:spPr>
          <a:xfrm>
            <a:off x="1330046" y="3299309"/>
            <a:ext cx="84538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Cajero (A)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898994D-CF36-484F-BDCA-C74D08F5104E}"/>
              </a:ext>
            </a:extLst>
          </p:cNvPr>
          <p:cNvSpPr txBox="1"/>
          <p:nvPr/>
        </p:nvSpPr>
        <p:spPr>
          <a:xfrm>
            <a:off x="2224876" y="3310806"/>
            <a:ext cx="84538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1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119753A-B675-4078-A566-A50748D85DF4}"/>
              </a:ext>
            </a:extLst>
          </p:cNvPr>
          <p:cNvSpPr txBox="1"/>
          <p:nvPr/>
        </p:nvSpPr>
        <p:spPr>
          <a:xfrm>
            <a:off x="3136302" y="3301016"/>
            <a:ext cx="1184210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Actividades de Riesgo </a:t>
            </a:r>
            <a:r>
              <a:rPr lang="es-CO" sz="800" dirty="0" err="1"/>
              <a:t>Minímo</a:t>
            </a:r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8937A67-B5AC-4B6A-BB91-DC06F2E4EF78}"/>
              </a:ext>
            </a:extLst>
          </p:cNvPr>
          <p:cNvSpPr txBox="1"/>
          <p:nvPr/>
        </p:nvSpPr>
        <p:spPr>
          <a:xfrm>
            <a:off x="4363136" y="3299309"/>
            <a:ext cx="94932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0,522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1E1EDD6-52AB-4CBE-BDB8-6B21CAFF0DB4}"/>
              </a:ext>
            </a:extLst>
          </p:cNvPr>
          <p:cNvSpPr txBox="1"/>
          <p:nvPr/>
        </p:nvSpPr>
        <p:spPr>
          <a:xfrm>
            <a:off x="5343212" y="3299309"/>
            <a:ext cx="94932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Centro 1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A9C5809-0E89-4A55-A94F-3CFFAFDC2BB1}"/>
              </a:ext>
            </a:extLst>
          </p:cNvPr>
          <p:cNvSpPr txBox="1"/>
          <p:nvPr/>
        </p:nvSpPr>
        <p:spPr>
          <a:xfrm>
            <a:off x="6358572" y="3299309"/>
            <a:ext cx="84538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Almacén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58AA701-988A-4A6E-BD05-504E4D78BF39}"/>
              </a:ext>
            </a:extLst>
          </p:cNvPr>
          <p:cNvSpPr txBox="1"/>
          <p:nvPr/>
        </p:nvSpPr>
        <p:spPr>
          <a:xfrm>
            <a:off x="7261791" y="3299309"/>
            <a:ext cx="103805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Comercial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589740C-1E34-44DC-AC79-28BD26E79014}"/>
              </a:ext>
            </a:extLst>
          </p:cNvPr>
          <p:cNvSpPr txBox="1"/>
          <p:nvPr/>
        </p:nvSpPr>
        <p:spPr>
          <a:xfrm>
            <a:off x="8411252" y="3302926"/>
            <a:ext cx="114154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Cajero (A)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26687FF-574A-4DAB-959F-929A9DDA60F9}"/>
              </a:ext>
            </a:extLst>
          </p:cNvPr>
          <p:cNvSpPr txBox="1"/>
          <p:nvPr/>
        </p:nvSpPr>
        <p:spPr>
          <a:xfrm>
            <a:off x="1450695" y="3686557"/>
            <a:ext cx="11620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Objetivo Cargo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060FC7C-C096-4661-B353-5F8DA65C2F1D}"/>
              </a:ext>
            </a:extLst>
          </p:cNvPr>
          <p:cNvSpPr txBox="1"/>
          <p:nvPr/>
        </p:nvSpPr>
        <p:spPr>
          <a:xfrm>
            <a:off x="2675102" y="3694764"/>
            <a:ext cx="11620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 Fecha Creación 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4DB738D-20FF-4C38-B051-83D96963C71F}"/>
              </a:ext>
            </a:extLst>
          </p:cNvPr>
          <p:cNvSpPr txBox="1"/>
          <p:nvPr/>
        </p:nvSpPr>
        <p:spPr>
          <a:xfrm>
            <a:off x="3899510" y="3692715"/>
            <a:ext cx="11620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Fecha Modificación 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A584E8A6-B453-49A8-9A32-16B51E215D48}"/>
              </a:ext>
            </a:extLst>
          </p:cNvPr>
          <p:cNvSpPr txBox="1"/>
          <p:nvPr/>
        </p:nvSpPr>
        <p:spPr>
          <a:xfrm>
            <a:off x="5113322" y="3699466"/>
            <a:ext cx="153106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Cargo Jefe Inmediato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CCB1DC2-6D70-49DB-B647-18C3D3139AF9}"/>
              </a:ext>
            </a:extLst>
          </p:cNvPr>
          <p:cNvSpPr txBox="1"/>
          <p:nvPr/>
        </p:nvSpPr>
        <p:spPr>
          <a:xfrm>
            <a:off x="6685633" y="3694764"/>
            <a:ext cx="167039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Necesidades Especificas Salud</a:t>
            </a:r>
            <a:endParaRPr lang="es-MX" sz="8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9C9C93CB-6DD9-40D5-9D90-A4741B43828A}"/>
              </a:ext>
            </a:extLst>
          </p:cNvPr>
          <p:cNvSpPr txBox="1"/>
          <p:nvPr/>
        </p:nvSpPr>
        <p:spPr>
          <a:xfrm>
            <a:off x="8406684" y="3694764"/>
            <a:ext cx="167039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Observaciones Generales del Cargo</a:t>
            </a:r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D4C8060D-918F-4CC1-B117-C16055F87C16}"/>
              </a:ext>
            </a:extLst>
          </p:cNvPr>
          <p:cNvSpPr txBox="1"/>
          <p:nvPr/>
        </p:nvSpPr>
        <p:spPr>
          <a:xfrm>
            <a:off x="10178389" y="3686557"/>
            <a:ext cx="115163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Relación Cargo</a:t>
            </a:r>
            <a:endParaRPr lang="es-MX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1B940B7E-4DBE-481B-ACFA-96B33CA38C70}"/>
              </a:ext>
            </a:extLst>
          </p:cNvPr>
          <p:cNvSpPr txBox="1"/>
          <p:nvPr/>
        </p:nvSpPr>
        <p:spPr>
          <a:xfrm>
            <a:off x="1450769" y="3958427"/>
            <a:ext cx="1162041" cy="243143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Garantizar las operaciones de caja registradora o sistemas POS, efectuando actividades de recepción, entrega y custodia de dinero en efectivo, </a:t>
            </a:r>
            <a:r>
              <a:rPr lang="es-MX" sz="800" dirty="0" err="1"/>
              <a:t>bauchers</a:t>
            </a:r>
            <a:r>
              <a:rPr lang="es-MX" sz="800" dirty="0"/>
              <a:t>, recibos, paz y salvos, separados, créditos, cierres y demás documentos de valor, a fin de lograr la recaudación de ingresos a la institución y la cancelación de los pagos que correspondan a través de caja.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C04AA952-2093-4319-AD57-2590CC454B19}"/>
              </a:ext>
            </a:extLst>
          </p:cNvPr>
          <p:cNvSpPr txBox="1"/>
          <p:nvPr/>
        </p:nvSpPr>
        <p:spPr>
          <a:xfrm>
            <a:off x="2675176" y="3966634"/>
            <a:ext cx="1162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22/02/2018</a:t>
            </a:r>
            <a:endParaRPr lang="es-MX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C39899F-EDB2-418F-8837-86CA65C7B2D0}"/>
              </a:ext>
            </a:extLst>
          </p:cNvPr>
          <p:cNvSpPr txBox="1"/>
          <p:nvPr/>
        </p:nvSpPr>
        <p:spPr>
          <a:xfrm>
            <a:off x="3899584" y="3964585"/>
            <a:ext cx="1162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18/07/2018 </a:t>
            </a:r>
            <a:endParaRPr lang="es-MX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D49B35AE-0FFD-4942-884D-18C422811198}"/>
              </a:ext>
            </a:extLst>
          </p:cNvPr>
          <p:cNvSpPr txBox="1"/>
          <p:nvPr/>
        </p:nvSpPr>
        <p:spPr>
          <a:xfrm>
            <a:off x="5113396" y="3971336"/>
            <a:ext cx="153106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JEFE DE PERSONAL</a:t>
            </a:r>
            <a:endParaRPr lang="es-MX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46F66F6D-85EA-4513-A1D4-5BF22374FBE6}"/>
              </a:ext>
            </a:extLst>
          </p:cNvPr>
          <p:cNvSpPr txBox="1"/>
          <p:nvPr/>
        </p:nvSpPr>
        <p:spPr>
          <a:xfrm>
            <a:off x="6685707" y="3966634"/>
            <a:ext cx="1670397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Encontrarse en adecuadas condiciones físicas habilidades finas y gruesas óptimo estado de salud mental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A5BD8D3F-AB7A-4B90-80D2-A6A127BAA32D}"/>
              </a:ext>
            </a:extLst>
          </p:cNvPr>
          <p:cNvSpPr txBox="1"/>
          <p:nvPr/>
        </p:nvSpPr>
        <p:spPr>
          <a:xfrm>
            <a:off x="8406758" y="3966634"/>
            <a:ext cx="1670397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Tratar en forma cortés y efectiva con el público en general. Realizar cálculos aritméticos. Realizar arqueos diarios de movimiento de caja.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617DA879-EF8E-4B6C-8446-94B5331B8758}"/>
              </a:ext>
            </a:extLst>
          </p:cNvPr>
          <p:cNvSpPr txBox="1"/>
          <p:nvPr/>
        </p:nvSpPr>
        <p:spPr>
          <a:xfrm>
            <a:off x="10178463" y="3958427"/>
            <a:ext cx="1151631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Dueños, Clientes, Compañero de Trabajo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1DDE3BF8-16EE-4404-92FC-2AA3661D0744}"/>
              </a:ext>
            </a:extLst>
          </p:cNvPr>
          <p:cNvSpPr txBox="1"/>
          <p:nvPr/>
        </p:nvSpPr>
        <p:spPr>
          <a:xfrm>
            <a:off x="6263363" y="2700488"/>
            <a:ext cx="18954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Cedula: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81A3361F-F37E-4C71-98C9-68BB4B436717}"/>
              </a:ext>
            </a:extLst>
          </p:cNvPr>
          <p:cNvSpPr txBox="1"/>
          <p:nvPr/>
        </p:nvSpPr>
        <p:spPr>
          <a:xfrm>
            <a:off x="8193518" y="2700488"/>
            <a:ext cx="17904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07519127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Perfil del cargo</a:t>
            </a:r>
            <a:endParaRPr lang="es-CO" sz="11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09B31BE-D0D9-4119-A3C1-44FCDD4B87A0}"/>
              </a:ext>
            </a:extLst>
          </p:cNvPr>
          <p:cNvSpPr txBox="1"/>
          <p:nvPr/>
        </p:nvSpPr>
        <p:spPr>
          <a:xfrm>
            <a:off x="1293829" y="2733500"/>
            <a:ext cx="1025781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/>
              <a:t>COLABORADORES DEL CARGO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E913315D-D9F3-4010-9CCA-AD151243F430}"/>
              </a:ext>
            </a:extLst>
          </p:cNvPr>
          <p:cNvSpPr txBox="1"/>
          <p:nvPr/>
        </p:nvSpPr>
        <p:spPr>
          <a:xfrm>
            <a:off x="1293829" y="2983037"/>
            <a:ext cx="102578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Jefe de personal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FB0200F-17BE-4A17-B3D8-D8696C31E9D2}"/>
              </a:ext>
            </a:extLst>
          </p:cNvPr>
          <p:cNvSpPr txBox="1"/>
          <p:nvPr/>
        </p:nvSpPr>
        <p:spPr>
          <a:xfrm>
            <a:off x="1289396" y="3232574"/>
            <a:ext cx="102578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Administrador de tienda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4732F8FD-414E-42E0-9750-1A3ECF583DF5}"/>
              </a:ext>
            </a:extLst>
          </p:cNvPr>
          <p:cNvSpPr txBox="1"/>
          <p:nvPr/>
        </p:nvSpPr>
        <p:spPr>
          <a:xfrm>
            <a:off x="1289396" y="3482111"/>
            <a:ext cx="102578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Asesor (a) Comercial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68DEDE67-5878-4E61-AE6E-0FE7D9DFCF1A}"/>
              </a:ext>
            </a:extLst>
          </p:cNvPr>
          <p:cNvSpPr txBox="1"/>
          <p:nvPr/>
        </p:nvSpPr>
        <p:spPr>
          <a:xfrm>
            <a:off x="1293829" y="3731648"/>
            <a:ext cx="102578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Auxiliar contable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A74351DF-EDD2-43FC-9ABE-FE793DCD5520}"/>
              </a:ext>
            </a:extLst>
          </p:cNvPr>
          <p:cNvSpPr txBox="1"/>
          <p:nvPr/>
        </p:nvSpPr>
        <p:spPr>
          <a:xfrm>
            <a:off x="1293829" y="4264815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Tipo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09B12A8A-953D-4637-8EEF-125C440D4371}"/>
              </a:ext>
            </a:extLst>
          </p:cNvPr>
          <p:cNvSpPr txBox="1"/>
          <p:nvPr/>
        </p:nvSpPr>
        <p:spPr>
          <a:xfrm>
            <a:off x="6456833" y="4263574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Implemento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806B948-8A89-4435-8D3E-045F11975684}"/>
              </a:ext>
            </a:extLst>
          </p:cNvPr>
          <p:cNvSpPr txBox="1"/>
          <p:nvPr/>
        </p:nvSpPr>
        <p:spPr>
          <a:xfrm>
            <a:off x="1293829" y="3997611"/>
            <a:ext cx="1025781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/>
              <a:t>IMPLEMENTOS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2367D7DA-AA4C-4D5A-A870-F34DFC077CAF}"/>
              </a:ext>
            </a:extLst>
          </p:cNvPr>
          <p:cNvSpPr txBox="1"/>
          <p:nvPr/>
        </p:nvSpPr>
        <p:spPr>
          <a:xfrm>
            <a:off x="1293829" y="4529537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Dotación 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57930BD-69F7-4755-98C6-FCE45AE5E91A}"/>
              </a:ext>
            </a:extLst>
          </p:cNvPr>
          <p:cNvSpPr txBox="1"/>
          <p:nvPr/>
        </p:nvSpPr>
        <p:spPr>
          <a:xfrm>
            <a:off x="6456833" y="4528296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Pantalón 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2385330-7E9A-4BDC-9124-9EDC153E3505}"/>
              </a:ext>
            </a:extLst>
          </p:cNvPr>
          <p:cNvSpPr txBox="1"/>
          <p:nvPr/>
        </p:nvSpPr>
        <p:spPr>
          <a:xfrm>
            <a:off x="1293829" y="4793018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Dotación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346201B3-1612-4082-8A90-E71F853433A8}"/>
              </a:ext>
            </a:extLst>
          </p:cNvPr>
          <p:cNvSpPr txBox="1"/>
          <p:nvPr/>
        </p:nvSpPr>
        <p:spPr>
          <a:xfrm>
            <a:off x="6456833" y="4791777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Camisa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C74CABA3-DD2F-4312-97FA-E8467C1BF38E}"/>
              </a:ext>
            </a:extLst>
          </p:cNvPr>
          <p:cNvSpPr txBox="1"/>
          <p:nvPr/>
        </p:nvSpPr>
        <p:spPr>
          <a:xfrm>
            <a:off x="1293829" y="5055258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Dotación 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B5BCDADB-8645-4EEA-BD74-6EC2D2A70458}"/>
              </a:ext>
            </a:extLst>
          </p:cNvPr>
          <p:cNvSpPr txBox="1"/>
          <p:nvPr/>
        </p:nvSpPr>
        <p:spPr>
          <a:xfrm>
            <a:off x="6456833" y="5054017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Zapatos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90D4090A-4F64-4EF9-8FAD-32521D1464EE}"/>
              </a:ext>
            </a:extLst>
          </p:cNvPr>
          <p:cNvSpPr txBox="1"/>
          <p:nvPr/>
        </p:nvSpPr>
        <p:spPr>
          <a:xfrm>
            <a:off x="1293829" y="5353197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EPP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19FDF2D7-E1E8-46FD-966E-55544994B8FF}"/>
              </a:ext>
            </a:extLst>
          </p:cNvPr>
          <p:cNvSpPr txBox="1"/>
          <p:nvPr/>
        </p:nvSpPr>
        <p:spPr>
          <a:xfrm>
            <a:off x="6456833" y="5351956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Tapa oídos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B12BEBE3-B595-4C03-80DC-2D9F499E154E}"/>
              </a:ext>
            </a:extLst>
          </p:cNvPr>
          <p:cNvSpPr txBox="1"/>
          <p:nvPr/>
        </p:nvSpPr>
        <p:spPr>
          <a:xfrm>
            <a:off x="1293829" y="5649895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EPP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263CF1FD-0136-460C-9494-6D7001BD8F09}"/>
              </a:ext>
            </a:extLst>
          </p:cNvPr>
          <p:cNvSpPr txBox="1"/>
          <p:nvPr/>
        </p:nvSpPr>
        <p:spPr>
          <a:xfrm>
            <a:off x="6456833" y="5648654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Gafas</a:t>
            </a:r>
          </a:p>
        </p:txBody>
      </p:sp>
    </p:spTree>
    <p:extLst>
      <p:ext uri="{BB962C8B-B14F-4D97-AF65-F5344CB8AC3E}">
        <p14:creationId xmlns:p14="http://schemas.microsoft.com/office/powerpoint/2010/main" val="5697100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Perfil del cargo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371160" y="625136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224308" y="625136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211101" y="625136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264616" y="625136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A74351DF-EDD2-43FC-9ABE-FE793DCD5520}"/>
              </a:ext>
            </a:extLst>
          </p:cNvPr>
          <p:cNvSpPr txBox="1"/>
          <p:nvPr/>
        </p:nvSpPr>
        <p:spPr>
          <a:xfrm>
            <a:off x="1289040" y="4453396"/>
            <a:ext cx="102578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Audiometría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806B948-8A89-4435-8D3E-045F11975684}"/>
              </a:ext>
            </a:extLst>
          </p:cNvPr>
          <p:cNvSpPr txBox="1"/>
          <p:nvPr/>
        </p:nvSpPr>
        <p:spPr>
          <a:xfrm>
            <a:off x="1289041" y="4186192"/>
            <a:ext cx="1025781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 algn="ctr"/>
            <a:r>
              <a:rPr lang="es-MX" sz="800" b="1" dirty="0"/>
              <a:t>EXAMENES MEDICOS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2367D7DA-AA4C-4D5A-A870-F34DFC077CAF}"/>
              </a:ext>
            </a:extLst>
          </p:cNvPr>
          <p:cNvSpPr txBox="1"/>
          <p:nvPr/>
        </p:nvSpPr>
        <p:spPr>
          <a:xfrm>
            <a:off x="1289041" y="4718118"/>
            <a:ext cx="1025780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Énfasis osteomuscular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62385330-7E9A-4BDC-9124-9EDC153E3505}"/>
              </a:ext>
            </a:extLst>
          </p:cNvPr>
          <p:cNvSpPr txBox="1"/>
          <p:nvPr/>
        </p:nvSpPr>
        <p:spPr>
          <a:xfrm>
            <a:off x="1289040" y="4981599"/>
            <a:ext cx="1025780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Optometría 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C74CABA3-DD2F-4312-97FA-E8467C1BF38E}"/>
              </a:ext>
            </a:extLst>
          </p:cNvPr>
          <p:cNvSpPr txBox="1"/>
          <p:nvPr/>
        </p:nvSpPr>
        <p:spPr>
          <a:xfrm>
            <a:off x="1289040" y="5243839"/>
            <a:ext cx="1025780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Espirometría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90D4090A-4F64-4EF9-8FAD-32521D1464EE}"/>
              </a:ext>
            </a:extLst>
          </p:cNvPr>
          <p:cNvSpPr txBox="1"/>
          <p:nvPr/>
        </p:nvSpPr>
        <p:spPr>
          <a:xfrm>
            <a:off x="1289041" y="5541778"/>
            <a:ext cx="1025780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Glicemia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04C6DB2-BDC8-4087-87EE-16E16601AA5A}"/>
              </a:ext>
            </a:extLst>
          </p:cNvPr>
          <p:cNvSpPr txBox="1"/>
          <p:nvPr/>
        </p:nvSpPr>
        <p:spPr>
          <a:xfrm>
            <a:off x="1284964" y="2997482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Tipo de riesgo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A09AECD-4E09-465D-B367-20CD84099705}"/>
              </a:ext>
            </a:extLst>
          </p:cNvPr>
          <p:cNvSpPr txBox="1"/>
          <p:nvPr/>
        </p:nvSpPr>
        <p:spPr>
          <a:xfrm>
            <a:off x="6447968" y="2996241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Factor del riesgo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34E2789-97F8-4C82-B079-F1268385C967}"/>
              </a:ext>
            </a:extLst>
          </p:cNvPr>
          <p:cNvSpPr txBox="1"/>
          <p:nvPr/>
        </p:nvSpPr>
        <p:spPr>
          <a:xfrm>
            <a:off x="1284964" y="2730278"/>
            <a:ext cx="1025781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b="1" dirty="0"/>
              <a:t>RIESGOS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E8E5D87-94EB-44E1-8035-5FCE7824B842}"/>
              </a:ext>
            </a:extLst>
          </p:cNvPr>
          <p:cNvSpPr txBox="1"/>
          <p:nvPr/>
        </p:nvSpPr>
        <p:spPr>
          <a:xfrm>
            <a:off x="1284964" y="3262204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Fatiga</a:t>
            </a:r>
            <a:endParaRPr lang="es-MX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9258D9A-9ED2-4DB7-9240-9A39E5B66498}"/>
              </a:ext>
            </a:extLst>
          </p:cNvPr>
          <p:cNvSpPr txBox="1"/>
          <p:nvPr/>
        </p:nvSpPr>
        <p:spPr>
          <a:xfrm>
            <a:off x="6447968" y="3260963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Riesgos Ergonómicos</a:t>
            </a:r>
            <a:endParaRPr lang="es-MX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C392FD4-3036-4423-A42E-8DE0930E49DE}"/>
              </a:ext>
            </a:extLst>
          </p:cNvPr>
          <p:cNvSpPr txBox="1"/>
          <p:nvPr/>
        </p:nvSpPr>
        <p:spPr>
          <a:xfrm>
            <a:off x="1284964" y="3525685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Temperaturas Extremas</a:t>
            </a:r>
            <a:endParaRPr lang="es-MX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1FE4B5A-6BE7-4728-B4E2-F4F24D90973F}"/>
              </a:ext>
            </a:extLst>
          </p:cNvPr>
          <p:cNvSpPr txBox="1"/>
          <p:nvPr/>
        </p:nvSpPr>
        <p:spPr>
          <a:xfrm>
            <a:off x="6447968" y="3524444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Riesgos Físicos </a:t>
            </a:r>
            <a:endParaRPr lang="es-MX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5732654-0B9F-4998-B365-DF5780A79623}"/>
              </a:ext>
            </a:extLst>
          </p:cNvPr>
          <p:cNvSpPr txBox="1"/>
          <p:nvPr/>
        </p:nvSpPr>
        <p:spPr>
          <a:xfrm>
            <a:off x="1284964" y="3787925"/>
            <a:ext cx="5090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Almacenamiento </a:t>
            </a:r>
            <a:endParaRPr lang="es-MX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50CD147-8BB3-4A6C-8E4E-37BFF1E1C3B5}"/>
              </a:ext>
            </a:extLst>
          </p:cNvPr>
          <p:cNvSpPr txBox="1"/>
          <p:nvPr/>
        </p:nvSpPr>
        <p:spPr>
          <a:xfrm>
            <a:off x="6447968" y="3786684"/>
            <a:ext cx="50903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Riesgos Locativos </a:t>
            </a:r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E1FD692-1938-4228-9E62-DC70B8454BCE}"/>
              </a:ext>
            </a:extLst>
          </p:cNvPr>
          <p:cNvSpPr txBox="1"/>
          <p:nvPr/>
        </p:nvSpPr>
        <p:spPr>
          <a:xfrm>
            <a:off x="1518012" y="625136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8721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Perfil del cargo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37771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129C8C-AE45-46DB-B989-42ECFBECE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48" y="3090759"/>
            <a:ext cx="3014164" cy="218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294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97846" y="3047442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Evaluación Ocupacional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5093731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Ocupacional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55794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Concepto Medico: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374" y="3557944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3632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84298" y="630803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071091" y="630803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057884" y="630803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111399" y="630803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C1CB71B-6088-4C92-A46D-3BCCE7E8FFC8}"/>
              </a:ext>
            </a:extLst>
          </p:cNvPr>
          <p:cNvSpPr txBox="1"/>
          <p:nvPr/>
        </p:nvSpPr>
        <p:spPr>
          <a:xfrm>
            <a:off x="1284964" y="312216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Cedula 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A61EEB5-36E5-4690-A72D-EC09A0FEDED3}"/>
              </a:ext>
            </a:extLst>
          </p:cNvPr>
          <p:cNvSpPr txBox="1"/>
          <p:nvPr/>
        </p:nvSpPr>
        <p:spPr>
          <a:xfrm>
            <a:off x="2810143" y="313928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4AA0AA1-18BF-45F2-9CD7-94BE3E7AA198}"/>
              </a:ext>
            </a:extLst>
          </p:cNvPr>
          <p:cNvSpPr txBox="1"/>
          <p:nvPr/>
        </p:nvSpPr>
        <p:spPr>
          <a:xfrm>
            <a:off x="1174459" y="630803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17994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Evaluación Ocupacional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19360" y="349191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29641" y="349191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46183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F593F9-A91C-4C53-B2E8-5497982AB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189" y="2968887"/>
            <a:ext cx="2175489" cy="2396864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B78544C-AFDC-40B9-BCC4-11D3E5731BE9}"/>
              </a:ext>
            </a:extLst>
          </p:cNvPr>
          <p:cNvSpPr txBox="1"/>
          <p:nvPr/>
        </p:nvSpPr>
        <p:spPr>
          <a:xfrm>
            <a:off x="1319360" y="310392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Cedula 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05D66A3-D0CC-46CE-A4A1-8903BCAEF413}"/>
              </a:ext>
            </a:extLst>
          </p:cNvPr>
          <p:cNvSpPr txBox="1"/>
          <p:nvPr/>
        </p:nvSpPr>
        <p:spPr>
          <a:xfrm>
            <a:off x="2844539" y="309579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11601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74399" y="3420828"/>
            <a:ext cx="130842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Historias Clínicas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8185043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Historias Clínicas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60297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Historia Clínica: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602974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85282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844699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664995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651788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638581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692096" y="62618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E7D8891-02A1-4D48-B830-F44D2422395D}"/>
              </a:ext>
            </a:extLst>
          </p:cNvPr>
          <p:cNvSpPr txBox="1"/>
          <p:nvPr/>
        </p:nvSpPr>
        <p:spPr>
          <a:xfrm>
            <a:off x="1284964" y="322052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/>
              <a:t>Cedula  </a:t>
            </a:r>
            <a:r>
              <a:rPr lang="es-CO" sz="800" dirty="0">
                <a:solidFill>
                  <a:srgbClr val="000000"/>
                </a:solidFill>
              </a:rPr>
              <a:t>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3619F4B-7C26-4BE8-BD85-D871C63A960C}"/>
              </a:ext>
            </a:extLst>
          </p:cNvPr>
          <p:cNvSpPr txBox="1"/>
          <p:nvPr/>
        </p:nvSpPr>
        <p:spPr>
          <a:xfrm>
            <a:off x="2810143" y="3212394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89437D9-3AF3-49F1-A022-398C5E74D9E6}"/>
              </a:ext>
            </a:extLst>
          </p:cNvPr>
          <p:cNvSpPr txBox="1"/>
          <p:nvPr/>
        </p:nvSpPr>
        <p:spPr>
          <a:xfrm>
            <a:off x="1570108" y="624078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4838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Historias Clínicas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790332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245" y="3790332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799344" y="47393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FE45690-BE32-4549-A2B7-E7C58CFA1B61}"/>
              </a:ext>
            </a:extLst>
          </p:cNvPr>
          <p:cNvSpPr txBox="1"/>
          <p:nvPr/>
        </p:nvSpPr>
        <p:spPr>
          <a:xfrm>
            <a:off x="1284964" y="316709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/>
              <a:t>Cedula  empleado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77B46BF-D2D7-4170-B306-32B5706FD8EC}"/>
              </a:ext>
            </a:extLst>
          </p:cNvPr>
          <p:cNvSpPr txBox="1"/>
          <p:nvPr/>
        </p:nvSpPr>
        <p:spPr>
          <a:xfrm>
            <a:off x="2810143" y="315896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6244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811362" y="387488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115615" y="42523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05661" y="3685842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Restricciones recomendaciones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00829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Restricciones / recomendaciones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71297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Restricción Medica: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245" y="371297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144537" y="625367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131330" y="625367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118123" y="625367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171638" y="6253678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4856C8B-2BFA-46A0-8D3F-FC7A73F2D396}"/>
              </a:ext>
            </a:extLst>
          </p:cNvPr>
          <p:cNvSpPr txBox="1"/>
          <p:nvPr/>
        </p:nvSpPr>
        <p:spPr>
          <a:xfrm>
            <a:off x="1284964" y="625367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E4FFDA6-7F32-4646-9768-C252159A3306}"/>
              </a:ext>
            </a:extLst>
          </p:cNvPr>
          <p:cNvSpPr txBox="1"/>
          <p:nvPr/>
        </p:nvSpPr>
        <p:spPr>
          <a:xfrm>
            <a:off x="1284964" y="3154792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Cedula 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1F36156-1715-4E94-99A1-EBFE0F2E0466}"/>
              </a:ext>
            </a:extLst>
          </p:cNvPr>
          <p:cNvSpPr txBox="1"/>
          <p:nvPr/>
        </p:nvSpPr>
        <p:spPr>
          <a:xfrm>
            <a:off x="2810143" y="314666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2923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Restricciones / recomendaciones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407884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245" y="4078846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95942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0000"/>
                </a:solidFill>
              </a:rPr>
              <a:t>Nombre empleado: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95130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95039" y="51162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31D54F-7D59-4C8D-81B9-B1531D3D86EF}"/>
              </a:ext>
            </a:extLst>
          </p:cNvPr>
          <p:cNvSpPr txBox="1"/>
          <p:nvPr/>
        </p:nvSpPr>
        <p:spPr>
          <a:xfrm>
            <a:off x="1284964" y="344518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/>
              <a:t>Cedula empleado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FC9E91E-DBA0-4C28-888F-28099DE6020E}"/>
              </a:ext>
            </a:extLst>
          </p:cNvPr>
          <p:cNvSpPr txBox="1"/>
          <p:nvPr/>
        </p:nvSpPr>
        <p:spPr>
          <a:xfrm>
            <a:off x="2810143" y="343705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200742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805171" y="38410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255422" y="429506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207427" y="4116135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Estilo de vida saludable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712144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Estilo de vida saludable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Programas: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Estilo de vida</a:t>
            </a:r>
          </a:p>
          <a:p>
            <a:r>
              <a:rPr lang="es-MX" sz="800" dirty="0"/>
              <a:t>Inspecciones</a:t>
            </a:r>
          </a:p>
          <a:p>
            <a:r>
              <a:rPr lang="es-MX" sz="800" dirty="0"/>
              <a:t>Capacitación</a:t>
            </a:r>
          </a:p>
          <a:p>
            <a:r>
              <a:rPr lang="es-MX" sz="800" dirty="0"/>
              <a:t>Comunicación</a:t>
            </a:r>
          </a:p>
          <a:p>
            <a:r>
              <a:rPr lang="es-MX" sz="800" dirty="0"/>
              <a:t>Señalización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87785" y="62510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74578" y="62510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761371" y="62510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814886" y="62510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235AE1-CF2F-457D-AB6E-77A7172A7F5E}"/>
              </a:ext>
            </a:extLst>
          </p:cNvPr>
          <p:cNvSpPr txBox="1"/>
          <p:nvPr/>
        </p:nvSpPr>
        <p:spPr>
          <a:xfrm>
            <a:off x="1659645" y="625100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2734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Estilo de vida saludable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Programas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Estilo de vida</a:t>
            </a:r>
          </a:p>
          <a:p>
            <a:r>
              <a:rPr lang="es-MX" sz="800"/>
              <a:t>Inspecciones</a:t>
            </a:r>
          </a:p>
          <a:p>
            <a:r>
              <a:rPr lang="es-MX" sz="800"/>
              <a:t>Capacitación</a:t>
            </a:r>
          </a:p>
          <a:p>
            <a:r>
              <a:rPr lang="es-MX" sz="800"/>
              <a:t>Comunicación</a:t>
            </a:r>
          </a:p>
          <a:p>
            <a:r>
              <a:rPr lang="es-MX" sz="800"/>
              <a:t>Señalización</a:t>
            </a:r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7393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07BA4B-AC0B-4E9E-8E1C-6051ECF1F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8194" y="2977014"/>
            <a:ext cx="1738298" cy="2236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992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14789" y="4453451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Reglamento de Higiene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371284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Reglamento de higiene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03674" y="410994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3955" y="4109941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Reglamentos: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Higiene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933984" y="624447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920777" y="624447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07570" y="624447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961085" y="624447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390065-C3C2-4DE2-8BA1-C77A325D3545}"/>
              </a:ext>
            </a:extLst>
          </p:cNvPr>
          <p:cNvSpPr txBox="1"/>
          <p:nvPr/>
        </p:nvSpPr>
        <p:spPr>
          <a:xfrm>
            <a:off x="1555096" y="624447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628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Reglamento de higiene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99862" y="403529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403529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Reglamentos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Higiene</a:t>
            </a:r>
          </a:p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178983" y="528408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FDF2C0F-DECA-4F99-8E82-A4C94A35F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870" y="3057959"/>
            <a:ext cx="1887627" cy="236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276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Eliminación adecuada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230700" y="495317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61834" y="4877483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Manejo de residuos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65356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Manejo de residuos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Solidos</a:t>
            </a:r>
          </a:p>
          <a:p>
            <a:r>
              <a:rPr lang="es-MX" sz="800" dirty="0"/>
              <a:t>Líquidos</a:t>
            </a:r>
          </a:p>
          <a:p>
            <a:r>
              <a:rPr lang="es-MX" sz="800" dirty="0"/>
              <a:t>Gaseosos</a:t>
            </a:r>
          </a:p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4012872" y="61973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999665" y="61973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86458" y="61973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10039973" y="619731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DA13E86-5FAB-4F51-AB01-67926BE3E4CD}"/>
              </a:ext>
            </a:extLst>
          </p:cNvPr>
          <p:cNvSpPr txBox="1"/>
          <p:nvPr/>
        </p:nvSpPr>
        <p:spPr>
          <a:xfrm>
            <a:off x="1698806" y="619731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86215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Manejo de residuos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Solidos</a:t>
            </a:r>
          </a:p>
          <a:p>
            <a:r>
              <a:rPr lang="es-MX" sz="800" dirty="0"/>
              <a:t>Líquidos</a:t>
            </a:r>
          </a:p>
          <a:p>
            <a:r>
              <a:rPr lang="es-MX" sz="800" dirty="0"/>
              <a:t>Gaseosos</a:t>
            </a:r>
          </a:p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57603" y="502605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707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los accidentes de trabajo y enfermedad laboral a la ARL, EPS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10396308" y="53833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599" y="593500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03745" y="5233340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Reporte de Accidentes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73740023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Reporte de Accidente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19360" y="377326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Reporte Accidente: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29641" y="377326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933984" y="62463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920777" y="62463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07570" y="62463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961085" y="624635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45A2C5D-0586-43E2-9CFC-5485D4AC5D01}"/>
              </a:ext>
            </a:extLst>
          </p:cNvPr>
          <p:cNvSpPr txBox="1"/>
          <p:nvPr/>
        </p:nvSpPr>
        <p:spPr>
          <a:xfrm>
            <a:off x="1319360" y="3175892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0FF6893-8AE3-45F0-A1FA-DF79A0292202}"/>
              </a:ext>
            </a:extLst>
          </p:cNvPr>
          <p:cNvSpPr txBox="1"/>
          <p:nvPr/>
        </p:nvSpPr>
        <p:spPr>
          <a:xfrm>
            <a:off x="2844539" y="316776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CCF77C-8B99-4889-BC71-569978CC6F1D}"/>
              </a:ext>
            </a:extLst>
          </p:cNvPr>
          <p:cNvSpPr txBox="1"/>
          <p:nvPr/>
        </p:nvSpPr>
        <p:spPr>
          <a:xfrm>
            <a:off x="1947191" y="624635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00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Reporte accidente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392548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245" y="392548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158792" y="506675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E80153-274A-4ABE-A3C0-ACF3AF0F3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718" y="2977014"/>
            <a:ext cx="2206682" cy="236721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89C49014-E120-47BE-A487-B7D8BF7413C1}"/>
              </a:ext>
            </a:extLst>
          </p:cNvPr>
          <p:cNvSpPr txBox="1"/>
          <p:nvPr/>
        </p:nvSpPr>
        <p:spPr>
          <a:xfrm>
            <a:off x="1319360" y="322361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9160797-58DA-44F0-A66D-F7B284357470}"/>
              </a:ext>
            </a:extLst>
          </p:cNvPr>
          <p:cNvSpPr txBox="1"/>
          <p:nvPr/>
        </p:nvSpPr>
        <p:spPr>
          <a:xfrm>
            <a:off x="2844539" y="3215489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82184680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de Accidentes, Incidentes y Enfermedad Laboral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10550386" y="574785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4" y="624713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28002" y="5601071"/>
            <a:ext cx="219757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Investigación de Accidentes e incidentes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35219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Investigación de accidentes e incidentes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933984" y="623832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920777" y="623832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07570" y="623832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961085" y="623832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76298310-A252-49C7-91B8-F79D19DD6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858611"/>
              </p:ext>
            </p:extLst>
          </p:nvPr>
        </p:nvGraphicFramePr>
        <p:xfrm>
          <a:off x="3763160" y="2788944"/>
          <a:ext cx="5435547" cy="3267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3" name="Worksheet" r:id="rId5" imgW="7667513" imgH="8153215" progId="Excel.Sheet.8">
                  <p:embed/>
                </p:oleObj>
              </mc:Choice>
              <mc:Fallback>
                <p:oleObj name="Worksheet" r:id="rId5" imgW="7667513" imgH="815321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63160" y="2788944"/>
                        <a:ext cx="5435547" cy="3267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57" name="Imagen 107">
            <a:extLst>
              <a:ext uri="{FF2B5EF4-FFF2-40B4-BE49-F238E27FC236}">
                <a16:creationId xmlns:a16="http://schemas.microsoft.com/office/drawing/2014/main" id="{B8BEFA30-A3D5-40FF-802E-4A62A5535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621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0" name="Picture 40" descr="CTA">
            <a:extLst>
              <a:ext uri="{FF2B5EF4-FFF2-40B4-BE49-F238E27FC236}">
                <a16:creationId xmlns:a16="http://schemas.microsoft.com/office/drawing/2014/main" id="{55C5F831-0DB3-4EC7-9684-D4E7F4D23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1" name="Picture 41" descr="Nit">
            <a:extLst>
              <a:ext uri="{FF2B5EF4-FFF2-40B4-BE49-F238E27FC236}">
                <a16:creationId xmlns:a16="http://schemas.microsoft.com/office/drawing/2014/main" id="{F5ACE5BC-D652-4674-B144-DAD5883C8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2" name="Picture 42" descr="C.C.">
            <a:extLst>
              <a:ext uri="{FF2B5EF4-FFF2-40B4-BE49-F238E27FC236}">
                <a16:creationId xmlns:a16="http://schemas.microsoft.com/office/drawing/2014/main" id="{F4EE1736-157C-4109-8683-28956F35B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3" name="Picture 43" descr="UN ">
            <a:extLst>
              <a:ext uri="{FF2B5EF4-FFF2-40B4-BE49-F238E27FC236}">
                <a16:creationId xmlns:a16="http://schemas.microsoft.com/office/drawing/2014/main" id="{C389C666-6A96-47C5-A71A-5DB13A735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4" name="Picture 44" descr="PA">
            <a:extLst>
              <a:ext uri="{FF2B5EF4-FFF2-40B4-BE49-F238E27FC236}">
                <a16:creationId xmlns:a16="http://schemas.microsoft.com/office/drawing/2014/main" id="{AAD2889F-A19F-4267-8365-9CFA8605D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5" name="Picture 45" descr="C.E.">
            <a:extLst>
              <a:ext uri="{FF2B5EF4-FFF2-40B4-BE49-F238E27FC236}">
                <a16:creationId xmlns:a16="http://schemas.microsoft.com/office/drawing/2014/main" id="{87312ACF-FF98-4713-A53F-F81446C2D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6" name="Picture 46" descr="Rural">
            <a:extLst>
              <a:ext uri="{FF2B5EF4-FFF2-40B4-BE49-F238E27FC236}">
                <a16:creationId xmlns:a16="http://schemas.microsoft.com/office/drawing/2014/main" id="{C20AFDC2-4570-4BDF-A088-3C02E4CA7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9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7" name="Picture 47" descr="Urbana">
            <a:extLst>
              <a:ext uri="{FF2B5EF4-FFF2-40B4-BE49-F238E27FC236}">
                <a16:creationId xmlns:a16="http://schemas.microsoft.com/office/drawing/2014/main" id="{9B101442-A69B-4E18-9EA2-1B1A4FB74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532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8" name="Picture 48" descr="TI  ">
            <a:extLst>
              <a:ext uri="{FF2B5EF4-FFF2-40B4-BE49-F238E27FC236}">
                <a16:creationId xmlns:a16="http://schemas.microsoft.com/office/drawing/2014/main" id="{566A545B-7A7D-4D73-8893-BEDFCE3E8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9" name="Picture 49" descr="C.C. ">
            <a:extLst>
              <a:ext uri="{FF2B5EF4-FFF2-40B4-BE49-F238E27FC236}">
                <a16:creationId xmlns:a16="http://schemas.microsoft.com/office/drawing/2014/main" id="{E7A8C346-AF36-42AE-9CA3-D9600871A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0" name="Picture 50" descr="NU  ">
            <a:extLst>
              <a:ext uri="{FF2B5EF4-FFF2-40B4-BE49-F238E27FC236}">
                <a16:creationId xmlns:a16="http://schemas.microsoft.com/office/drawing/2014/main" id="{E9B3EE06-E189-4889-883C-332D727F8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1" name="Picture 51" descr="PA ">
            <a:extLst>
              <a:ext uri="{FF2B5EF4-FFF2-40B4-BE49-F238E27FC236}">
                <a16:creationId xmlns:a16="http://schemas.microsoft.com/office/drawing/2014/main" id="{6570C6A6-2413-4921-A369-1D7E2423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2" name="Picture 52" descr="Planta ">
            <a:extLst>
              <a:ext uri="{FF2B5EF4-FFF2-40B4-BE49-F238E27FC236}">
                <a16:creationId xmlns:a16="http://schemas.microsoft.com/office/drawing/2014/main" id="{7A7B9DE2-83A4-4583-B082-707EC89B1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3" name="Picture 53" descr="Misión">
            <a:extLst>
              <a:ext uri="{FF2B5EF4-FFF2-40B4-BE49-F238E27FC236}">
                <a16:creationId xmlns:a16="http://schemas.microsoft.com/office/drawing/2014/main" id="{B3F174EC-7582-42BE-8B6B-23D5C4975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4" name="Picture 54" descr="Cooperado">
            <a:extLst>
              <a:ext uri="{FF2B5EF4-FFF2-40B4-BE49-F238E27FC236}">
                <a16:creationId xmlns:a16="http://schemas.microsoft.com/office/drawing/2014/main" id="{27740114-AE47-4A2D-B0C0-848508165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5" name="Picture 55" descr="Estudiante/aprendiz">
            <a:extLst>
              <a:ext uri="{FF2B5EF4-FFF2-40B4-BE49-F238E27FC236}">
                <a16:creationId xmlns:a16="http://schemas.microsoft.com/office/drawing/2014/main" id="{CEFC560D-0BD9-4EA3-8B5E-DDE19962E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20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6" name="Picture 56" descr="Independiente">
            <a:extLst>
              <a:ext uri="{FF2B5EF4-FFF2-40B4-BE49-F238E27FC236}">
                <a16:creationId xmlns:a16="http://schemas.microsoft.com/office/drawing/2014/main" id="{5321C587-1931-4476-BF06-65F389B55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5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7" name="Picture 57" descr="F">
            <a:extLst>
              <a:ext uri="{FF2B5EF4-FFF2-40B4-BE49-F238E27FC236}">
                <a16:creationId xmlns:a16="http://schemas.microsoft.com/office/drawing/2014/main" id="{E83EA1AF-EC1E-4E81-9826-A96A58736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8" name="Picture 58" descr="M">
            <a:extLst>
              <a:ext uri="{FF2B5EF4-FFF2-40B4-BE49-F238E27FC236}">
                <a16:creationId xmlns:a16="http://schemas.microsoft.com/office/drawing/2014/main" id="{7FCEEC25-2317-4267-96B3-49CA8D7B3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9" name="Picture 59" descr="Diurna ">
            <a:extLst>
              <a:ext uri="{FF2B5EF4-FFF2-40B4-BE49-F238E27FC236}">
                <a16:creationId xmlns:a16="http://schemas.microsoft.com/office/drawing/2014/main" id="{C9EA2636-5A6F-4238-9E1B-8213CA6C8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0" name="Picture 60" descr="Nocturna">
            <a:extLst>
              <a:ext uri="{FF2B5EF4-FFF2-40B4-BE49-F238E27FC236}">
                <a16:creationId xmlns:a16="http://schemas.microsoft.com/office/drawing/2014/main" id="{7A0DFEF3-7177-49CD-BC0A-8FCDB8E88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86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1" name="Picture 61" descr="Mixta">
            <a:extLst>
              <a:ext uri="{FF2B5EF4-FFF2-40B4-BE49-F238E27FC236}">
                <a16:creationId xmlns:a16="http://schemas.microsoft.com/office/drawing/2014/main" id="{CFDF244C-E78E-4777-8EE4-38A4835A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2" name="Picture 62" descr="Turnos">
            <a:extLst>
              <a:ext uri="{FF2B5EF4-FFF2-40B4-BE49-F238E27FC236}">
                <a16:creationId xmlns:a16="http://schemas.microsoft.com/office/drawing/2014/main" id="{9C3AD1EB-8C32-4ADB-95EA-A48B0670E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2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3" name="Picture 63" descr="Rural">
            <a:extLst>
              <a:ext uri="{FF2B5EF4-FFF2-40B4-BE49-F238E27FC236}">
                <a16:creationId xmlns:a16="http://schemas.microsoft.com/office/drawing/2014/main" id="{93EF6E17-4EF1-48F1-A43B-55ED23D56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4" name="Picture 64" descr="Urbana">
            <a:extLst>
              <a:ext uri="{FF2B5EF4-FFF2-40B4-BE49-F238E27FC236}">
                <a16:creationId xmlns:a16="http://schemas.microsoft.com/office/drawing/2014/main" id="{AB0F0505-4B3C-4112-B543-D43FAD87E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5" name="Picture 65" descr="Lu ">
            <a:extLst>
              <a:ext uri="{FF2B5EF4-FFF2-40B4-BE49-F238E27FC236}">
                <a16:creationId xmlns:a16="http://schemas.microsoft.com/office/drawing/2014/main" id="{D7627C56-E09A-4420-9AD8-F70A2CB58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6" name="Picture 66" descr="Ma">
            <a:extLst>
              <a:ext uri="{FF2B5EF4-FFF2-40B4-BE49-F238E27FC236}">
                <a16:creationId xmlns:a16="http://schemas.microsoft.com/office/drawing/2014/main" id="{B94A43B1-3BEE-4E26-A9C2-C317AE44D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4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7" name="Picture 67" descr="Mi">
            <a:extLst>
              <a:ext uri="{FF2B5EF4-FFF2-40B4-BE49-F238E27FC236}">
                <a16:creationId xmlns:a16="http://schemas.microsoft.com/office/drawing/2014/main" id="{ADA815DE-346B-47A6-8D1D-97BAA39FC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8" name="Picture 68" descr="Ju">
            <a:extLst>
              <a:ext uri="{FF2B5EF4-FFF2-40B4-BE49-F238E27FC236}">
                <a16:creationId xmlns:a16="http://schemas.microsoft.com/office/drawing/2014/main" id="{E6EB7414-206D-4A56-9713-4F156E7BC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9" name="Picture 69" descr="Vi">
            <a:extLst>
              <a:ext uri="{FF2B5EF4-FFF2-40B4-BE49-F238E27FC236}">
                <a16:creationId xmlns:a16="http://schemas.microsoft.com/office/drawing/2014/main" id="{EB8CC33E-A67B-4540-B045-43F41FE60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0" name="Picture 70" descr="Sa">
            <a:extLst>
              <a:ext uri="{FF2B5EF4-FFF2-40B4-BE49-F238E27FC236}">
                <a16:creationId xmlns:a16="http://schemas.microsoft.com/office/drawing/2014/main" id="{5A3E57DC-2381-4080-AE0F-407877A60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" name="Picture 71" descr="Do">
            <a:extLst>
              <a:ext uri="{FF2B5EF4-FFF2-40B4-BE49-F238E27FC236}">
                <a16:creationId xmlns:a16="http://schemas.microsoft.com/office/drawing/2014/main" id="{4CF4ADD3-BC7F-4463-BDBC-788B6FA73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2" name="Picture 72" descr="Normal">
            <a:extLst>
              <a:ext uri="{FF2B5EF4-FFF2-40B4-BE49-F238E27FC236}">
                <a16:creationId xmlns:a16="http://schemas.microsoft.com/office/drawing/2014/main" id="{84189FA2-C116-461D-876D-6E9F9009C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3" name="Picture 73" descr="Extra">
            <a:extLst>
              <a:ext uri="{FF2B5EF4-FFF2-40B4-BE49-F238E27FC236}">
                <a16:creationId xmlns:a16="http://schemas.microsoft.com/office/drawing/2014/main" id="{02FDE00E-E611-4A72-A50E-22B01D8CF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57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0" name="Picture 110">
            <a:extLst>
              <a:ext uri="{FF2B5EF4-FFF2-40B4-BE49-F238E27FC236}">
                <a16:creationId xmlns:a16="http://schemas.microsoft.com/office/drawing/2014/main" id="{834C476E-A474-4364-8426-5AD48B2D8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621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3" name="Picture 113" descr="CTA">
            <a:extLst>
              <a:ext uri="{FF2B5EF4-FFF2-40B4-BE49-F238E27FC236}">
                <a16:creationId xmlns:a16="http://schemas.microsoft.com/office/drawing/2014/main" id="{6755B726-E4C0-4E67-B89D-071DE73C4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4" name="Picture 114" descr="Nit">
            <a:extLst>
              <a:ext uri="{FF2B5EF4-FFF2-40B4-BE49-F238E27FC236}">
                <a16:creationId xmlns:a16="http://schemas.microsoft.com/office/drawing/2014/main" id="{FB4B6391-E120-430C-B551-62DE00F33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5" name="Picture 115" descr="C.C.">
            <a:extLst>
              <a:ext uri="{FF2B5EF4-FFF2-40B4-BE49-F238E27FC236}">
                <a16:creationId xmlns:a16="http://schemas.microsoft.com/office/drawing/2014/main" id="{51737636-CA02-4EF1-BF60-5C669A278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6" name="Picture 116" descr="UN ">
            <a:extLst>
              <a:ext uri="{FF2B5EF4-FFF2-40B4-BE49-F238E27FC236}">
                <a16:creationId xmlns:a16="http://schemas.microsoft.com/office/drawing/2014/main" id="{4CEE779B-E264-4051-B83D-A1C60531A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7" name="Picture 117" descr="PA">
            <a:extLst>
              <a:ext uri="{FF2B5EF4-FFF2-40B4-BE49-F238E27FC236}">
                <a16:creationId xmlns:a16="http://schemas.microsoft.com/office/drawing/2014/main" id="{EFFC158E-1500-4C3C-8F77-07351D989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8" name="Picture 118" descr="C.E.">
            <a:extLst>
              <a:ext uri="{FF2B5EF4-FFF2-40B4-BE49-F238E27FC236}">
                <a16:creationId xmlns:a16="http://schemas.microsoft.com/office/drawing/2014/main" id="{DB2A4D39-F77B-4C6E-89B6-94FB29F7D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39" name="Picture 119" descr="Rural">
            <a:extLst>
              <a:ext uri="{FF2B5EF4-FFF2-40B4-BE49-F238E27FC236}">
                <a16:creationId xmlns:a16="http://schemas.microsoft.com/office/drawing/2014/main" id="{67B9953F-9100-4B11-8B8E-2B954D394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9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0" name="Picture 120" descr="Urbana">
            <a:extLst>
              <a:ext uri="{FF2B5EF4-FFF2-40B4-BE49-F238E27FC236}">
                <a16:creationId xmlns:a16="http://schemas.microsoft.com/office/drawing/2014/main" id="{C97128B6-CE6D-4143-AF03-A880DE7F7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532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1" name="Picture 121" descr="TI  ">
            <a:extLst>
              <a:ext uri="{FF2B5EF4-FFF2-40B4-BE49-F238E27FC236}">
                <a16:creationId xmlns:a16="http://schemas.microsoft.com/office/drawing/2014/main" id="{9CE586D5-8E96-4261-9D05-FD6FE4CC9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2" name="Picture 122" descr="C.C. ">
            <a:extLst>
              <a:ext uri="{FF2B5EF4-FFF2-40B4-BE49-F238E27FC236}">
                <a16:creationId xmlns:a16="http://schemas.microsoft.com/office/drawing/2014/main" id="{8578809D-855F-4589-9BA6-A54CDA977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3" name="Picture 123" descr="NU  ">
            <a:extLst>
              <a:ext uri="{FF2B5EF4-FFF2-40B4-BE49-F238E27FC236}">
                <a16:creationId xmlns:a16="http://schemas.microsoft.com/office/drawing/2014/main" id="{A3E3F86A-CAB8-44E2-8A79-54CF1EB19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4" name="Picture 124" descr="PA ">
            <a:extLst>
              <a:ext uri="{FF2B5EF4-FFF2-40B4-BE49-F238E27FC236}">
                <a16:creationId xmlns:a16="http://schemas.microsoft.com/office/drawing/2014/main" id="{CA46E1AD-33DB-4A02-B21C-C2E3E03A9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5" name="Picture 125" descr="Planta ">
            <a:extLst>
              <a:ext uri="{FF2B5EF4-FFF2-40B4-BE49-F238E27FC236}">
                <a16:creationId xmlns:a16="http://schemas.microsoft.com/office/drawing/2014/main" id="{7F6245D8-B97A-4BED-B5BE-85EB33CCD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6" name="Picture 126" descr="Misión">
            <a:extLst>
              <a:ext uri="{FF2B5EF4-FFF2-40B4-BE49-F238E27FC236}">
                <a16:creationId xmlns:a16="http://schemas.microsoft.com/office/drawing/2014/main" id="{87409827-77E0-4211-B186-A0F483002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7" name="Picture 127" descr="Cooperado">
            <a:extLst>
              <a:ext uri="{FF2B5EF4-FFF2-40B4-BE49-F238E27FC236}">
                <a16:creationId xmlns:a16="http://schemas.microsoft.com/office/drawing/2014/main" id="{91964675-3894-457D-9113-7ADC72B22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8" name="Picture 128" descr="Estudiante/aprendiz">
            <a:extLst>
              <a:ext uri="{FF2B5EF4-FFF2-40B4-BE49-F238E27FC236}">
                <a16:creationId xmlns:a16="http://schemas.microsoft.com/office/drawing/2014/main" id="{2B9F0479-E44F-4937-8CE0-033FD6028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20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49" name="Picture 129" descr="Independiente">
            <a:extLst>
              <a:ext uri="{FF2B5EF4-FFF2-40B4-BE49-F238E27FC236}">
                <a16:creationId xmlns:a16="http://schemas.microsoft.com/office/drawing/2014/main" id="{D12D68BB-1C3C-4BD8-AEAF-9157F7E4E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5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0" name="Picture 130" descr="F">
            <a:extLst>
              <a:ext uri="{FF2B5EF4-FFF2-40B4-BE49-F238E27FC236}">
                <a16:creationId xmlns:a16="http://schemas.microsoft.com/office/drawing/2014/main" id="{6A396A31-FF47-4523-8A20-523C37BE8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1" name="Picture 131" descr="M">
            <a:extLst>
              <a:ext uri="{FF2B5EF4-FFF2-40B4-BE49-F238E27FC236}">
                <a16:creationId xmlns:a16="http://schemas.microsoft.com/office/drawing/2014/main" id="{74775BE5-12F9-4A11-914C-C6A6111FD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2" name="Picture 132" descr="Diurna ">
            <a:extLst>
              <a:ext uri="{FF2B5EF4-FFF2-40B4-BE49-F238E27FC236}">
                <a16:creationId xmlns:a16="http://schemas.microsoft.com/office/drawing/2014/main" id="{A01A4963-86F7-4BA7-8D8E-79C220C40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3" name="Picture 133" descr="Nocturna">
            <a:extLst>
              <a:ext uri="{FF2B5EF4-FFF2-40B4-BE49-F238E27FC236}">
                <a16:creationId xmlns:a16="http://schemas.microsoft.com/office/drawing/2014/main" id="{2588DEE2-90FD-4D7E-B250-3518AEEE8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86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4" name="Picture 134" descr="Mixta">
            <a:extLst>
              <a:ext uri="{FF2B5EF4-FFF2-40B4-BE49-F238E27FC236}">
                <a16:creationId xmlns:a16="http://schemas.microsoft.com/office/drawing/2014/main" id="{8D65CA6C-0A30-4CEB-96D2-68D053A20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5" name="Picture 135" descr="Turnos">
            <a:extLst>
              <a:ext uri="{FF2B5EF4-FFF2-40B4-BE49-F238E27FC236}">
                <a16:creationId xmlns:a16="http://schemas.microsoft.com/office/drawing/2014/main" id="{5DF1F189-BEB3-4DC9-BF6A-348183321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2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6" name="Picture 136" descr="Rural">
            <a:extLst>
              <a:ext uri="{FF2B5EF4-FFF2-40B4-BE49-F238E27FC236}">
                <a16:creationId xmlns:a16="http://schemas.microsoft.com/office/drawing/2014/main" id="{E675877D-7800-493A-A441-84664608E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7" name="Picture 137" descr="Urbana">
            <a:extLst>
              <a:ext uri="{FF2B5EF4-FFF2-40B4-BE49-F238E27FC236}">
                <a16:creationId xmlns:a16="http://schemas.microsoft.com/office/drawing/2014/main" id="{74255E86-2CEC-470F-A08D-2966C932F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8" name="Picture 138" descr="Lu ">
            <a:extLst>
              <a:ext uri="{FF2B5EF4-FFF2-40B4-BE49-F238E27FC236}">
                <a16:creationId xmlns:a16="http://schemas.microsoft.com/office/drawing/2014/main" id="{B4FB38DF-32B0-4C18-9234-FFA73513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59" name="Picture 139" descr="Ma">
            <a:extLst>
              <a:ext uri="{FF2B5EF4-FFF2-40B4-BE49-F238E27FC236}">
                <a16:creationId xmlns:a16="http://schemas.microsoft.com/office/drawing/2014/main" id="{DE926119-1704-4948-9A10-F14F0785C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4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0" name="Picture 140" descr="Mi">
            <a:extLst>
              <a:ext uri="{FF2B5EF4-FFF2-40B4-BE49-F238E27FC236}">
                <a16:creationId xmlns:a16="http://schemas.microsoft.com/office/drawing/2014/main" id="{E35D9B5C-D508-478E-B7BE-85A80E243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1" name="Picture 141" descr="Ju">
            <a:extLst>
              <a:ext uri="{FF2B5EF4-FFF2-40B4-BE49-F238E27FC236}">
                <a16:creationId xmlns:a16="http://schemas.microsoft.com/office/drawing/2014/main" id="{9DC558EC-C94F-48D0-920C-5FB53B1DF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2" name="Picture 142" descr="Vi">
            <a:extLst>
              <a:ext uri="{FF2B5EF4-FFF2-40B4-BE49-F238E27FC236}">
                <a16:creationId xmlns:a16="http://schemas.microsoft.com/office/drawing/2014/main" id="{580E3C95-F707-46D6-86F0-4AD7C5F53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3" name="Picture 143" descr="Sa">
            <a:extLst>
              <a:ext uri="{FF2B5EF4-FFF2-40B4-BE49-F238E27FC236}">
                <a16:creationId xmlns:a16="http://schemas.microsoft.com/office/drawing/2014/main" id="{700C21E6-DD6D-425A-B99C-3BE61D8A0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4" name="Picture 144" descr="Do">
            <a:extLst>
              <a:ext uri="{FF2B5EF4-FFF2-40B4-BE49-F238E27FC236}">
                <a16:creationId xmlns:a16="http://schemas.microsoft.com/office/drawing/2014/main" id="{EBDD7B5F-8D48-46E6-948F-B175393DA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5" name="Picture 145" descr="Normal">
            <a:extLst>
              <a:ext uri="{FF2B5EF4-FFF2-40B4-BE49-F238E27FC236}">
                <a16:creationId xmlns:a16="http://schemas.microsoft.com/office/drawing/2014/main" id="{27D4ACA7-F900-4766-B770-2A618ED10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6" name="Picture 146" descr="Extra">
            <a:extLst>
              <a:ext uri="{FF2B5EF4-FFF2-40B4-BE49-F238E27FC236}">
                <a16:creationId xmlns:a16="http://schemas.microsoft.com/office/drawing/2014/main" id="{4A4F6284-B691-4E75-9C18-0233BF1A0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57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CuadroTexto 86">
            <a:extLst>
              <a:ext uri="{FF2B5EF4-FFF2-40B4-BE49-F238E27FC236}">
                <a16:creationId xmlns:a16="http://schemas.microsoft.com/office/drawing/2014/main" id="{EEF48505-713C-44B4-9A95-F4EABE71F061}"/>
              </a:ext>
            </a:extLst>
          </p:cNvPr>
          <p:cNvSpPr txBox="1"/>
          <p:nvPr/>
        </p:nvSpPr>
        <p:spPr>
          <a:xfrm>
            <a:off x="1698806" y="623832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00381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 Investigación de accidentes e incidentes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19360" y="392548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29641" y="392548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87885" y="495413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73C9614-4C3F-4969-A113-189922C47D1B}"/>
              </a:ext>
            </a:extLst>
          </p:cNvPr>
          <p:cNvSpPr txBox="1"/>
          <p:nvPr/>
        </p:nvSpPr>
        <p:spPr>
          <a:xfrm>
            <a:off x="1284964" y="32560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0C73840-7F59-402D-90D1-950E5BAE286E}"/>
              </a:ext>
            </a:extLst>
          </p:cNvPr>
          <p:cNvSpPr txBox="1"/>
          <p:nvPr/>
        </p:nvSpPr>
        <p:spPr>
          <a:xfrm>
            <a:off x="2810143" y="324794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2060607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y análisis estadístico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711388" y="617832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131607" y="66288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21292" y="6023201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Registro y análisis  de accidentes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19751187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Registro y análisis de accidentes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933984" y="623840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920777" y="623840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907570" y="623840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961085" y="6238407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185" name="Picture 40" descr="CTA">
            <a:extLst>
              <a:ext uri="{FF2B5EF4-FFF2-40B4-BE49-F238E27FC236}">
                <a16:creationId xmlns:a16="http://schemas.microsoft.com/office/drawing/2014/main" id="{8EDF774A-A495-4FDB-9428-53EF0CBC0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6" name="Picture 41" descr="Nit">
            <a:extLst>
              <a:ext uri="{FF2B5EF4-FFF2-40B4-BE49-F238E27FC236}">
                <a16:creationId xmlns:a16="http://schemas.microsoft.com/office/drawing/2014/main" id="{CC38BCDC-9600-4EF8-A9B9-04B4BAD9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7" name="Picture 42" descr="C.C.">
            <a:extLst>
              <a:ext uri="{FF2B5EF4-FFF2-40B4-BE49-F238E27FC236}">
                <a16:creationId xmlns:a16="http://schemas.microsoft.com/office/drawing/2014/main" id="{4B10E1A6-CBB4-4571-9B5E-8B3C9B8CC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8" name="Picture 43" descr="UN ">
            <a:extLst>
              <a:ext uri="{FF2B5EF4-FFF2-40B4-BE49-F238E27FC236}">
                <a16:creationId xmlns:a16="http://schemas.microsoft.com/office/drawing/2014/main" id="{8B99C00F-1A33-4411-A5C5-50E894E9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9" name="Picture 44" descr="PA">
            <a:extLst>
              <a:ext uri="{FF2B5EF4-FFF2-40B4-BE49-F238E27FC236}">
                <a16:creationId xmlns:a16="http://schemas.microsoft.com/office/drawing/2014/main" id="{A53E54C9-0BBE-49B2-B338-3F6A5EA81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0" name="Picture 45" descr="C.E.">
            <a:extLst>
              <a:ext uri="{FF2B5EF4-FFF2-40B4-BE49-F238E27FC236}">
                <a16:creationId xmlns:a16="http://schemas.microsoft.com/office/drawing/2014/main" id="{2882015D-485E-42F1-A42D-4064FFEBC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1" name="Picture 46" descr="Rural">
            <a:extLst>
              <a:ext uri="{FF2B5EF4-FFF2-40B4-BE49-F238E27FC236}">
                <a16:creationId xmlns:a16="http://schemas.microsoft.com/office/drawing/2014/main" id="{39AA7F62-7F94-47B0-B65C-32B1B48A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9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2" name="Picture 47" descr="Urbana">
            <a:extLst>
              <a:ext uri="{FF2B5EF4-FFF2-40B4-BE49-F238E27FC236}">
                <a16:creationId xmlns:a16="http://schemas.microsoft.com/office/drawing/2014/main" id="{B0067F4C-A542-4AC5-BBD3-E8EDF74AA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532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3" name="Picture 48" descr="TI  ">
            <a:extLst>
              <a:ext uri="{FF2B5EF4-FFF2-40B4-BE49-F238E27FC236}">
                <a16:creationId xmlns:a16="http://schemas.microsoft.com/office/drawing/2014/main" id="{BB869510-3354-409B-B793-C763295E6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4" name="Picture 49" descr="C.C. ">
            <a:extLst>
              <a:ext uri="{FF2B5EF4-FFF2-40B4-BE49-F238E27FC236}">
                <a16:creationId xmlns:a16="http://schemas.microsoft.com/office/drawing/2014/main" id="{56245F98-C3CC-4AE9-BAC2-D81828556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5" name="Picture 50" descr="NU  ">
            <a:extLst>
              <a:ext uri="{FF2B5EF4-FFF2-40B4-BE49-F238E27FC236}">
                <a16:creationId xmlns:a16="http://schemas.microsoft.com/office/drawing/2014/main" id="{218AEE06-D552-4A93-8AF1-3585585E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6" name="Picture 51" descr="PA ">
            <a:extLst>
              <a:ext uri="{FF2B5EF4-FFF2-40B4-BE49-F238E27FC236}">
                <a16:creationId xmlns:a16="http://schemas.microsoft.com/office/drawing/2014/main" id="{55885F7F-B405-432C-A6E7-7C3D37E55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7" name="Picture 52" descr="Planta ">
            <a:extLst>
              <a:ext uri="{FF2B5EF4-FFF2-40B4-BE49-F238E27FC236}">
                <a16:creationId xmlns:a16="http://schemas.microsoft.com/office/drawing/2014/main" id="{356E8DBB-A345-49F3-B4E6-3A5BECBC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8" name="Picture 53" descr="Misión">
            <a:extLst>
              <a:ext uri="{FF2B5EF4-FFF2-40B4-BE49-F238E27FC236}">
                <a16:creationId xmlns:a16="http://schemas.microsoft.com/office/drawing/2014/main" id="{85DBF27A-BA98-4528-8217-EEE85FD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9" name="Picture 54" descr="Cooperado">
            <a:extLst>
              <a:ext uri="{FF2B5EF4-FFF2-40B4-BE49-F238E27FC236}">
                <a16:creationId xmlns:a16="http://schemas.microsoft.com/office/drawing/2014/main" id="{F977E6B0-7BCE-439F-862C-EFCD70EE3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2" name="Picture 57" descr="F">
            <a:extLst>
              <a:ext uri="{FF2B5EF4-FFF2-40B4-BE49-F238E27FC236}">
                <a16:creationId xmlns:a16="http://schemas.microsoft.com/office/drawing/2014/main" id="{00FA574E-2BF6-40D7-815D-81515994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3" name="Picture 58" descr="M">
            <a:extLst>
              <a:ext uri="{FF2B5EF4-FFF2-40B4-BE49-F238E27FC236}">
                <a16:creationId xmlns:a16="http://schemas.microsoft.com/office/drawing/2014/main" id="{7F8FC9FF-CD8C-4646-A459-FBC5F4D4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4" name="Picture 59" descr="Diurna ">
            <a:extLst>
              <a:ext uri="{FF2B5EF4-FFF2-40B4-BE49-F238E27FC236}">
                <a16:creationId xmlns:a16="http://schemas.microsoft.com/office/drawing/2014/main" id="{8D49E4E6-DFCC-40E5-8E41-D13C197D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5" name="Picture 60" descr="Nocturna">
            <a:extLst>
              <a:ext uri="{FF2B5EF4-FFF2-40B4-BE49-F238E27FC236}">
                <a16:creationId xmlns:a16="http://schemas.microsoft.com/office/drawing/2014/main" id="{532DB68F-DFA5-4D76-BF02-ECD1F06C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86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6" name="Picture 61" descr="Mixta">
            <a:extLst>
              <a:ext uri="{FF2B5EF4-FFF2-40B4-BE49-F238E27FC236}">
                <a16:creationId xmlns:a16="http://schemas.microsoft.com/office/drawing/2014/main" id="{B93D37E7-6A54-4299-A43E-98DE373F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7" name="Picture 62" descr="Turnos">
            <a:extLst>
              <a:ext uri="{FF2B5EF4-FFF2-40B4-BE49-F238E27FC236}">
                <a16:creationId xmlns:a16="http://schemas.microsoft.com/office/drawing/2014/main" id="{13961665-B95D-4E13-8BAF-2DEB7605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2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8" name="Picture 63" descr="Rural">
            <a:extLst>
              <a:ext uri="{FF2B5EF4-FFF2-40B4-BE49-F238E27FC236}">
                <a16:creationId xmlns:a16="http://schemas.microsoft.com/office/drawing/2014/main" id="{6571BB60-C1C8-41F2-B51F-6732E342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9" name="Picture 64" descr="Urbana">
            <a:extLst>
              <a:ext uri="{FF2B5EF4-FFF2-40B4-BE49-F238E27FC236}">
                <a16:creationId xmlns:a16="http://schemas.microsoft.com/office/drawing/2014/main" id="{DA193EE2-95AB-4D45-8FF5-9CF0B3E2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0" name="Picture 65" descr="Lu ">
            <a:extLst>
              <a:ext uri="{FF2B5EF4-FFF2-40B4-BE49-F238E27FC236}">
                <a16:creationId xmlns:a16="http://schemas.microsoft.com/office/drawing/2014/main" id="{3C06CF88-6498-4DAD-AAD5-13AFF689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1" name="Picture 66" descr="Ma">
            <a:extLst>
              <a:ext uri="{FF2B5EF4-FFF2-40B4-BE49-F238E27FC236}">
                <a16:creationId xmlns:a16="http://schemas.microsoft.com/office/drawing/2014/main" id="{884DDE55-1EE9-483B-8272-A2C60D4F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4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2" name="Picture 67" descr="Mi">
            <a:extLst>
              <a:ext uri="{FF2B5EF4-FFF2-40B4-BE49-F238E27FC236}">
                <a16:creationId xmlns:a16="http://schemas.microsoft.com/office/drawing/2014/main" id="{C5C211F7-FCAA-4918-BB95-28E9D094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3" name="Picture 68" descr="Ju">
            <a:extLst>
              <a:ext uri="{FF2B5EF4-FFF2-40B4-BE49-F238E27FC236}">
                <a16:creationId xmlns:a16="http://schemas.microsoft.com/office/drawing/2014/main" id="{686A6F2B-3A7C-41D9-8B93-56AB819DE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4" name="Picture 69" descr="Vi">
            <a:extLst>
              <a:ext uri="{FF2B5EF4-FFF2-40B4-BE49-F238E27FC236}">
                <a16:creationId xmlns:a16="http://schemas.microsoft.com/office/drawing/2014/main" id="{D9964F62-E742-40E0-94B1-B4F5FFB2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5" name="Picture 70" descr="Sa">
            <a:extLst>
              <a:ext uri="{FF2B5EF4-FFF2-40B4-BE49-F238E27FC236}">
                <a16:creationId xmlns:a16="http://schemas.microsoft.com/office/drawing/2014/main" id="{62CFF990-6E57-45FB-AE9D-87CC63E18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6" name="Picture 71" descr="Do">
            <a:extLst>
              <a:ext uri="{FF2B5EF4-FFF2-40B4-BE49-F238E27FC236}">
                <a16:creationId xmlns:a16="http://schemas.microsoft.com/office/drawing/2014/main" id="{8CCC6659-873C-4B75-AA80-EA650E655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7" name="Picture 72" descr="Normal">
            <a:extLst>
              <a:ext uri="{FF2B5EF4-FFF2-40B4-BE49-F238E27FC236}">
                <a16:creationId xmlns:a16="http://schemas.microsoft.com/office/drawing/2014/main" id="{A951720F-20C2-4A8C-A19F-BCE3546B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8" name="Picture 113" descr="CTA">
            <a:extLst>
              <a:ext uri="{FF2B5EF4-FFF2-40B4-BE49-F238E27FC236}">
                <a16:creationId xmlns:a16="http://schemas.microsoft.com/office/drawing/2014/main" id="{1285C820-EF79-4200-9CF9-55F3F4A10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9" name="Picture 114" descr="Nit">
            <a:extLst>
              <a:ext uri="{FF2B5EF4-FFF2-40B4-BE49-F238E27FC236}">
                <a16:creationId xmlns:a16="http://schemas.microsoft.com/office/drawing/2014/main" id="{4CBEA483-1DF8-4E0C-874B-F5172227F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0" name="Picture 115" descr="C.C.">
            <a:extLst>
              <a:ext uri="{FF2B5EF4-FFF2-40B4-BE49-F238E27FC236}">
                <a16:creationId xmlns:a16="http://schemas.microsoft.com/office/drawing/2014/main" id="{C9303ECE-2BB2-4575-B26F-706072DBD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1" name="Picture 116" descr="UN ">
            <a:extLst>
              <a:ext uri="{FF2B5EF4-FFF2-40B4-BE49-F238E27FC236}">
                <a16:creationId xmlns:a16="http://schemas.microsoft.com/office/drawing/2014/main" id="{97504F85-9A5F-4D31-A31B-A7F1317EC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2" name="Picture 117" descr="PA">
            <a:extLst>
              <a:ext uri="{FF2B5EF4-FFF2-40B4-BE49-F238E27FC236}">
                <a16:creationId xmlns:a16="http://schemas.microsoft.com/office/drawing/2014/main" id="{2C4B3A56-68F8-4A90-979B-525B296E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6" name="Picture 121" descr="TI  ">
            <a:extLst>
              <a:ext uri="{FF2B5EF4-FFF2-40B4-BE49-F238E27FC236}">
                <a16:creationId xmlns:a16="http://schemas.microsoft.com/office/drawing/2014/main" id="{C43974C0-50EB-4A4F-AD02-8D30A6A6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8" name="Picture 123" descr="NU  ">
            <a:extLst>
              <a:ext uri="{FF2B5EF4-FFF2-40B4-BE49-F238E27FC236}">
                <a16:creationId xmlns:a16="http://schemas.microsoft.com/office/drawing/2014/main" id="{A1DC505A-5772-4503-BF1A-12E35E0F4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9" name="Picture 124" descr="PA ">
            <a:extLst>
              <a:ext uri="{FF2B5EF4-FFF2-40B4-BE49-F238E27FC236}">
                <a16:creationId xmlns:a16="http://schemas.microsoft.com/office/drawing/2014/main" id="{DC1C84F3-7A88-420A-A8C7-3C23B67A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5" name="Picture 130" descr="F">
            <a:extLst>
              <a:ext uri="{FF2B5EF4-FFF2-40B4-BE49-F238E27FC236}">
                <a16:creationId xmlns:a16="http://schemas.microsoft.com/office/drawing/2014/main" id="{680D4D95-1601-4E28-AB98-8EE08D15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6" name="Picture 131" descr="M">
            <a:extLst>
              <a:ext uri="{FF2B5EF4-FFF2-40B4-BE49-F238E27FC236}">
                <a16:creationId xmlns:a16="http://schemas.microsoft.com/office/drawing/2014/main" id="{84090EB2-ADFC-47EA-8DF7-2158C81E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0F89362-4B76-407C-BB54-2244ECC27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055628"/>
              </p:ext>
            </p:extLst>
          </p:nvPr>
        </p:nvGraphicFramePr>
        <p:xfrm>
          <a:off x="1292837" y="2773145"/>
          <a:ext cx="10258802" cy="2945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13" name="Worksheet" r:id="rId36" imgW="23402877" imgH="7429671" progId="Excel.Sheet.8">
                  <p:embed/>
                </p:oleObj>
              </mc:Choice>
              <mc:Fallback>
                <p:oleObj name="Worksheet" r:id="rId36" imgW="23402877" imgH="7429671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292837" y="2773145"/>
                        <a:ext cx="10258802" cy="2945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CuadroTexto 57">
            <a:extLst>
              <a:ext uri="{FF2B5EF4-FFF2-40B4-BE49-F238E27FC236}">
                <a16:creationId xmlns:a16="http://schemas.microsoft.com/office/drawing/2014/main" id="{000E862E-40EE-4C60-8052-7CF4E75E274C}"/>
              </a:ext>
            </a:extLst>
          </p:cNvPr>
          <p:cNvSpPr txBox="1"/>
          <p:nvPr/>
        </p:nvSpPr>
        <p:spPr>
          <a:xfrm>
            <a:off x="2012106" y="623840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16891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Registro y análisis de accidentes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49227" y="403529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59508" y="403529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57603" y="497468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499AD8-8BF2-4731-B89A-B5D3DF2B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92" y="2861165"/>
            <a:ext cx="1953968" cy="262252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02926264-6997-467B-BF9D-9484EF7EA957}"/>
              </a:ext>
            </a:extLst>
          </p:cNvPr>
          <p:cNvSpPr txBox="1"/>
          <p:nvPr/>
        </p:nvSpPr>
        <p:spPr>
          <a:xfrm>
            <a:off x="1284964" y="32162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3C32921-122B-43AC-861A-47467066851D}"/>
              </a:ext>
            </a:extLst>
          </p:cNvPr>
          <p:cNvSpPr txBox="1"/>
          <p:nvPr/>
        </p:nvSpPr>
        <p:spPr>
          <a:xfrm>
            <a:off x="2810143" y="320812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21252112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71096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 de los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 la severidad de los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245443" y="65657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10161638" y="715282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34615" y="74573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182970" y="780870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209400" y="806087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52169" y="846850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44738" y="6377111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Medición de Accidentes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790218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Medición de accidentes</a:t>
            </a:r>
            <a:endParaRPr lang="es-CO" sz="1100" dirty="0"/>
          </a:p>
        </p:txBody>
      </p:sp>
      <p:pic>
        <p:nvPicPr>
          <p:cNvPr id="6185" name="Picture 40" descr="CTA">
            <a:extLst>
              <a:ext uri="{FF2B5EF4-FFF2-40B4-BE49-F238E27FC236}">
                <a16:creationId xmlns:a16="http://schemas.microsoft.com/office/drawing/2014/main" id="{8EDF774A-A495-4FDB-9428-53EF0CBC0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6" name="Picture 41" descr="Nit">
            <a:extLst>
              <a:ext uri="{FF2B5EF4-FFF2-40B4-BE49-F238E27FC236}">
                <a16:creationId xmlns:a16="http://schemas.microsoft.com/office/drawing/2014/main" id="{CC38BCDC-9600-4EF8-A9B9-04B4BAD9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7" name="Picture 42" descr="C.C.">
            <a:extLst>
              <a:ext uri="{FF2B5EF4-FFF2-40B4-BE49-F238E27FC236}">
                <a16:creationId xmlns:a16="http://schemas.microsoft.com/office/drawing/2014/main" id="{4B10E1A6-CBB4-4571-9B5E-8B3C9B8CC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8" name="Picture 43" descr="UN ">
            <a:extLst>
              <a:ext uri="{FF2B5EF4-FFF2-40B4-BE49-F238E27FC236}">
                <a16:creationId xmlns:a16="http://schemas.microsoft.com/office/drawing/2014/main" id="{8B99C00F-1A33-4411-A5C5-50E894E9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9" name="Picture 44" descr="PA">
            <a:extLst>
              <a:ext uri="{FF2B5EF4-FFF2-40B4-BE49-F238E27FC236}">
                <a16:creationId xmlns:a16="http://schemas.microsoft.com/office/drawing/2014/main" id="{A53E54C9-0BBE-49B2-B338-3F6A5EA81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0" name="Picture 45" descr="C.E.">
            <a:extLst>
              <a:ext uri="{FF2B5EF4-FFF2-40B4-BE49-F238E27FC236}">
                <a16:creationId xmlns:a16="http://schemas.microsoft.com/office/drawing/2014/main" id="{2882015D-485E-42F1-A42D-4064FFEBC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1" name="Picture 46" descr="Rural">
            <a:extLst>
              <a:ext uri="{FF2B5EF4-FFF2-40B4-BE49-F238E27FC236}">
                <a16:creationId xmlns:a16="http://schemas.microsoft.com/office/drawing/2014/main" id="{39AA7F62-7F94-47B0-B65C-32B1B48A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9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2" name="Picture 47" descr="Urbana">
            <a:extLst>
              <a:ext uri="{FF2B5EF4-FFF2-40B4-BE49-F238E27FC236}">
                <a16:creationId xmlns:a16="http://schemas.microsoft.com/office/drawing/2014/main" id="{B0067F4C-A542-4AC5-BBD3-E8EDF74AA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532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3" name="Picture 48" descr="TI  ">
            <a:extLst>
              <a:ext uri="{FF2B5EF4-FFF2-40B4-BE49-F238E27FC236}">
                <a16:creationId xmlns:a16="http://schemas.microsoft.com/office/drawing/2014/main" id="{BB869510-3354-409B-B793-C763295E6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4" name="Picture 49" descr="C.C. ">
            <a:extLst>
              <a:ext uri="{FF2B5EF4-FFF2-40B4-BE49-F238E27FC236}">
                <a16:creationId xmlns:a16="http://schemas.microsoft.com/office/drawing/2014/main" id="{56245F98-C3CC-4AE9-BAC2-D81828556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5" name="Picture 50" descr="NU  ">
            <a:extLst>
              <a:ext uri="{FF2B5EF4-FFF2-40B4-BE49-F238E27FC236}">
                <a16:creationId xmlns:a16="http://schemas.microsoft.com/office/drawing/2014/main" id="{218AEE06-D552-4A93-8AF1-3585585E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6" name="Picture 51" descr="PA ">
            <a:extLst>
              <a:ext uri="{FF2B5EF4-FFF2-40B4-BE49-F238E27FC236}">
                <a16:creationId xmlns:a16="http://schemas.microsoft.com/office/drawing/2014/main" id="{55885F7F-B405-432C-A6E7-7C3D37E55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7" name="Picture 52" descr="Planta ">
            <a:extLst>
              <a:ext uri="{FF2B5EF4-FFF2-40B4-BE49-F238E27FC236}">
                <a16:creationId xmlns:a16="http://schemas.microsoft.com/office/drawing/2014/main" id="{356E8DBB-A345-49F3-B4E6-3A5BECBC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8" name="Picture 53" descr="Misión">
            <a:extLst>
              <a:ext uri="{FF2B5EF4-FFF2-40B4-BE49-F238E27FC236}">
                <a16:creationId xmlns:a16="http://schemas.microsoft.com/office/drawing/2014/main" id="{85DBF27A-BA98-4528-8217-EEE85FD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9" name="Picture 54" descr="Cooperado">
            <a:extLst>
              <a:ext uri="{FF2B5EF4-FFF2-40B4-BE49-F238E27FC236}">
                <a16:creationId xmlns:a16="http://schemas.microsoft.com/office/drawing/2014/main" id="{F977E6B0-7BCE-439F-862C-EFCD70EE3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2" name="Picture 57" descr="F">
            <a:extLst>
              <a:ext uri="{FF2B5EF4-FFF2-40B4-BE49-F238E27FC236}">
                <a16:creationId xmlns:a16="http://schemas.microsoft.com/office/drawing/2014/main" id="{00FA574E-2BF6-40D7-815D-81515994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3" name="Picture 58" descr="M">
            <a:extLst>
              <a:ext uri="{FF2B5EF4-FFF2-40B4-BE49-F238E27FC236}">
                <a16:creationId xmlns:a16="http://schemas.microsoft.com/office/drawing/2014/main" id="{7F8FC9FF-CD8C-4646-A459-FBC5F4D4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4" name="Picture 59" descr="Diurna ">
            <a:extLst>
              <a:ext uri="{FF2B5EF4-FFF2-40B4-BE49-F238E27FC236}">
                <a16:creationId xmlns:a16="http://schemas.microsoft.com/office/drawing/2014/main" id="{8D49E4E6-DFCC-40E5-8E41-D13C197D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5" name="Picture 60" descr="Nocturna">
            <a:extLst>
              <a:ext uri="{FF2B5EF4-FFF2-40B4-BE49-F238E27FC236}">
                <a16:creationId xmlns:a16="http://schemas.microsoft.com/office/drawing/2014/main" id="{532DB68F-DFA5-4D76-BF02-ECD1F06C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86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6" name="Picture 61" descr="Mixta">
            <a:extLst>
              <a:ext uri="{FF2B5EF4-FFF2-40B4-BE49-F238E27FC236}">
                <a16:creationId xmlns:a16="http://schemas.microsoft.com/office/drawing/2014/main" id="{B93D37E7-6A54-4299-A43E-98DE373F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7" name="Picture 62" descr="Turnos">
            <a:extLst>
              <a:ext uri="{FF2B5EF4-FFF2-40B4-BE49-F238E27FC236}">
                <a16:creationId xmlns:a16="http://schemas.microsoft.com/office/drawing/2014/main" id="{13961665-B95D-4E13-8BAF-2DEB7605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2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8" name="Picture 63" descr="Rural">
            <a:extLst>
              <a:ext uri="{FF2B5EF4-FFF2-40B4-BE49-F238E27FC236}">
                <a16:creationId xmlns:a16="http://schemas.microsoft.com/office/drawing/2014/main" id="{6571BB60-C1C8-41F2-B51F-6732E342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9" name="Picture 64" descr="Urbana">
            <a:extLst>
              <a:ext uri="{FF2B5EF4-FFF2-40B4-BE49-F238E27FC236}">
                <a16:creationId xmlns:a16="http://schemas.microsoft.com/office/drawing/2014/main" id="{DA193EE2-95AB-4D45-8FF5-9CF0B3E2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0" name="Picture 65" descr="Lu ">
            <a:extLst>
              <a:ext uri="{FF2B5EF4-FFF2-40B4-BE49-F238E27FC236}">
                <a16:creationId xmlns:a16="http://schemas.microsoft.com/office/drawing/2014/main" id="{3C06CF88-6498-4DAD-AAD5-13AFF689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1" name="Picture 66" descr="Ma">
            <a:extLst>
              <a:ext uri="{FF2B5EF4-FFF2-40B4-BE49-F238E27FC236}">
                <a16:creationId xmlns:a16="http://schemas.microsoft.com/office/drawing/2014/main" id="{884DDE55-1EE9-483B-8272-A2C60D4F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4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2" name="Picture 67" descr="Mi">
            <a:extLst>
              <a:ext uri="{FF2B5EF4-FFF2-40B4-BE49-F238E27FC236}">
                <a16:creationId xmlns:a16="http://schemas.microsoft.com/office/drawing/2014/main" id="{C5C211F7-FCAA-4918-BB95-28E9D094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3" name="Picture 68" descr="Ju">
            <a:extLst>
              <a:ext uri="{FF2B5EF4-FFF2-40B4-BE49-F238E27FC236}">
                <a16:creationId xmlns:a16="http://schemas.microsoft.com/office/drawing/2014/main" id="{686A6F2B-3A7C-41D9-8B93-56AB819DE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4" name="Picture 69" descr="Vi">
            <a:extLst>
              <a:ext uri="{FF2B5EF4-FFF2-40B4-BE49-F238E27FC236}">
                <a16:creationId xmlns:a16="http://schemas.microsoft.com/office/drawing/2014/main" id="{D9964F62-E742-40E0-94B1-B4F5FFB2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5" name="Picture 70" descr="Sa">
            <a:extLst>
              <a:ext uri="{FF2B5EF4-FFF2-40B4-BE49-F238E27FC236}">
                <a16:creationId xmlns:a16="http://schemas.microsoft.com/office/drawing/2014/main" id="{62CFF990-6E57-45FB-AE9D-87CC63E18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6" name="Picture 71" descr="Do">
            <a:extLst>
              <a:ext uri="{FF2B5EF4-FFF2-40B4-BE49-F238E27FC236}">
                <a16:creationId xmlns:a16="http://schemas.microsoft.com/office/drawing/2014/main" id="{8CCC6659-873C-4B75-AA80-EA650E655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7" name="Picture 72" descr="Normal">
            <a:extLst>
              <a:ext uri="{FF2B5EF4-FFF2-40B4-BE49-F238E27FC236}">
                <a16:creationId xmlns:a16="http://schemas.microsoft.com/office/drawing/2014/main" id="{A951720F-20C2-4A8C-A19F-BCE3546B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8" name="Picture 113" descr="CTA">
            <a:extLst>
              <a:ext uri="{FF2B5EF4-FFF2-40B4-BE49-F238E27FC236}">
                <a16:creationId xmlns:a16="http://schemas.microsoft.com/office/drawing/2014/main" id="{1285C820-EF79-4200-9CF9-55F3F4A10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9" name="Picture 114" descr="Nit">
            <a:extLst>
              <a:ext uri="{FF2B5EF4-FFF2-40B4-BE49-F238E27FC236}">
                <a16:creationId xmlns:a16="http://schemas.microsoft.com/office/drawing/2014/main" id="{4CBEA483-1DF8-4E0C-874B-F5172227F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0" name="Picture 115" descr="C.C.">
            <a:extLst>
              <a:ext uri="{FF2B5EF4-FFF2-40B4-BE49-F238E27FC236}">
                <a16:creationId xmlns:a16="http://schemas.microsoft.com/office/drawing/2014/main" id="{C9303ECE-2BB2-4575-B26F-706072DBD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1" name="Picture 116" descr="UN ">
            <a:extLst>
              <a:ext uri="{FF2B5EF4-FFF2-40B4-BE49-F238E27FC236}">
                <a16:creationId xmlns:a16="http://schemas.microsoft.com/office/drawing/2014/main" id="{97504F85-9A5F-4D31-A31B-A7F1317EC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2" name="Picture 117" descr="PA">
            <a:extLst>
              <a:ext uri="{FF2B5EF4-FFF2-40B4-BE49-F238E27FC236}">
                <a16:creationId xmlns:a16="http://schemas.microsoft.com/office/drawing/2014/main" id="{2C4B3A56-68F8-4A90-979B-525B296E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6" name="Picture 121" descr="TI  ">
            <a:extLst>
              <a:ext uri="{FF2B5EF4-FFF2-40B4-BE49-F238E27FC236}">
                <a16:creationId xmlns:a16="http://schemas.microsoft.com/office/drawing/2014/main" id="{C43974C0-50EB-4A4F-AD02-8D30A6A6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8" name="Picture 123" descr="NU  ">
            <a:extLst>
              <a:ext uri="{FF2B5EF4-FFF2-40B4-BE49-F238E27FC236}">
                <a16:creationId xmlns:a16="http://schemas.microsoft.com/office/drawing/2014/main" id="{A1DC505A-5772-4503-BF1A-12E35E0F4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9" name="Picture 124" descr="PA ">
            <a:extLst>
              <a:ext uri="{FF2B5EF4-FFF2-40B4-BE49-F238E27FC236}">
                <a16:creationId xmlns:a16="http://schemas.microsoft.com/office/drawing/2014/main" id="{DC1C84F3-7A88-420A-A8C7-3C23B67A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5" name="Picture 130" descr="F">
            <a:extLst>
              <a:ext uri="{FF2B5EF4-FFF2-40B4-BE49-F238E27FC236}">
                <a16:creationId xmlns:a16="http://schemas.microsoft.com/office/drawing/2014/main" id="{680D4D95-1601-4E28-AB98-8EE08D15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6" name="Picture 131" descr="M">
            <a:extLst>
              <a:ext uri="{FF2B5EF4-FFF2-40B4-BE49-F238E27FC236}">
                <a16:creationId xmlns:a16="http://schemas.microsoft.com/office/drawing/2014/main" id="{84090EB2-ADFC-47EA-8DF7-2158C81E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2FD4181A-C6B9-4857-9DA1-ECD2560E95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706997"/>
              </p:ext>
            </p:extLst>
          </p:nvPr>
        </p:nvGraphicFramePr>
        <p:xfrm>
          <a:off x="5575218" y="2721624"/>
          <a:ext cx="5785034" cy="3058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9" name="Worksheet" r:id="rId36" imgW="7810436" imgH="4029203" progId="Excel.Sheet.8">
                  <p:embed/>
                </p:oleObj>
              </mc:Choice>
              <mc:Fallback>
                <p:oleObj name="Worksheet" r:id="rId36" imgW="7810436" imgH="4029203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575218" y="2721624"/>
                        <a:ext cx="5785034" cy="3058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CuadroTexto 58">
            <a:extLst>
              <a:ext uri="{FF2B5EF4-FFF2-40B4-BE49-F238E27FC236}">
                <a16:creationId xmlns:a16="http://schemas.microsoft.com/office/drawing/2014/main" id="{C4005F42-D42B-4C1F-A6B6-DCD9F1216EB7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3973123-FB20-461C-AE8E-CF7B6742BBFC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AAFA49E-5F10-45DA-983D-21AC01E9A9DA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734567D-792B-459A-A560-F32C4507314F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824F6121-7814-4884-9501-596BE53D4FC6}"/>
              </a:ext>
            </a:extLst>
          </p:cNvPr>
          <p:cNvSpPr txBox="1"/>
          <p:nvPr/>
        </p:nvSpPr>
        <p:spPr>
          <a:xfrm>
            <a:off x="3218623" y="48778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3246C20-56B4-4FBE-B44B-A494B6856261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923CE81D-B3AF-429B-A7EF-7B4D34FB5B2C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55100351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Medición de accidentes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18623" y="48778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32E476-02C6-4B72-B39D-A1173973A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38" y="3153658"/>
            <a:ext cx="2971889" cy="227208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41B38F58-D9DB-461D-ACF6-ACC11362A16D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2644B1A-AEF2-4F07-8608-C4493C148913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96684125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Medición de la severidad de los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10113040" y="69660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526746" y="726186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182970" y="76234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164" y="850636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21293" y="6757353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Severidad del accidente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68107908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Severidad del accidente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319360" y="40945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29641" y="4094553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178558" y="537455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178CD9-56E3-4E61-BB0D-1D8EF9D4D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713" y="2995104"/>
            <a:ext cx="3507843" cy="2258174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18F4B3CD-75B8-4A94-871B-4C853D382E18}"/>
              </a:ext>
            </a:extLst>
          </p:cNvPr>
          <p:cNvSpPr txBox="1"/>
          <p:nvPr/>
        </p:nvSpPr>
        <p:spPr>
          <a:xfrm>
            <a:off x="1319360" y="325782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CA2E448-0ABB-402D-A7A9-A3FC1C2EFC2E}"/>
              </a:ext>
            </a:extLst>
          </p:cNvPr>
          <p:cNvSpPr txBox="1"/>
          <p:nvPr/>
        </p:nvSpPr>
        <p:spPr>
          <a:xfrm>
            <a:off x="2844539" y="3249699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03644169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la mortalidad de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917093" y="730712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45393" y="775679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209400" y="80513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64090" y="85329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067896" y="7062616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Medición de Mortalidad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81188180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Medición de mortalidad</a:t>
            </a:r>
            <a:endParaRPr lang="es-CO" sz="1100" dirty="0"/>
          </a:p>
        </p:txBody>
      </p:sp>
      <p:pic>
        <p:nvPicPr>
          <p:cNvPr id="6185" name="Picture 40" descr="CTA">
            <a:extLst>
              <a:ext uri="{FF2B5EF4-FFF2-40B4-BE49-F238E27FC236}">
                <a16:creationId xmlns:a16="http://schemas.microsoft.com/office/drawing/2014/main" id="{8EDF774A-A495-4FDB-9428-53EF0CBC0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6" name="Picture 41" descr="Nit">
            <a:extLst>
              <a:ext uri="{FF2B5EF4-FFF2-40B4-BE49-F238E27FC236}">
                <a16:creationId xmlns:a16="http://schemas.microsoft.com/office/drawing/2014/main" id="{CC38BCDC-9600-4EF8-A9B9-04B4BAD9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7" name="Picture 42" descr="C.C.">
            <a:extLst>
              <a:ext uri="{FF2B5EF4-FFF2-40B4-BE49-F238E27FC236}">
                <a16:creationId xmlns:a16="http://schemas.microsoft.com/office/drawing/2014/main" id="{4B10E1A6-CBB4-4571-9B5E-8B3C9B8CC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8" name="Picture 43" descr="UN ">
            <a:extLst>
              <a:ext uri="{FF2B5EF4-FFF2-40B4-BE49-F238E27FC236}">
                <a16:creationId xmlns:a16="http://schemas.microsoft.com/office/drawing/2014/main" id="{8B99C00F-1A33-4411-A5C5-50E894E95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89" name="Picture 44" descr="PA">
            <a:extLst>
              <a:ext uri="{FF2B5EF4-FFF2-40B4-BE49-F238E27FC236}">
                <a16:creationId xmlns:a16="http://schemas.microsoft.com/office/drawing/2014/main" id="{A53E54C9-0BBE-49B2-B338-3F6A5EA81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0" name="Picture 45" descr="C.E.">
            <a:extLst>
              <a:ext uri="{FF2B5EF4-FFF2-40B4-BE49-F238E27FC236}">
                <a16:creationId xmlns:a16="http://schemas.microsoft.com/office/drawing/2014/main" id="{2882015D-485E-42F1-A42D-4064FFEBC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1" name="Picture 46" descr="Rural">
            <a:extLst>
              <a:ext uri="{FF2B5EF4-FFF2-40B4-BE49-F238E27FC236}">
                <a16:creationId xmlns:a16="http://schemas.microsoft.com/office/drawing/2014/main" id="{39AA7F62-7F94-47B0-B65C-32B1B48A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6197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2" name="Picture 47" descr="Urbana">
            <a:extLst>
              <a:ext uri="{FF2B5EF4-FFF2-40B4-BE49-F238E27FC236}">
                <a16:creationId xmlns:a16="http://schemas.microsoft.com/office/drawing/2014/main" id="{B0067F4C-A542-4AC5-BBD3-E8EDF74AA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5325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3" name="Picture 48" descr="TI  ">
            <a:extLst>
              <a:ext uri="{FF2B5EF4-FFF2-40B4-BE49-F238E27FC236}">
                <a16:creationId xmlns:a16="http://schemas.microsoft.com/office/drawing/2014/main" id="{BB869510-3354-409B-B793-C763295E6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4" name="Picture 49" descr="C.C. ">
            <a:extLst>
              <a:ext uri="{FF2B5EF4-FFF2-40B4-BE49-F238E27FC236}">
                <a16:creationId xmlns:a16="http://schemas.microsoft.com/office/drawing/2014/main" id="{56245F98-C3CC-4AE9-BAC2-D81828556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5" name="Picture 50" descr="NU  ">
            <a:extLst>
              <a:ext uri="{FF2B5EF4-FFF2-40B4-BE49-F238E27FC236}">
                <a16:creationId xmlns:a16="http://schemas.microsoft.com/office/drawing/2014/main" id="{218AEE06-D552-4A93-8AF1-3585585E7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6" name="Picture 51" descr="PA ">
            <a:extLst>
              <a:ext uri="{FF2B5EF4-FFF2-40B4-BE49-F238E27FC236}">
                <a16:creationId xmlns:a16="http://schemas.microsoft.com/office/drawing/2014/main" id="{55885F7F-B405-432C-A6E7-7C3D37E55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7" name="Picture 52" descr="Planta ">
            <a:extLst>
              <a:ext uri="{FF2B5EF4-FFF2-40B4-BE49-F238E27FC236}">
                <a16:creationId xmlns:a16="http://schemas.microsoft.com/office/drawing/2014/main" id="{356E8DBB-A345-49F3-B4E6-3A5BECBCD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8" name="Picture 53" descr="Misión">
            <a:extLst>
              <a:ext uri="{FF2B5EF4-FFF2-40B4-BE49-F238E27FC236}">
                <a16:creationId xmlns:a16="http://schemas.microsoft.com/office/drawing/2014/main" id="{85DBF27A-BA98-4528-8217-EEE85FD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8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9" name="Picture 54" descr="Cooperado">
            <a:extLst>
              <a:ext uri="{FF2B5EF4-FFF2-40B4-BE49-F238E27FC236}">
                <a16:creationId xmlns:a16="http://schemas.microsoft.com/office/drawing/2014/main" id="{F977E6B0-7BCE-439F-862C-EFCD70EE3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2" name="Picture 57" descr="F">
            <a:extLst>
              <a:ext uri="{FF2B5EF4-FFF2-40B4-BE49-F238E27FC236}">
                <a16:creationId xmlns:a16="http://schemas.microsoft.com/office/drawing/2014/main" id="{00FA574E-2BF6-40D7-815D-81515994F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3" name="Picture 58" descr="M">
            <a:extLst>
              <a:ext uri="{FF2B5EF4-FFF2-40B4-BE49-F238E27FC236}">
                <a16:creationId xmlns:a16="http://schemas.microsoft.com/office/drawing/2014/main" id="{7F8FC9FF-CD8C-4646-A459-FBC5F4D4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4" name="Picture 59" descr="Diurna ">
            <a:extLst>
              <a:ext uri="{FF2B5EF4-FFF2-40B4-BE49-F238E27FC236}">
                <a16:creationId xmlns:a16="http://schemas.microsoft.com/office/drawing/2014/main" id="{8D49E4E6-DFCC-40E5-8E41-D13C197D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5" name="Picture 60" descr="Nocturna">
            <a:extLst>
              <a:ext uri="{FF2B5EF4-FFF2-40B4-BE49-F238E27FC236}">
                <a16:creationId xmlns:a16="http://schemas.microsoft.com/office/drawing/2014/main" id="{532DB68F-DFA5-4D76-BF02-ECD1F06C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86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6" name="Picture 61" descr="Mixta">
            <a:extLst>
              <a:ext uri="{FF2B5EF4-FFF2-40B4-BE49-F238E27FC236}">
                <a16:creationId xmlns:a16="http://schemas.microsoft.com/office/drawing/2014/main" id="{B93D37E7-6A54-4299-A43E-98DE373FA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667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7" name="Picture 62" descr="Turnos">
            <a:extLst>
              <a:ext uri="{FF2B5EF4-FFF2-40B4-BE49-F238E27FC236}">
                <a16:creationId xmlns:a16="http://schemas.microsoft.com/office/drawing/2014/main" id="{13961665-B95D-4E13-8BAF-2DEB76056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29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8" name="Picture 63" descr="Rural">
            <a:extLst>
              <a:ext uri="{FF2B5EF4-FFF2-40B4-BE49-F238E27FC236}">
                <a16:creationId xmlns:a16="http://schemas.microsoft.com/office/drawing/2014/main" id="{6571BB60-C1C8-41F2-B51F-6732E342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4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09" name="Picture 64" descr="Urbana">
            <a:extLst>
              <a:ext uri="{FF2B5EF4-FFF2-40B4-BE49-F238E27FC236}">
                <a16:creationId xmlns:a16="http://schemas.microsoft.com/office/drawing/2014/main" id="{DA193EE2-95AB-4D45-8FF5-9CF0B3E25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67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0" name="Picture 65" descr="Lu ">
            <a:extLst>
              <a:ext uri="{FF2B5EF4-FFF2-40B4-BE49-F238E27FC236}">
                <a16:creationId xmlns:a16="http://schemas.microsoft.com/office/drawing/2014/main" id="{3C06CF88-6498-4DAD-AAD5-13AFF689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1" name="Picture 66" descr="Ma">
            <a:extLst>
              <a:ext uri="{FF2B5EF4-FFF2-40B4-BE49-F238E27FC236}">
                <a16:creationId xmlns:a16="http://schemas.microsoft.com/office/drawing/2014/main" id="{884DDE55-1EE9-483B-8272-A2C60D4FA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24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2" name="Picture 67" descr="Mi">
            <a:extLst>
              <a:ext uri="{FF2B5EF4-FFF2-40B4-BE49-F238E27FC236}">
                <a16:creationId xmlns:a16="http://schemas.microsoft.com/office/drawing/2014/main" id="{C5C211F7-FCAA-4918-BB95-28E9D094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3" name="Picture 68" descr="Ju">
            <a:extLst>
              <a:ext uri="{FF2B5EF4-FFF2-40B4-BE49-F238E27FC236}">
                <a16:creationId xmlns:a16="http://schemas.microsoft.com/office/drawing/2014/main" id="{686A6F2B-3A7C-41D9-8B93-56AB819DE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4" name="Picture 69" descr="Vi">
            <a:extLst>
              <a:ext uri="{FF2B5EF4-FFF2-40B4-BE49-F238E27FC236}">
                <a16:creationId xmlns:a16="http://schemas.microsoft.com/office/drawing/2014/main" id="{D9964F62-E742-40E0-94B1-B4F5FFB2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5" name="Picture 70" descr="Sa">
            <a:extLst>
              <a:ext uri="{FF2B5EF4-FFF2-40B4-BE49-F238E27FC236}">
                <a16:creationId xmlns:a16="http://schemas.microsoft.com/office/drawing/2014/main" id="{62CFF990-6E57-45FB-AE9D-87CC63E18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6" name="Picture 71" descr="Do">
            <a:extLst>
              <a:ext uri="{FF2B5EF4-FFF2-40B4-BE49-F238E27FC236}">
                <a16:creationId xmlns:a16="http://schemas.microsoft.com/office/drawing/2014/main" id="{8CCC6659-873C-4B75-AA80-EA650E655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7" name="Picture 72" descr="Normal">
            <a:extLst>
              <a:ext uri="{FF2B5EF4-FFF2-40B4-BE49-F238E27FC236}">
                <a16:creationId xmlns:a16="http://schemas.microsoft.com/office/drawing/2014/main" id="{A951720F-20C2-4A8C-A19F-BCE3546B6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38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8" name="Picture 113" descr="CTA">
            <a:extLst>
              <a:ext uri="{FF2B5EF4-FFF2-40B4-BE49-F238E27FC236}">
                <a16:creationId xmlns:a16="http://schemas.microsoft.com/office/drawing/2014/main" id="{1285C820-EF79-4200-9CF9-55F3F4A10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05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9" name="Picture 114" descr="Nit">
            <a:extLst>
              <a:ext uri="{FF2B5EF4-FFF2-40B4-BE49-F238E27FC236}">
                <a16:creationId xmlns:a16="http://schemas.microsoft.com/office/drawing/2014/main" id="{4CBEA483-1DF8-4E0C-874B-F5172227F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33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0" name="Picture 115" descr="C.C.">
            <a:extLst>
              <a:ext uri="{FF2B5EF4-FFF2-40B4-BE49-F238E27FC236}">
                <a16:creationId xmlns:a16="http://schemas.microsoft.com/office/drawing/2014/main" id="{C9303ECE-2BB2-4575-B26F-706072DBD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1" name="Picture 116" descr="UN ">
            <a:extLst>
              <a:ext uri="{FF2B5EF4-FFF2-40B4-BE49-F238E27FC236}">
                <a16:creationId xmlns:a16="http://schemas.microsoft.com/office/drawing/2014/main" id="{97504F85-9A5F-4D31-A31B-A7F1317EC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2" name="Picture 117" descr="PA">
            <a:extLst>
              <a:ext uri="{FF2B5EF4-FFF2-40B4-BE49-F238E27FC236}">
                <a16:creationId xmlns:a16="http://schemas.microsoft.com/office/drawing/2014/main" id="{2C4B3A56-68F8-4A90-979B-525B296E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6" name="Picture 121" descr="TI  ">
            <a:extLst>
              <a:ext uri="{FF2B5EF4-FFF2-40B4-BE49-F238E27FC236}">
                <a16:creationId xmlns:a16="http://schemas.microsoft.com/office/drawing/2014/main" id="{C43974C0-50EB-4A4F-AD02-8D30A6A6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8" name="Picture 123" descr="NU  ">
            <a:extLst>
              <a:ext uri="{FF2B5EF4-FFF2-40B4-BE49-F238E27FC236}">
                <a16:creationId xmlns:a16="http://schemas.microsoft.com/office/drawing/2014/main" id="{A1DC505A-5772-4503-BF1A-12E35E0F4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9" name="Picture 124" descr="PA ">
            <a:extLst>
              <a:ext uri="{FF2B5EF4-FFF2-40B4-BE49-F238E27FC236}">
                <a16:creationId xmlns:a16="http://schemas.microsoft.com/office/drawing/2014/main" id="{DC1C84F3-7A88-420A-A8C7-3C23B67A6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238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5" name="Picture 130" descr="F">
            <a:extLst>
              <a:ext uri="{FF2B5EF4-FFF2-40B4-BE49-F238E27FC236}">
                <a16:creationId xmlns:a16="http://schemas.microsoft.com/office/drawing/2014/main" id="{680D4D95-1601-4E28-AB98-8EE08D15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6" name="Picture 131" descr="M">
            <a:extLst>
              <a:ext uri="{FF2B5EF4-FFF2-40B4-BE49-F238E27FC236}">
                <a16:creationId xmlns:a16="http://schemas.microsoft.com/office/drawing/2014/main" id="{84090EB2-ADFC-47EA-8DF7-2158C81EA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432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E6E117DD-972E-4536-951A-D9B56877C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611511"/>
              </p:ext>
            </p:extLst>
          </p:nvPr>
        </p:nvGraphicFramePr>
        <p:xfrm>
          <a:off x="5463401" y="2852051"/>
          <a:ext cx="5893027" cy="316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99" name="Worksheet" r:id="rId36" imgW="7810436" imgH="4191185" progId="Excel.Sheet.8">
                  <p:embed/>
                </p:oleObj>
              </mc:Choice>
              <mc:Fallback>
                <p:oleObj name="Worksheet" r:id="rId36" imgW="7810436" imgH="419118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463401" y="2852051"/>
                        <a:ext cx="5893027" cy="3162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CuadroTexto 57">
            <a:extLst>
              <a:ext uri="{FF2B5EF4-FFF2-40B4-BE49-F238E27FC236}">
                <a16:creationId xmlns:a16="http://schemas.microsoft.com/office/drawing/2014/main" id="{E85AA8FC-5753-447B-8076-58C783E93371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6A3FCC0-56AF-42B6-8FB6-55149DA7FB34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A44A1E5-8BEF-4938-9995-35B84B8182D1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7AB5724E-E6AA-4AB6-821D-FA44225B3DA2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ABFEF87-6E9D-43C6-BC2F-AF41F398E69E}"/>
              </a:ext>
            </a:extLst>
          </p:cNvPr>
          <p:cNvSpPr txBox="1"/>
          <p:nvPr/>
        </p:nvSpPr>
        <p:spPr>
          <a:xfrm>
            <a:off x="3218623" y="48778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7A0D692-E646-495E-BEB2-4805320E9530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287C7A4-4F39-49F1-9176-1004502D7579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34785363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9249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Medición de la prevalencia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10711386" y="760897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83792" y="809886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836892" y="846850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61681" y="7437785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Prevalencia de incidentes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266587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Prevalencia de incidentes </a:t>
            </a:r>
            <a:endParaRPr lang="es-CO" sz="11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994020A-9E71-4C33-846E-2F830F25FAB8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96BF61C-B353-4956-952C-D33975B174A0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9F57B01-C664-47F4-AAB9-C0338049A6CC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E9DF643-BF7F-4323-BAA0-0C23FD941E46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89C94E5-BEC4-4F6F-AB4A-00F68184B44C}"/>
              </a:ext>
            </a:extLst>
          </p:cNvPr>
          <p:cNvSpPr txBox="1"/>
          <p:nvPr/>
        </p:nvSpPr>
        <p:spPr>
          <a:xfrm>
            <a:off x="3218623" y="48778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0390B2-B72C-41AE-9254-49B116E6435A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E634F33-4733-4743-A49B-6182AFF93F9B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7340899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Medición de la prevalencia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 Medición de la incidencia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del ausentismo por incidentes, Accidentes de Trabajo y Enfermedad Laboral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10711386" y="760897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701965" y="816196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10626193" y="86970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207427" y="8006842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Prevalencia de la incidencia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21016547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5433237" y="2730489"/>
            <a:ext cx="5965295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Prevalencia de la incidencia</a:t>
            </a:r>
            <a:endParaRPr lang="es-CO" sz="11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FC47E9E-4B7C-46E0-BE57-2E83D4011BD1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641042A-5C56-424A-905A-A2023CF6523A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1A2C015-D33E-42F3-A55F-6A66024DF1B6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81C2542-D54D-41C1-A2DC-76F55D5A522D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6346769-20A8-4F00-A12D-718ECA2D29B0}"/>
              </a:ext>
            </a:extLst>
          </p:cNvPr>
          <p:cNvSpPr txBox="1"/>
          <p:nvPr/>
        </p:nvSpPr>
        <p:spPr>
          <a:xfrm>
            <a:off x="3320126" y="507408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0753E1F-76B0-4826-92AE-38A83B8FC1EF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2B233BD-76E0-47C5-AD8D-D518268E5497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40129937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72943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Medición de la prevalencia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 Medición de la incidencia de Incidentes, Accidentes de Trabajo y Enfermedad Laboral</a:t>
            </a:r>
          </a:p>
          <a:p>
            <a:endParaRPr lang="es-MX" sz="1200" dirty="0"/>
          </a:p>
          <a:p>
            <a:r>
              <a:rPr lang="es-MX" sz="1200" dirty="0"/>
              <a:t>Medición del ausentismo por incidentes, Accidentes de Trabajo y Enfermedad Laboral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10711386" y="760897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701965" y="816196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10626193" y="86970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207427" y="8541875"/>
            <a:ext cx="130842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Medición ausentismo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01587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5358809" y="2761570"/>
            <a:ext cx="5854626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Medición de ausentismo</a:t>
            </a:r>
            <a:endParaRPr lang="es-CO" sz="11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7FDAC65-2A35-45B5-ADDA-34AEFD3431F3}"/>
              </a:ext>
            </a:extLst>
          </p:cNvPr>
          <p:cNvSpPr txBox="1"/>
          <p:nvPr/>
        </p:nvSpPr>
        <p:spPr>
          <a:xfrm>
            <a:off x="1319360" y="407425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1E1FE39-D237-4927-961A-98407330F880}"/>
              </a:ext>
            </a:extLst>
          </p:cNvPr>
          <p:cNvSpPr txBox="1"/>
          <p:nvPr/>
        </p:nvSpPr>
        <p:spPr>
          <a:xfrm>
            <a:off x="2829641" y="4074257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4FDC218-A29B-49AB-9446-06931606D7BB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Completo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C8FBF74-E507-4C1C-8DB3-1083B94E7128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7029648-AC10-42A8-86EE-0858B83DAF22}"/>
              </a:ext>
            </a:extLst>
          </p:cNvPr>
          <p:cNvSpPr txBox="1"/>
          <p:nvPr/>
        </p:nvSpPr>
        <p:spPr>
          <a:xfrm>
            <a:off x="3229256" y="521258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43BEA99-019B-43CA-8E7D-7B948CE110EC}"/>
              </a:ext>
            </a:extLst>
          </p:cNvPr>
          <p:cNvSpPr txBox="1"/>
          <p:nvPr/>
        </p:nvSpPr>
        <p:spPr>
          <a:xfrm>
            <a:off x="1284964" y="31902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8E743F3-A64E-419E-8981-A60185CD3BDD}"/>
              </a:ext>
            </a:extLst>
          </p:cNvPr>
          <p:cNvSpPr txBox="1"/>
          <p:nvPr/>
        </p:nvSpPr>
        <p:spPr>
          <a:xfrm>
            <a:off x="2810143" y="318215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8713002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2EBE7FAD-4CCC-40FA-96A2-05DEFB1B3DF6}"/>
              </a:ext>
            </a:extLst>
          </p:cNvPr>
          <p:cNvSpPr/>
          <p:nvPr/>
        </p:nvSpPr>
        <p:spPr>
          <a:xfrm>
            <a:off x="10115616" y="1992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23538" y="1937732"/>
            <a:ext cx="3294003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Descripción sociodemográfica</a:t>
            </a:r>
          </a:p>
          <a:p>
            <a:endParaRPr lang="es-MX" sz="1200" dirty="0"/>
          </a:p>
          <a:p>
            <a:r>
              <a:rPr lang="es-MX" sz="1200" dirty="0"/>
              <a:t>Actividad de promoción y prevención en salud</a:t>
            </a:r>
          </a:p>
          <a:p>
            <a:endParaRPr lang="es-MX" sz="1200" dirty="0"/>
          </a:p>
          <a:p>
            <a:r>
              <a:rPr lang="es-MX" sz="1200" dirty="0"/>
              <a:t>perfiles del cargo</a:t>
            </a:r>
          </a:p>
          <a:p>
            <a:endParaRPr lang="es-MX" sz="1200" dirty="0"/>
          </a:p>
          <a:p>
            <a:r>
              <a:rPr lang="es-MX" sz="1200" dirty="0"/>
              <a:t>Evaluación medica ocupacional </a:t>
            </a:r>
          </a:p>
          <a:p>
            <a:endParaRPr lang="es-MX" sz="1200" dirty="0"/>
          </a:p>
          <a:p>
            <a:r>
              <a:rPr lang="es-MX" sz="1200" dirty="0"/>
              <a:t>Custodia de historias clínicas</a:t>
            </a:r>
          </a:p>
          <a:p>
            <a:endParaRPr lang="es-MX" sz="1200" dirty="0"/>
          </a:p>
          <a:p>
            <a:r>
              <a:rPr lang="es-MX" sz="1200" dirty="0"/>
              <a:t>Restricciones y recomendación medica laboral </a:t>
            </a:r>
          </a:p>
          <a:p>
            <a:endParaRPr lang="es-MX" sz="1200" dirty="0"/>
          </a:p>
          <a:p>
            <a:r>
              <a:rPr lang="es-MX" sz="1200" dirty="0"/>
              <a:t>Estilo de vida y entornos laborales</a:t>
            </a:r>
          </a:p>
          <a:p>
            <a:endParaRPr lang="es-MX" sz="1200" dirty="0"/>
          </a:p>
          <a:p>
            <a:r>
              <a:rPr lang="es-MX" sz="1200" dirty="0"/>
              <a:t>Servicios de higiene</a:t>
            </a:r>
          </a:p>
          <a:p>
            <a:endParaRPr lang="es-MX" sz="1200" dirty="0"/>
          </a:p>
          <a:p>
            <a:r>
              <a:rPr lang="es-MX" sz="1200" dirty="0"/>
              <a:t>Manejo de residuos</a:t>
            </a:r>
          </a:p>
          <a:p>
            <a:endParaRPr lang="es-MX" sz="1200" dirty="0"/>
          </a:p>
          <a:p>
            <a:r>
              <a:rPr lang="es-MX" sz="1200" dirty="0"/>
              <a:t>Reporte de accidentes laborales</a:t>
            </a:r>
          </a:p>
          <a:p>
            <a:endParaRPr lang="es-MX" sz="1200" dirty="0"/>
          </a:p>
          <a:p>
            <a:r>
              <a:rPr lang="es-MX" sz="1200" dirty="0"/>
              <a:t>Investigación  de accidentes</a:t>
            </a:r>
          </a:p>
          <a:p>
            <a:endParaRPr lang="es-MX" sz="1200" dirty="0"/>
          </a:p>
          <a:p>
            <a:r>
              <a:rPr lang="es-MX" sz="1200" dirty="0"/>
              <a:t>Registro de accidente e incidentes laborales</a:t>
            </a:r>
          </a:p>
          <a:p>
            <a:endParaRPr lang="es-MX" sz="1200" dirty="0"/>
          </a:p>
          <a:p>
            <a:r>
              <a:rPr lang="es-MX" sz="1200" dirty="0"/>
              <a:t>Medición de accidentes laborales</a:t>
            </a:r>
          </a:p>
          <a:p>
            <a:endParaRPr lang="es-MX" sz="1200" dirty="0"/>
          </a:p>
          <a:p>
            <a:r>
              <a:rPr lang="es-MX" sz="1200" dirty="0"/>
              <a:t>Severidad de accidentalidad</a:t>
            </a:r>
          </a:p>
          <a:p>
            <a:endParaRPr lang="es-MX" sz="1200" dirty="0"/>
          </a:p>
          <a:p>
            <a:r>
              <a:rPr lang="es-MX" sz="1200" dirty="0"/>
              <a:t>Medición de mortalidad</a:t>
            </a:r>
          </a:p>
          <a:p>
            <a:endParaRPr lang="es-MX" sz="1200" dirty="0"/>
          </a:p>
          <a:p>
            <a:r>
              <a:rPr lang="es-MX" sz="1200" dirty="0"/>
              <a:t>Enfermedad laboral</a:t>
            </a:r>
          </a:p>
          <a:p>
            <a:endParaRPr lang="es-MX" sz="1200" dirty="0"/>
          </a:p>
          <a:p>
            <a:r>
              <a:rPr lang="es-MX" sz="1200" dirty="0"/>
              <a:t>Incidencia de la enfermedad laboral</a:t>
            </a:r>
          </a:p>
          <a:p>
            <a:endParaRPr lang="es-MX" sz="1200" dirty="0"/>
          </a:p>
          <a:p>
            <a:r>
              <a:rPr lang="es-MX" sz="1200" dirty="0"/>
              <a:t>Ausentismo por causa medica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BCC55587-CC69-41BF-8B8E-B4B1C3DBD47C}"/>
              </a:ext>
            </a:extLst>
          </p:cNvPr>
          <p:cNvSpPr/>
          <p:nvPr/>
        </p:nvSpPr>
        <p:spPr>
          <a:xfrm>
            <a:off x="10711389" y="24020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DC2CD4F9-5180-49F0-80CD-563DD4D498F2}"/>
              </a:ext>
            </a:extLst>
          </p:cNvPr>
          <p:cNvSpPr/>
          <p:nvPr/>
        </p:nvSpPr>
        <p:spPr>
          <a:xfrm>
            <a:off x="9045699" y="28215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9429AB0-84B0-4A28-9D6B-4AD8FCE9A6C4}"/>
              </a:ext>
            </a:extLst>
          </p:cNvPr>
          <p:cNvSpPr/>
          <p:nvPr/>
        </p:nvSpPr>
        <p:spPr>
          <a:xfrm>
            <a:off x="9766752" y="318594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05BF883-E754-440C-8978-FF93EEA9E74C}"/>
              </a:ext>
            </a:extLst>
          </p:cNvPr>
          <p:cNvSpPr/>
          <p:nvPr/>
        </p:nvSpPr>
        <p:spPr>
          <a:xfrm>
            <a:off x="9764600" y="352447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701BFBD5-D23A-43C5-B12A-2ED0BFBA98CA}"/>
              </a:ext>
            </a:extLst>
          </p:cNvPr>
          <p:cNvSpPr/>
          <p:nvPr/>
        </p:nvSpPr>
        <p:spPr>
          <a:xfrm>
            <a:off x="10151659" y="37709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0061065" y="411451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A29708B5-BDB2-4542-9D44-8C6B782FACE6}"/>
              </a:ext>
            </a:extLst>
          </p:cNvPr>
          <p:cNvSpPr/>
          <p:nvPr/>
        </p:nvSpPr>
        <p:spPr>
          <a:xfrm>
            <a:off x="10115616" y="20438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C9EB0A8A-BB30-4F3B-8250-9AB79CF74052}"/>
              </a:ext>
            </a:extLst>
          </p:cNvPr>
          <p:cNvSpPr/>
          <p:nvPr/>
        </p:nvSpPr>
        <p:spPr>
          <a:xfrm>
            <a:off x="9327052" y="464081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A3D7E755-0FAF-4B64-ACCA-9A43FC3C4BF5}"/>
              </a:ext>
            </a:extLst>
          </p:cNvPr>
          <p:cNvSpPr/>
          <p:nvPr/>
        </p:nvSpPr>
        <p:spPr>
          <a:xfrm>
            <a:off x="9974069" y="533398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9432962" y="497813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FCABA9E2-4E1B-425F-A5D9-243F6348F77F}"/>
              </a:ext>
            </a:extLst>
          </p:cNvPr>
          <p:cNvSpPr/>
          <p:nvPr/>
        </p:nvSpPr>
        <p:spPr>
          <a:xfrm>
            <a:off x="9764600" y="570171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BDF5184A-4EF6-4FA1-9E26-90550FFEB94F}"/>
              </a:ext>
            </a:extLst>
          </p:cNvPr>
          <p:cNvSpPr/>
          <p:nvPr/>
        </p:nvSpPr>
        <p:spPr>
          <a:xfrm>
            <a:off x="10617602" y="612384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3F078904-D936-44CF-9A20-D4E333605C68}"/>
              </a:ext>
            </a:extLst>
          </p:cNvPr>
          <p:cNvSpPr/>
          <p:nvPr/>
        </p:nvSpPr>
        <p:spPr>
          <a:xfrm>
            <a:off x="10024461" y="6477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8E3A7533-D35A-4F13-8270-B8154272F482}"/>
              </a:ext>
            </a:extLst>
          </p:cNvPr>
          <p:cNvSpPr/>
          <p:nvPr/>
        </p:nvSpPr>
        <p:spPr>
          <a:xfrm>
            <a:off x="9608406" y="682014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F41C8E6D-6F0F-46A3-8323-034F34D63604}"/>
              </a:ext>
            </a:extLst>
          </p:cNvPr>
          <p:cNvSpPr/>
          <p:nvPr/>
        </p:nvSpPr>
        <p:spPr>
          <a:xfrm>
            <a:off x="9420837" y="71632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9121F5A5-65B4-4608-BF2E-E26686D9609B}"/>
              </a:ext>
            </a:extLst>
          </p:cNvPr>
          <p:cNvSpPr/>
          <p:nvPr/>
        </p:nvSpPr>
        <p:spPr>
          <a:xfrm>
            <a:off x="9233268" y="753843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B06C93CC-1563-417B-A3D3-D63F2E740D69}"/>
              </a:ext>
            </a:extLst>
          </p:cNvPr>
          <p:cNvSpPr/>
          <p:nvPr/>
        </p:nvSpPr>
        <p:spPr>
          <a:xfrm>
            <a:off x="10161638" y="78862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9AA5A451-DF3B-4465-A617-BD524E26D705}"/>
              </a:ext>
            </a:extLst>
          </p:cNvPr>
          <p:cNvSpPr/>
          <p:nvPr/>
        </p:nvSpPr>
        <p:spPr>
          <a:xfrm>
            <a:off x="9974069" y="831997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748B575-A95E-42AD-A112-E097152BFA94}"/>
              </a:ext>
            </a:extLst>
          </p:cNvPr>
          <p:cNvSpPr txBox="1"/>
          <p:nvPr/>
        </p:nvSpPr>
        <p:spPr>
          <a:xfrm>
            <a:off x="11103745" y="8257177"/>
            <a:ext cx="130842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Ausentismo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21022976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para la identificación, evaluación y valoración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1032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16049" y="60988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51783" y="57189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77690" y="534377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82248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51338" y="446048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407587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70818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0327" y="2710259"/>
            <a:ext cx="127457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Identificación de Peligros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013535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Metodología identificación de peligros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Metodología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Identificación de peligros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507439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494232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481025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534540" y="62618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49CA8DB-3040-4B20-A39F-511CAEA0CAE0}"/>
              </a:ext>
            </a:extLst>
          </p:cNvPr>
          <p:cNvSpPr txBox="1"/>
          <p:nvPr/>
        </p:nvSpPr>
        <p:spPr>
          <a:xfrm>
            <a:off x="1698806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86820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/>
              <a:t>Metodología identificación de peligros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Metodología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943898" y="460084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33756A-4DE4-43C9-B8F2-4DCDF511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029" y="3090759"/>
            <a:ext cx="2366767" cy="19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353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con participación de todos los niveles de la empresa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13897" y="337304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80235" y="609819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92407" y="568112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831611" y="533314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79" y="481697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846920" y="446267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186451" y="40937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4" y="371881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302073" y="2987090"/>
            <a:ext cx="121377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Identificación de Peligros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7823889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Identificación de peligros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87785" y="62376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74578" y="62376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761371" y="62376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814886" y="623769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E3D1B4C1-E5D1-422F-8123-9C6A6C28B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235888"/>
              </p:ext>
            </p:extLst>
          </p:nvPr>
        </p:nvGraphicFramePr>
        <p:xfrm>
          <a:off x="1284964" y="2819322"/>
          <a:ext cx="10266675" cy="2694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7" name="Worksheet" r:id="rId5" imgW="21450364" imgH="13077925" progId="Excel.Sheet.8">
                  <p:embed/>
                </p:oleObj>
              </mc:Choice>
              <mc:Fallback>
                <p:oleObj name="Worksheet" r:id="rId5" imgW="21450364" imgH="1307792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4964" y="2819322"/>
                        <a:ext cx="10266675" cy="2694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DDA7BA56-DA81-4CC6-A618-041962386DB2}"/>
              </a:ext>
            </a:extLst>
          </p:cNvPr>
          <p:cNvSpPr txBox="1"/>
          <p:nvPr/>
        </p:nvSpPr>
        <p:spPr>
          <a:xfrm>
            <a:off x="1919999" y="623768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08737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Identificación de peligros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02611" y="496178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7142A7-FC2C-4F89-981A-DF97CE3E7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264" y="2869292"/>
            <a:ext cx="4246117" cy="261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7129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cancerígenas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16050" y="59308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25988" y="55311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1033" y="51949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8141" y="3429000"/>
            <a:ext cx="118103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Identificación de sustancias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1525989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Identificación de sustancias cancerígenas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4A4C7B1-79DD-4446-8C90-5A706CA4B255}"/>
              </a:ext>
            </a:extLst>
          </p:cNvPr>
          <p:cNvSpPr txBox="1"/>
          <p:nvPr/>
        </p:nvSpPr>
        <p:spPr>
          <a:xfrm>
            <a:off x="1549405" y="321355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Grupo IARC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B215035-B4FA-4FAA-91A2-0AC0579AF2B9}"/>
              </a:ext>
            </a:extLst>
          </p:cNvPr>
          <p:cNvSpPr txBox="1"/>
          <p:nvPr/>
        </p:nvSpPr>
        <p:spPr>
          <a:xfrm>
            <a:off x="3010845" y="3213556"/>
            <a:ext cx="275575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Descripción de la clasificación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F8102C2-1146-4B16-8B13-4B282792C851}"/>
              </a:ext>
            </a:extLst>
          </p:cNvPr>
          <p:cNvSpPr txBox="1"/>
          <p:nvPr/>
        </p:nvSpPr>
        <p:spPr>
          <a:xfrm>
            <a:off x="5842552" y="3213556"/>
            <a:ext cx="165303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Cantidad de agentes clasificados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369EEAF-879E-4596-BA9F-9DD41DFEA503}"/>
              </a:ext>
            </a:extLst>
          </p:cNvPr>
          <p:cNvSpPr txBox="1"/>
          <p:nvPr/>
        </p:nvSpPr>
        <p:spPr>
          <a:xfrm>
            <a:off x="1554837" y="3475980"/>
            <a:ext cx="13800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Grupo 1 (G1)</a:t>
            </a:r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9AACC3F-93F5-4FF6-A51F-D22559FA2E13}"/>
              </a:ext>
            </a:extLst>
          </p:cNvPr>
          <p:cNvSpPr txBox="1"/>
          <p:nvPr/>
        </p:nvSpPr>
        <p:spPr>
          <a:xfrm>
            <a:off x="3010845" y="3462033"/>
            <a:ext cx="275575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Carcinógenos para humanos</a:t>
            </a:r>
            <a:endParaRPr lang="es-MX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EF2FA59-25D0-4E95-9DE9-37165CF955A0}"/>
              </a:ext>
            </a:extLst>
          </p:cNvPr>
          <p:cNvSpPr txBox="1"/>
          <p:nvPr/>
        </p:nvSpPr>
        <p:spPr>
          <a:xfrm>
            <a:off x="5842552" y="3438559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107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F502CC7-E63E-445E-96BD-9DB8723AB616}"/>
              </a:ext>
            </a:extLst>
          </p:cNvPr>
          <p:cNvSpPr txBox="1"/>
          <p:nvPr/>
        </p:nvSpPr>
        <p:spPr>
          <a:xfrm>
            <a:off x="1554837" y="3738404"/>
            <a:ext cx="13800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Grupo 2A (G2A)</a:t>
            </a:r>
            <a:endParaRPr lang="es-MX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1FE2311-6B8B-468D-8015-1851D8ACF0A8}"/>
              </a:ext>
            </a:extLst>
          </p:cNvPr>
          <p:cNvSpPr txBox="1"/>
          <p:nvPr/>
        </p:nvSpPr>
        <p:spPr>
          <a:xfrm>
            <a:off x="3010846" y="3724457"/>
            <a:ext cx="27557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Probablemente carcinógeno para humanos</a:t>
            </a:r>
            <a:endParaRPr lang="es-MX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C907677-CF96-4AF7-BF0B-A4FBB7A5AAD6}"/>
              </a:ext>
            </a:extLst>
          </p:cNvPr>
          <p:cNvSpPr txBox="1"/>
          <p:nvPr/>
        </p:nvSpPr>
        <p:spPr>
          <a:xfrm>
            <a:off x="5842552" y="3700983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59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0BE5043-32DC-43D0-984D-62B581B2E889}"/>
              </a:ext>
            </a:extLst>
          </p:cNvPr>
          <p:cNvSpPr txBox="1"/>
          <p:nvPr/>
        </p:nvSpPr>
        <p:spPr>
          <a:xfrm>
            <a:off x="1554837" y="4016777"/>
            <a:ext cx="13800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Grupo 2B (G2B ) </a:t>
            </a:r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22BD907-BD16-4AD8-A51B-8C2DE314F1C2}"/>
              </a:ext>
            </a:extLst>
          </p:cNvPr>
          <p:cNvSpPr txBox="1"/>
          <p:nvPr/>
        </p:nvSpPr>
        <p:spPr>
          <a:xfrm>
            <a:off x="3010845" y="4002830"/>
            <a:ext cx="27557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Posiblemente carcinógeno para humanos</a:t>
            </a:r>
            <a:endParaRPr lang="es-MX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4090035-7046-403B-BFAC-FB1B3F616624}"/>
              </a:ext>
            </a:extLst>
          </p:cNvPr>
          <p:cNvSpPr txBox="1"/>
          <p:nvPr/>
        </p:nvSpPr>
        <p:spPr>
          <a:xfrm>
            <a:off x="5842552" y="3979356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266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78B1435-B893-4514-9E42-F4463B2D7615}"/>
              </a:ext>
            </a:extLst>
          </p:cNvPr>
          <p:cNvSpPr txBox="1"/>
          <p:nvPr/>
        </p:nvSpPr>
        <p:spPr>
          <a:xfrm>
            <a:off x="1554837" y="4298553"/>
            <a:ext cx="13800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Grupo 3 (G3)</a:t>
            </a:r>
            <a:endParaRPr lang="es-MX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89AD550-8C42-49D1-AA22-7B819AB69C97}"/>
              </a:ext>
            </a:extLst>
          </p:cNvPr>
          <p:cNvSpPr txBox="1"/>
          <p:nvPr/>
        </p:nvSpPr>
        <p:spPr>
          <a:xfrm>
            <a:off x="3010845" y="4284606"/>
            <a:ext cx="27557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No clasificable respecto a su carcinogenicidad para humanos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6AD30C8-1BF8-458E-BA5D-84A4A4BC8F2B}"/>
              </a:ext>
            </a:extLst>
          </p:cNvPr>
          <p:cNvSpPr txBox="1"/>
          <p:nvPr/>
        </p:nvSpPr>
        <p:spPr>
          <a:xfrm>
            <a:off x="5873855" y="4253129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508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368F701-B15C-4F18-B0BD-69625F8384F0}"/>
              </a:ext>
            </a:extLst>
          </p:cNvPr>
          <p:cNvSpPr txBox="1"/>
          <p:nvPr/>
        </p:nvSpPr>
        <p:spPr>
          <a:xfrm>
            <a:off x="1554837" y="4590377"/>
            <a:ext cx="13800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Grupo 4 (G4)</a:t>
            </a:r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A9D20C9-5F5B-4500-9203-C57D1BF36694}"/>
              </a:ext>
            </a:extLst>
          </p:cNvPr>
          <p:cNvSpPr txBox="1"/>
          <p:nvPr/>
        </p:nvSpPr>
        <p:spPr>
          <a:xfrm>
            <a:off x="3010845" y="4576430"/>
            <a:ext cx="275575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Probablemente no carcinógeno para humanos</a:t>
            </a:r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E756DFD-0C1B-46FB-AF63-E0CE4F371CD8}"/>
              </a:ext>
            </a:extLst>
          </p:cNvPr>
          <p:cNvSpPr txBox="1"/>
          <p:nvPr/>
        </p:nvSpPr>
        <p:spPr>
          <a:xfrm>
            <a:off x="5842552" y="4552956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E3B2853-0F93-47D8-AEC4-99D7EB43C890}"/>
              </a:ext>
            </a:extLst>
          </p:cNvPr>
          <p:cNvSpPr txBox="1"/>
          <p:nvPr/>
        </p:nvSpPr>
        <p:spPr>
          <a:xfrm>
            <a:off x="7558194" y="3213556"/>
            <a:ext cx="165303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Agentes químicos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DCCC5EE-7D0C-4A74-AC45-D26F58386799}"/>
              </a:ext>
            </a:extLst>
          </p:cNvPr>
          <p:cNvSpPr txBox="1"/>
          <p:nvPr/>
        </p:nvSpPr>
        <p:spPr>
          <a:xfrm>
            <a:off x="7558194" y="3451168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Gases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DF7C1CD-C901-4516-83C7-29C52D0A2A1A}"/>
              </a:ext>
            </a:extLst>
          </p:cNvPr>
          <p:cNvSpPr txBox="1"/>
          <p:nvPr/>
        </p:nvSpPr>
        <p:spPr>
          <a:xfrm>
            <a:off x="7558194" y="3729541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Vapores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2B5C6F5-AC8F-49A3-96AE-192610B3CF37}"/>
              </a:ext>
            </a:extLst>
          </p:cNvPr>
          <p:cNvSpPr txBox="1"/>
          <p:nvPr/>
        </p:nvSpPr>
        <p:spPr>
          <a:xfrm>
            <a:off x="7558194" y="4011317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Polvos 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F1EA910-F822-4B96-A550-256C34CB0A9B}"/>
              </a:ext>
            </a:extLst>
          </p:cNvPr>
          <p:cNvSpPr txBox="1"/>
          <p:nvPr/>
        </p:nvSpPr>
        <p:spPr>
          <a:xfrm>
            <a:off x="7558194" y="4303141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Humos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0DF5D83-1E33-4F97-801A-487C470C263F}"/>
              </a:ext>
            </a:extLst>
          </p:cNvPr>
          <p:cNvSpPr txBox="1"/>
          <p:nvPr/>
        </p:nvSpPr>
        <p:spPr>
          <a:xfrm>
            <a:off x="7558194" y="4569980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Nieblas 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A697D45-96F3-4D8D-B550-8E7A56EE827A}"/>
              </a:ext>
            </a:extLst>
          </p:cNvPr>
          <p:cNvSpPr txBox="1"/>
          <p:nvPr/>
        </p:nvSpPr>
        <p:spPr>
          <a:xfrm>
            <a:off x="7558194" y="4848353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Fibras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37EB6B-7D8F-4BD2-A9F8-DD2E33BF7DCD}"/>
              </a:ext>
            </a:extLst>
          </p:cNvPr>
          <p:cNvSpPr txBox="1"/>
          <p:nvPr/>
        </p:nvSpPr>
        <p:spPr>
          <a:xfrm>
            <a:off x="9273836" y="3216001"/>
            <a:ext cx="165303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V</a:t>
            </a:r>
            <a:r>
              <a:rPr lang="es-CO" sz="800" dirty="0">
                <a:solidFill>
                  <a:srgbClr val="000000"/>
                </a:solidFill>
              </a:rPr>
              <a:t>ias de entrada al organismo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64D283F-67D2-4E78-A1E8-E12BF769E72D}"/>
              </a:ext>
            </a:extLst>
          </p:cNvPr>
          <p:cNvSpPr txBox="1"/>
          <p:nvPr/>
        </p:nvSpPr>
        <p:spPr>
          <a:xfrm>
            <a:off x="9273836" y="3493113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Respiratoria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6AEEAD7-5E30-43F0-925F-9318E070E573}"/>
              </a:ext>
            </a:extLst>
          </p:cNvPr>
          <p:cNvSpPr txBox="1"/>
          <p:nvPr/>
        </p:nvSpPr>
        <p:spPr>
          <a:xfrm>
            <a:off x="9287176" y="3738404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Digestiva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3656778-09A1-4B17-B687-D7498FAB0A41}"/>
              </a:ext>
            </a:extLst>
          </p:cNvPr>
          <p:cNvSpPr txBox="1"/>
          <p:nvPr/>
        </p:nvSpPr>
        <p:spPr>
          <a:xfrm>
            <a:off x="9273836" y="4002830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Dérmica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764A473-5479-4414-B1DF-15AF850640AE}"/>
              </a:ext>
            </a:extLst>
          </p:cNvPr>
          <p:cNvSpPr txBox="1"/>
          <p:nvPr/>
        </p:nvSpPr>
        <p:spPr>
          <a:xfrm>
            <a:off x="9273836" y="4296191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Parenteral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BE2702-ED90-4276-A30E-FB12562A1378}"/>
              </a:ext>
            </a:extLst>
          </p:cNvPr>
          <p:cNvSpPr txBox="1"/>
          <p:nvPr/>
        </p:nvSpPr>
        <p:spPr>
          <a:xfrm>
            <a:off x="1749258" y="5151167"/>
            <a:ext cx="5462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Esta tabla debe estar fija o visible muchas gracias </a:t>
            </a:r>
            <a:r>
              <a:rPr lang="es-MX" dirty="0" err="1">
                <a:solidFill>
                  <a:srgbClr val="FF0000"/>
                </a:solidFill>
              </a:rPr>
              <a:t>andesito</a:t>
            </a:r>
            <a:r>
              <a:rPr lang="es-MX" dirty="0">
                <a:solidFill>
                  <a:srgbClr val="FF0000"/>
                </a:solidFill>
              </a:rPr>
              <a:t> jeje</a:t>
            </a:r>
            <a:endParaRPr lang="es-C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54806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Identificación de sustancias cancerígenas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561002" y="60566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547795" y="60566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534588" y="60566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588103" y="605664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4A4C7B1-79DD-4446-8C90-5A706CA4B255}"/>
              </a:ext>
            </a:extLst>
          </p:cNvPr>
          <p:cNvSpPr txBox="1"/>
          <p:nvPr/>
        </p:nvSpPr>
        <p:spPr>
          <a:xfrm>
            <a:off x="1284964" y="2682966"/>
            <a:ext cx="5030945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s-MX" sz="800" dirty="0">
              <a:solidFill>
                <a:srgbClr val="000000"/>
              </a:solidFill>
            </a:endParaRPr>
          </a:p>
          <a:p>
            <a:pPr algn="ctr"/>
            <a:r>
              <a:rPr lang="es-CO" sz="800" dirty="0">
                <a:solidFill>
                  <a:srgbClr val="000000"/>
                </a:solidFill>
              </a:rPr>
              <a:t>Sustancia nociva</a:t>
            </a:r>
          </a:p>
          <a:p>
            <a:pPr algn="ctr"/>
            <a:endParaRPr lang="es-CO" sz="800" dirty="0">
              <a:solidFill>
                <a:srgbClr val="00000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B215035-B4FA-4FAA-91A2-0AC0579AF2B9}"/>
              </a:ext>
            </a:extLst>
          </p:cNvPr>
          <p:cNvSpPr txBox="1"/>
          <p:nvPr/>
        </p:nvSpPr>
        <p:spPr>
          <a:xfrm>
            <a:off x="6360342" y="2682965"/>
            <a:ext cx="16691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L</a:t>
            </a:r>
            <a:r>
              <a:rPr lang="es-CO" sz="800" dirty="0">
                <a:solidFill>
                  <a:srgbClr val="000000"/>
                </a:solidFill>
              </a:rPr>
              <a:t>AEL (mg/m3)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F8102C2-1146-4B16-8B13-4B282792C851}"/>
              </a:ext>
            </a:extLst>
          </p:cNvPr>
          <p:cNvSpPr txBox="1"/>
          <p:nvPr/>
        </p:nvSpPr>
        <p:spPr>
          <a:xfrm>
            <a:off x="6360342" y="2913797"/>
            <a:ext cx="81238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CPA</a:t>
            </a:r>
            <a:endParaRPr lang="es-CO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E3B2853-0F93-47D8-AEC4-99D7EB43C890}"/>
              </a:ext>
            </a:extLst>
          </p:cNvPr>
          <p:cNvSpPr txBox="1"/>
          <p:nvPr/>
        </p:nvSpPr>
        <p:spPr>
          <a:xfrm>
            <a:off x="7217155" y="2913797"/>
            <a:ext cx="81238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 CMA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37EB6B-7D8F-4BD2-A9F8-DD2E33BF7DCD}"/>
              </a:ext>
            </a:extLst>
          </p:cNvPr>
          <p:cNvSpPr txBox="1"/>
          <p:nvPr/>
        </p:nvSpPr>
        <p:spPr>
          <a:xfrm>
            <a:off x="8110309" y="2658234"/>
            <a:ext cx="1653036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s-MX" sz="800" dirty="0">
              <a:solidFill>
                <a:srgbClr val="000000"/>
              </a:solidFill>
            </a:endParaRPr>
          </a:p>
          <a:p>
            <a:pPr algn="ctr"/>
            <a:r>
              <a:rPr lang="es-MX" sz="800" dirty="0">
                <a:solidFill>
                  <a:srgbClr val="000000"/>
                </a:solidFill>
              </a:rPr>
              <a:t>Notación</a:t>
            </a:r>
          </a:p>
          <a:p>
            <a:pPr algn="ctr"/>
            <a:r>
              <a:rPr lang="es-CO" sz="800" dirty="0">
                <a:solidFill>
                  <a:srgbClr val="000000"/>
                </a:solidFill>
              </a:rPr>
              <a:t>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6E5CD02-3B62-4528-9F33-2D2C62BCF666}"/>
              </a:ext>
            </a:extLst>
          </p:cNvPr>
          <p:cNvSpPr txBox="1"/>
          <p:nvPr/>
        </p:nvSpPr>
        <p:spPr>
          <a:xfrm>
            <a:off x="1284963" y="3161204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Aceites minerales</a:t>
            </a:r>
            <a:endParaRPr lang="es-MX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0AF8118-DE4F-4D90-9200-18E829E8F4E0}"/>
              </a:ext>
            </a:extLst>
          </p:cNvPr>
          <p:cNvSpPr txBox="1"/>
          <p:nvPr/>
        </p:nvSpPr>
        <p:spPr>
          <a:xfrm>
            <a:off x="6360338" y="3161203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7046A83-EFF0-440E-AC54-ABE051592D17}"/>
              </a:ext>
            </a:extLst>
          </p:cNvPr>
          <p:cNvSpPr txBox="1"/>
          <p:nvPr/>
        </p:nvSpPr>
        <p:spPr>
          <a:xfrm>
            <a:off x="7235321" y="3149284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720B67D-9658-4AF3-B299-631D36EF2296}"/>
              </a:ext>
            </a:extLst>
          </p:cNvPr>
          <p:cNvSpPr txBox="1"/>
          <p:nvPr/>
        </p:nvSpPr>
        <p:spPr>
          <a:xfrm>
            <a:off x="8110304" y="3161203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C6FF824-259E-46E9-82A6-EC246AC98815}"/>
              </a:ext>
            </a:extLst>
          </p:cNvPr>
          <p:cNvSpPr txBox="1"/>
          <p:nvPr/>
        </p:nvSpPr>
        <p:spPr>
          <a:xfrm>
            <a:off x="1284963" y="3429000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Acetaldehído </a:t>
            </a:r>
            <a:endParaRPr lang="es-MX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08578141-AB30-4EB9-9707-FBCA24CBA29D}"/>
              </a:ext>
            </a:extLst>
          </p:cNvPr>
          <p:cNvSpPr txBox="1"/>
          <p:nvPr/>
        </p:nvSpPr>
        <p:spPr>
          <a:xfrm>
            <a:off x="6360338" y="3428999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50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13339B7-5883-4F30-95F1-3C2EFE69C54C}"/>
              </a:ext>
            </a:extLst>
          </p:cNvPr>
          <p:cNvSpPr txBox="1"/>
          <p:nvPr/>
        </p:nvSpPr>
        <p:spPr>
          <a:xfrm>
            <a:off x="7235321" y="3417080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100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8698CC38-5176-4AFA-8B92-084824C3E023}"/>
              </a:ext>
            </a:extLst>
          </p:cNvPr>
          <p:cNvSpPr txBox="1"/>
          <p:nvPr/>
        </p:nvSpPr>
        <p:spPr>
          <a:xfrm>
            <a:off x="8110304" y="3428999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G2B</a:t>
            </a:r>
            <a:endParaRPr lang="es-MX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81B850F3-A4E9-454B-8DA0-C22429040890}"/>
              </a:ext>
            </a:extLst>
          </p:cNvPr>
          <p:cNvSpPr txBox="1"/>
          <p:nvPr/>
        </p:nvSpPr>
        <p:spPr>
          <a:xfrm>
            <a:off x="1284963" y="3683184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Acetonitrilo</a:t>
            </a:r>
            <a:endParaRPr lang="es-MX" sz="80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6DA6C3F4-6C0F-44D1-BD7B-C419A2BF96D2}"/>
              </a:ext>
            </a:extLst>
          </p:cNvPr>
          <p:cNvSpPr txBox="1"/>
          <p:nvPr/>
        </p:nvSpPr>
        <p:spPr>
          <a:xfrm>
            <a:off x="6360338" y="3683183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30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410E5AE8-1D7A-4BE3-B59C-A5705B30D6BA}"/>
              </a:ext>
            </a:extLst>
          </p:cNvPr>
          <p:cNvSpPr txBox="1"/>
          <p:nvPr/>
        </p:nvSpPr>
        <p:spPr>
          <a:xfrm>
            <a:off x="7235321" y="3671264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100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F637EFE-51BB-49B3-9FB7-441C727FA1EF}"/>
              </a:ext>
            </a:extLst>
          </p:cNvPr>
          <p:cNvSpPr txBox="1"/>
          <p:nvPr/>
        </p:nvSpPr>
        <p:spPr>
          <a:xfrm>
            <a:off x="8110304" y="3683183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G2B</a:t>
            </a:r>
            <a:endParaRPr lang="es-MX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DEA896E7-C607-4F7B-AD80-CF9CE7F9B492}"/>
              </a:ext>
            </a:extLst>
          </p:cNvPr>
          <p:cNvSpPr txBox="1"/>
          <p:nvPr/>
        </p:nvSpPr>
        <p:spPr>
          <a:xfrm>
            <a:off x="1284963" y="3942135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Arsénico y sus compuestos inorgánicos (excepto </a:t>
            </a:r>
            <a:r>
              <a:rPr lang="es-MX" sz="800" dirty="0" err="1"/>
              <a:t>arsina</a:t>
            </a:r>
            <a:r>
              <a:rPr lang="es-MX" sz="800" dirty="0"/>
              <a:t> como As)1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73B738C-C785-4B40-B126-D167D0715E6C}"/>
              </a:ext>
            </a:extLst>
          </p:cNvPr>
          <p:cNvSpPr txBox="1"/>
          <p:nvPr/>
        </p:nvSpPr>
        <p:spPr>
          <a:xfrm>
            <a:off x="6360338" y="3942134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0,01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919980F4-F20F-4535-AC9F-606A4E56D5AC}"/>
              </a:ext>
            </a:extLst>
          </p:cNvPr>
          <p:cNvSpPr txBox="1"/>
          <p:nvPr/>
        </p:nvSpPr>
        <p:spPr>
          <a:xfrm>
            <a:off x="7235321" y="3930215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D7B88259-5DCE-465B-8944-B4477BEF4EF0}"/>
              </a:ext>
            </a:extLst>
          </p:cNvPr>
          <p:cNvSpPr txBox="1"/>
          <p:nvPr/>
        </p:nvSpPr>
        <p:spPr>
          <a:xfrm>
            <a:off x="8110304" y="3942134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43BD83D-0415-487D-8D2D-125A8F87C3AB}"/>
              </a:ext>
            </a:extLst>
          </p:cNvPr>
          <p:cNvSpPr txBox="1"/>
          <p:nvPr/>
        </p:nvSpPr>
        <p:spPr>
          <a:xfrm>
            <a:off x="1284963" y="4212226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Asbesto (cris</a:t>
            </a:r>
            <a:endParaRPr lang="es-MX" sz="800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10F02CB2-F677-4336-845B-E1B4020D6B56}"/>
              </a:ext>
            </a:extLst>
          </p:cNvPr>
          <p:cNvSpPr txBox="1"/>
          <p:nvPr/>
        </p:nvSpPr>
        <p:spPr>
          <a:xfrm>
            <a:off x="6360338" y="4212225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0.13</a:t>
            </a:r>
            <a:endParaRPr lang="es-MX" sz="800" dirty="0"/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C66C1EA2-7894-447E-8DA8-C907B4D582AF}"/>
              </a:ext>
            </a:extLst>
          </p:cNvPr>
          <p:cNvSpPr txBox="1"/>
          <p:nvPr/>
        </p:nvSpPr>
        <p:spPr>
          <a:xfrm>
            <a:off x="7235321" y="4200306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3830CA08-18D8-449A-9D2B-6397B96579A0}"/>
              </a:ext>
            </a:extLst>
          </p:cNvPr>
          <p:cNvSpPr txBox="1"/>
          <p:nvPr/>
        </p:nvSpPr>
        <p:spPr>
          <a:xfrm>
            <a:off x="8110304" y="4212225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4DDDB80-CD13-41EA-A671-86799C7D82BB}"/>
              </a:ext>
            </a:extLst>
          </p:cNvPr>
          <p:cNvSpPr txBox="1"/>
          <p:nvPr/>
        </p:nvSpPr>
        <p:spPr>
          <a:xfrm>
            <a:off x="1284963" y="4482316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Benceno</a:t>
            </a:r>
            <a:endParaRPr lang="es-MX" sz="8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2A247A3D-09D0-4125-82DD-3076475D8790}"/>
              </a:ext>
            </a:extLst>
          </p:cNvPr>
          <p:cNvSpPr txBox="1"/>
          <p:nvPr/>
        </p:nvSpPr>
        <p:spPr>
          <a:xfrm>
            <a:off x="6360338" y="4482315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0.3</a:t>
            </a:r>
            <a:endParaRPr lang="es-MX" sz="800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192F22DB-CD5E-406A-9EE5-F20F5D29BF98}"/>
              </a:ext>
            </a:extLst>
          </p:cNvPr>
          <p:cNvSpPr txBox="1"/>
          <p:nvPr/>
        </p:nvSpPr>
        <p:spPr>
          <a:xfrm>
            <a:off x="7235321" y="4470396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3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FE56AC27-57BA-4DD1-B8E1-D2827C3AE0C0}"/>
              </a:ext>
            </a:extLst>
          </p:cNvPr>
          <p:cNvSpPr txBox="1"/>
          <p:nvPr/>
        </p:nvSpPr>
        <p:spPr>
          <a:xfrm>
            <a:off x="8110304" y="4482315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B59F2106-3114-4EFD-B7E6-5474989AC2D5}"/>
              </a:ext>
            </a:extLst>
          </p:cNvPr>
          <p:cNvSpPr txBox="1"/>
          <p:nvPr/>
        </p:nvSpPr>
        <p:spPr>
          <a:xfrm>
            <a:off x="1284963" y="4740486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Benomil</a:t>
            </a:r>
            <a:endParaRPr lang="es-MX" sz="8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99DD839C-D0F7-402D-AB99-C8CE129EF1E6}"/>
              </a:ext>
            </a:extLst>
          </p:cNvPr>
          <p:cNvSpPr txBox="1"/>
          <p:nvPr/>
        </p:nvSpPr>
        <p:spPr>
          <a:xfrm>
            <a:off x="6360338" y="4740485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C4841A0-E64B-4CE2-8194-47604F475274}"/>
              </a:ext>
            </a:extLst>
          </p:cNvPr>
          <p:cNvSpPr txBox="1"/>
          <p:nvPr/>
        </p:nvSpPr>
        <p:spPr>
          <a:xfrm>
            <a:off x="7235321" y="4728566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7CE9565E-723A-496D-A206-A9E0839118DA}"/>
              </a:ext>
            </a:extLst>
          </p:cNvPr>
          <p:cNvSpPr txBox="1"/>
          <p:nvPr/>
        </p:nvSpPr>
        <p:spPr>
          <a:xfrm>
            <a:off x="8110304" y="4740485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G1</a:t>
            </a:r>
            <a:endParaRPr lang="es-MX" sz="8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5FA5755A-04CC-4594-896F-49F0D78AF98F}"/>
              </a:ext>
            </a:extLst>
          </p:cNvPr>
          <p:cNvSpPr txBox="1"/>
          <p:nvPr/>
        </p:nvSpPr>
        <p:spPr>
          <a:xfrm>
            <a:off x="1284963" y="5000762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Benzo(a)</a:t>
            </a:r>
            <a:r>
              <a:rPr lang="es-CO" sz="800" dirty="0" err="1"/>
              <a:t>pireno</a:t>
            </a:r>
            <a:endParaRPr lang="es-MX" sz="8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376FE1B2-6225-4015-A661-A6909F97F2D2}"/>
              </a:ext>
            </a:extLst>
          </p:cNvPr>
          <p:cNvSpPr txBox="1"/>
          <p:nvPr/>
        </p:nvSpPr>
        <p:spPr>
          <a:xfrm>
            <a:off x="6360338" y="5000761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0.00015</a:t>
            </a:r>
            <a:endParaRPr lang="es-MX" sz="800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DC687B68-0A4E-45EF-8C7A-6BD76D3A9DA1}"/>
              </a:ext>
            </a:extLst>
          </p:cNvPr>
          <p:cNvSpPr txBox="1"/>
          <p:nvPr/>
        </p:nvSpPr>
        <p:spPr>
          <a:xfrm>
            <a:off x="7235321" y="4988842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6EBA389D-4171-432D-9129-5869B0A1009C}"/>
              </a:ext>
            </a:extLst>
          </p:cNvPr>
          <p:cNvSpPr txBox="1"/>
          <p:nvPr/>
        </p:nvSpPr>
        <p:spPr>
          <a:xfrm>
            <a:off x="8110304" y="5000761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G1</a:t>
            </a:r>
            <a:endParaRPr lang="es-MX" sz="800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5F8D6D1A-90CF-4D59-861D-2570953305A4}"/>
              </a:ext>
            </a:extLst>
          </p:cNvPr>
          <p:cNvSpPr txBox="1"/>
          <p:nvPr/>
        </p:nvSpPr>
        <p:spPr>
          <a:xfrm>
            <a:off x="1284963" y="5264418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Berilio y sus compuestos</a:t>
            </a:r>
            <a:endParaRPr lang="es-MX" sz="800" dirty="0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E337B046-2E95-4D21-85D9-3A159F1BD48F}"/>
              </a:ext>
            </a:extLst>
          </p:cNvPr>
          <p:cNvSpPr txBox="1"/>
          <p:nvPr/>
        </p:nvSpPr>
        <p:spPr>
          <a:xfrm>
            <a:off x="6360338" y="5264417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0.002</a:t>
            </a:r>
            <a:endParaRPr lang="es-MX" sz="800" dirty="0"/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532AB239-A985-4406-9BF6-2D2945A8B046}"/>
              </a:ext>
            </a:extLst>
          </p:cNvPr>
          <p:cNvSpPr txBox="1"/>
          <p:nvPr/>
        </p:nvSpPr>
        <p:spPr>
          <a:xfrm>
            <a:off x="7235321" y="5252498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14E80A83-1068-4946-AF51-D362EADDAEDD}"/>
              </a:ext>
            </a:extLst>
          </p:cNvPr>
          <p:cNvSpPr txBox="1"/>
          <p:nvPr/>
        </p:nvSpPr>
        <p:spPr>
          <a:xfrm>
            <a:off x="8110304" y="5264417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99BC344F-DD94-4D2A-840B-BB19F3011DCF}"/>
              </a:ext>
            </a:extLst>
          </p:cNvPr>
          <p:cNvSpPr txBox="1"/>
          <p:nvPr/>
        </p:nvSpPr>
        <p:spPr>
          <a:xfrm>
            <a:off x="1284963" y="5538041"/>
            <a:ext cx="50127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Cadmio y sus compuestos (como Cd)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A9231D06-C891-45DF-8BFD-C783035EA3E1}"/>
              </a:ext>
            </a:extLst>
          </p:cNvPr>
          <p:cNvSpPr txBox="1"/>
          <p:nvPr/>
        </p:nvSpPr>
        <p:spPr>
          <a:xfrm>
            <a:off x="6360338" y="5538040"/>
            <a:ext cx="8123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0.005</a:t>
            </a:r>
            <a:endParaRPr lang="es-MX" sz="8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AFBE1FA3-468E-4DEB-8137-8EBE62D9C397}"/>
              </a:ext>
            </a:extLst>
          </p:cNvPr>
          <p:cNvSpPr txBox="1"/>
          <p:nvPr/>
        </p:nvSpPr>
        <p:spPr>
          <a:xfrm>
            <a:off x="7235321" y="5526121"/>
            <a:ext cx="7942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0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45C2CDF6-BC28-4C5D-8EA3-FB36474ED089}"/>
              </a:ext>
            </a:extLst>
          </p:cNvPr>
          <p:cNvSpPr txBox="1"/>
          <p:nvPr/>
        </p:nvSpPr>
        <p:spPr>
          <a:xfrm>
            <a:off x="8110304" y="5538040"/>
            <a:ext cx="165304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G1</a:t>
            </a:r>
            <a:endParaRPr lang="es-MX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EA551C6-8D07-4374-85F0-BC21BE5C8275}"/>
              </a:ext>
            </a:extLst>
          </p:cNvPr>
          <p:cNvSpPr txBox="1"/>
          <p:nvPr/>
        </p:nvSpPr>
        <p:spPr>
          <a:xfrm>
            <a:off x="1574209" y="60566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9ABE36-514A-40C4-85B0-4CC52AA847FE}"/>
              </a:ext>
            </a:extLst>
          </p:cNvPr>
          <p:cNvSpPr txBox="1"/>
          <p:nvPr/>
        </p:nvSpPr>
        <p:spPr>
          <a:xfrm>
            <a:off x="10106108" y="2898409"/>
            <a:ext cx="1741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Reflejada en el decreto 1347 del año 2021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6F85D1-2AED-4B1C-B39E-F61E39BB961E}"/>
              </a:ext>
            </a:extLst>
          </p:cNvPr>
          <p:cNvSpPr txBox="1"/>
          <p:nvPr/>
        </p:nvSpPr>
        <p:spPr>
          <a:xfrm>
            <a:off x="9891423" y="4079019"/>
            <a:ext cx="20752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>
                <a:solidFill>
                  <a:srgbClr val="FF0000"/>
                </a:solidFill>
              </a:rPr>
              <a:t>Andresito, en esta pantalla dejo ejemplos de la información que ingreso, por lo tanto se debe dejar bastantes filas ya que constantemente se esta actualizando.</a:t>
            </a:r>
          </a:p>
        </p:txBody>
      </p:sp>
    </p:spTree>
    <p:extLst>
      <p:ext uri="{BB962C8B-B14F-4D97-AF65-F5344CB8AC3E}">
        <p14:creationId xmlns:p14="http://schemas.microsoft.com/office/powerpoint/2010/main" val="151831535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Identificación de sustancias cancerígenas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179966" y="47393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17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Mediciones ambientales, químicos, físicos y biológicos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66021" y="610370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20960" y="568112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9331" y="538575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24615" y="483493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46062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10771446" y="392587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8141" y="3861140"/>
            <a:ext cx="92385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Medio Ambiente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40494840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4A4C7B1-79DD-4446-8C90-5A706CA4B255}"/>
              </a:ext>
            </a:extLst>
          </p:cNvPr>
          <p:cNvSpPr txBox="1"/>
          <p:nvPr/>
        </p:nvSpPr>
        <p:spPr>
          <a:xfrm>
            <a:off x="1286454" y="3401286"/>
            <a:ext cx="1385492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>
                <a:solidFill>
                  <a:srgbClr val="000000"/>
                </a:solidFill>
              </a:rPr>
              <a:t>ITEM A:PLAN DE GESTION AMBIENTAL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B215035-B4FA-4FAA-91A2-0AC0579AF2B9}"/>
              </a:ext>
            </a:extLst>
          </p:cNvPr>
          <p:cNvSpPr txBox="1"/>
          <p:nvPr/>
        </p:nvSpPr>
        <p:spPr>
          <a:xfrm>
            <a:off x="2747895" y="3401286"/>
            <a:ext cx="1385492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>
                <a:solidFill>
                  <a:srgbClr val="000000"/>
                </a:solidFill>
              </a:rPr>
              <a:t>ITEM  B:PLAN DE GESTION SOCIAL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F8102C2-1146-4B16-8B13-4B282792C851}"/>
              </a:ext>
            </a:extLst>
          </p:cNvPr>
          <p:cNvSpPr txBox="1"/>
          <p:nvPr/>
        </p:nvSpPr>
        <p:spPr>
          <a:xfrm>
            <a:off x="4213435" y="3401286"/>
            <a:ext cx="165303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ITEM C: MANEJO DE LA VEGETACIÓN Y PAISAJISMO</a:t>
            </a:r>
            <a:r>
              <a:rPr lang="es-CO" sz="800" dirty="0">
                <a:solidFill>
                  <a:srgbClr val="000000"/>
                </a:solidFill>
              </a:rPr>
              <a:t>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369EEAF-879E-4596-BA9F-9DD41DFEA503}"/>
              </a:ext>
            </a:extLst>
          </p:cNvPr>
          <p:cNvSpPr txBox="1"/>
          <p:nvPr/>
        </p:nvSpPr>
        <p:spPr>
          <a:xfrm>
            <a:off x="1282751" y="3778973"/>
            <a:ext cx="1380060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A1 - MANEJO Y DISPOSICIÓN DE RESIDUOS SÓLIDOS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9AACC3F-93F5-4FF6-A51F-D22559FA2E13}"/>
              </a:ext>
            </a:extLst>
          </p:cNvPr>
          <p:cNvSpPr txBox="1"/>
          <p:nvPr/>
        </p:nvSpPr>
        <p:spPr>
          <a:xfrm>
            <a:off x="2717327" y="3778973"/>
            <a:ext cx="1416060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B1 - ATENCIÓN Y PARTICIPACIÓN CIUDADANA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EF2FA59-25D0-4E95-9DE9-37165CF955A0}"/>
              </a:ext>
            </a:extLst>
          </p:cNvPr>
          <p:cNvSpPr txBox="1"/>
          <p:nvPr/>
        </p:nvSpPr>
        <p:spPr>
          <a:xfrm>
            <a:off x="4195993" y="3792196"/>
            <a:ext cx="165303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C1 – TALA DE LA VEGETACIÓN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F502CC7-E63E-445E-96BD-9DB8723AB616}"/>
              </a:ext>
            </a:extLst>
          </p:cNvPr>
          <p:cNvSpPr txBox="1"/>
          <p:nvPr/>
        </p:nvSpPr>
        <p:spPr>
          <a:xfrm>
            <a:off x="1282751" y="4310379"/>
            <a:ext cx="1380060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A2 - MANEJO Y DISPOSICIÔN DE ESCOMBROS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1FE2311-6B8B-468D-8015-1851D8ACF0A8}"/>
              </a:ext>
            </a:extLst>
          </p:cNvPr>
          <p:cNvSpPr txBox="1"/>
          <p:nvPr/>
        </p:nvSpPr>
        <p:spPr>
          <a:xfrm>
            <a:off x="2714012" y="4311103"/>
            <a:ext cx="1416061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B2 - CAPACITACIÓN DEL PERSONAL EMPLEADO PARA EL PROYECTO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C907677-CF96-4AF7-BF0B-A4FBB7A5AAD6}"/>
              </a:ext>
            </a:extLst>
          </p:cNvPr>
          <p:cNvSpPr txBox="1"/>
          <p:nvPr/>
        </p:nvSpPr>
        <p:spPr>
          <a:xfrm>
            <a:off x="4220358" y="4309516"/>
            <a:ext cx="1653036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C2 - COMPENSACIÓN POR PÉRDIDA DE COBERTURA VEGETAL</a:t>
            </a:r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E3B2853-0F93-47D8-AEC4-99D7EB43C890}"/>
              </a:ext>
            </a:extLst>
          </p:cNvPr>
          <p:cNvSpPr txBox="1"/>
          <p:nvPr/>
        </p:nvSpPr>
        <p:spPr>
          <a:xfrm>
            <a:off x="5929077" y="3401286"/>
            <a:ext cx="1653036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ITEM D: ACTIVIDADES DE PRECONSTRUCCIÓN Y CONSTRUCCIÓN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DCCC5EE-7D0C-4A74-AC45-D26F58386799}"/>
              </a:ext>
            </a:extLst>
          </p:cNvPr>
          <p:cNvSpPr txBox="1"/>
          <p:nvPr/>
        </p:nvSpPr>
        <p:spPr>
          <a:xfrm>
            <a:off x="5924975" y="3902083"/>
            <a:ext cx="1653036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D1 -ALMACENAMIENTO Y MANEJO DE MATERIALES DE CONSTRUCCIÓN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6DF7C1CD-C901-4516-83C7-29C52D0A2A1A}"/>
              </a:ext>
            </a:extLst>
          </p:cNvPr>
          <p:cNvSpPr txBox="1"/>
          <p:nvPr/>
        </p:nvSpPr>
        <p:spPr>
          <a:xfrm>
            <a:off x="5936000" y="4424946"/>
            <a:ext cx="165303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D2 - MANEJO DE INSTALACIONES TEMPORALES</a:t>
            </a:r>
            <a:endParaRPr lang="es-MX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37EB6B-7D8F-4BD2-A9F8-DD2E33BF7DCD}"/>
              </a:ext>
            </a:extLst>
          </p:cNvPr>
          <p:cNvSpPr txBox="1"/>
          <p:nvPr/>
        </p:nvSpPr>
        <p:spPr>
          <a:xfrm>
            <a:off x="7644719" y="3403731"/>
            <a:ext cx="1653036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ITEM E: PROGRAMA DE ATENCIÓN DE CONTINGENCIAS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364D283F-67D2-4E78-A1E8-E12BF769E72D}"/>
              </a:ext>
            </a:extLst>
          </p:cNvPr>
          <p:cNvSpPr txBox="1"/>
          <p:nvPr/>
        </p:nvSpPr>
        <p:spPr>
          <a:xfrm>
            <a:off x="7629592" y="3886254"/>
            <a:ext cx="165303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E1 – ATENCIÓN A EMERGENCIAS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6AEEAD7-5E30-43F0-925F-9318E070E573}"/>
              </a:ext>
            </a:extLst>
          </p:cNvPr>
          <p:cNvSpPr txBox="1"/>
          <p:nvPr/>
        </p:nvSpPr>
        <p:spPr>
          <a:xfrm>
            <a:off x="7658059" y="4420185"/>
            <a:ext cx="165303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E2 – DERRAME DE COMBUSTIBLE</a:t>
            </a:r>
            <a:endParaRPr lang="es-MX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9E941B1-7A16-461B-B1E4-F2D9EE1F6380}"/>
              </a:ext>
            </a:extLst>
          </p:cNvPr>
          <p:cNvSpPr txBox="1"/>
          <p:nvPr/>
        </p:nvSpPr>
        <p:spPr>
          <a:xfrm>
            <a:off x="9360361" y="3396730"/>
            <a:ext cx="1623145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ITEM F: ACTIVIDADES DE OPERACIÓN</a:t>
            </a:r>
            <a:r>
              <a:rPr lang="es-CO" sz="800" dirty="0">
                <a:solidFill>
                  <a:srgbClr val="000000"/>
                </a:solidFill>
              </a:rPr>
              <a:t>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244DD985-CC6F-457A-AA5E-BF52F57AC339}"/>
              </a:ext>
            </a:extLst>
          </p:cNvPr>
          <p:cNvSpPr txBox="1"/>
          <p:nvPr/>
        </p:nvSpPr>
        <p:spPr>
          <a:xfrm>
            <a:off x="9358574" y="3898018"/>
            <a:ext cx="162314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F1 – MANEJO Y DISPOSICIÓN DE RESIDUOS SÓLIDOS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9A9CAAB-F226-4D45-95E2-C44040233582}"/>
              </a:ext>
            </a:extLst>
          </p:cNvPr>
          <p:cNvSpPr txBox="1"/>
          <p:nvPr/>
        </p:nvSpPr>
        <p:spPr>
          <a:xfrm>
            <a:off x="9373701" y="4426832"/>
            <a:ext cx="162314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F2 – MANEJO Y DISPOSICIÔN DE AGUAS RESIDUALES DOMÉSTICAS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1284963" y="3058752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b="1" dirty="0"/>
              <a:t>PLAN DE MANEJO AMBIENTAL </a:t>
            </a:r>
            <a:endParaRPr lang="es-CO" sz="1100" b="1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01D26B87-21E9-4B87-8611-3B0167E66EA9}"/>
              </a:ext>
            </a:extLst>
          </p:cNvPr>
          <p:cNvSpPr txBox="1"/>
          <p:nvPr/>
        </p:nvSpPr>
        <p:spPr>
          <a:xfrm>
            <a:off x="1289674" y="4864550"/>
            <a:ext cx="1380060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A3 - MANEJO Y DISPOSICIÔN DE AGUAS RESIDUALES DOMÉSTICAS</a:t>
            </a:r>
            <a:endParaRPr lang="es-MX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15B49DA-3498-43A2-8CFF-E6C078BE2AA4}"/>
              </a:ext>
            </a:extLst>
          </p:cNvPr>
          <p:cNvSpPr txBox="1"/>
          <p:nvPr/>
        </p:nvSpPr>
        <p:spPr>
          <a:xfrm>
            <a:off x="4220358" y="4979880"/>
            <a:ext cx="16530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PROGRAMA C3 – EMPRADIZACIÓN</a:t>
            </a:r>
            <a:endParaRPr lang="es-MX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2A045EE-E12C-4167-B24B-91174A8EB899}"/>
              </a:ext>
            </a:extLst>
          </p:cNvPr>
          <p:cNvSpPr txBox="1"/>
          <p:nvPr/>
        </p:nvSpPr>
        <p:spPr>
          <a:xfrm>
            <a:off x="5942670" y="4825958"/>
            <a:ext cx="1653036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D3 -MANEJO DE EQUIPOS, MAQUINARIA Y TRANSPORTE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A4C8A077-7686-4005-9416-F89A5A02B597}"/>
              </a:ext>
            </a:extLst>
          </p:cNvPr>
          <p:cNvSpPr txBox="1"/>
          <p:nvPr/>
        </p:nvSpPr>
        <p:spPr>
          <a:xfrm>
            <a:off x="7664982" y="4843997"/>
            <a:ext cx="1653036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F3 – ATENCIÓN DE ACCIDENTES LABORALES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EA4D079C-95E3-4514-910B-C3BAF2045F09}"/>
              </a:ext>
            </a:extLst>
          </p:cNvPr>
          <p:cNvSpPr txBox="1"/>
          <p:nvPr/>
        </p:nvSpPr>
        <p:spPr>
          <a:xfrm>
            <a:off x="9373700" y="4948408"/>
            <a:ext cx="162314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F3 – MANTENIMIENTO DE LA VEGETACIÓN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236D068-704D-4677-BC31-B2C4CCE9F698}"/>
              </a:ext>
            </a:extLst>
          </p:cNvPr>
          <p:cNvSpPr txBox="1"/>
          <p:nvPr/>
        </p:nvSpPr>
        <p:spPr>
          <a:xfrm>
            <a:off x="1289674" y="5432481"/>
            <a:ext cx="1380060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A4 - CONTROL DE LA CONTAMINACIÓN ATMOSFÉRICA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7005CCD6-E3EF-44F1-B859-80B0F1684741}"/>
              </a:ext>
            </a:extLst>
          </p:cNvPr>
          <p:cNvSpPr txBox="1"/>
          <p:nvPr/>
        </p:nvSpPr>
        <p:spPr>
          <a:xfrm>
            <a:off x="5944526" y="5330567"/>
            <a:ext cx="1653036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PROGRAMA D4- AISLAMIENTO DE OBRA PROGRAMA D5- SEÑALIZACIÓN Y MANEJO DE TRÁFICO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108959A-46A7-4FEC-A2AE-E7D6D2EBF2E1}"/>
              </a:ext>
            </a:extLst>
          </p:cNvPr>
          <p:cNvSpPr txBox="1"/>
          <p:nvPr/>
        </p:nvSpPr>
        <p:spPr>
          <a:xfrm>
            <a:off x="2178657" y="6058894"/>
            <a:ext cx="8803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Andresito esta tabla debe ser fija, y con un hipervínculo que al dar </a:t>
            </a:r>
            <a:r>
              <a:rPr lang="es-CO" dirty="0" err="1">
                <a:solidFill>
                  <a:srgbClr val="FF0000"/>
                </a:solidFill>
              </a:rPr>
              <a:t>clik</a:t>
            </a:r>
            <a:r>
              <a:rPr lang="es-CO" dirty="0">
                <a:solidFill>
                  <a:srgbClr val="FF0000"/>
                </a:solidFill>
              </a:rPr>
              <a:t> en algún programa me lleve a ese programa.</a:t>
            </a:r>
          </a:p>
        </p:txBody>
      </p:sp>
    </p:spTree>
    <p:extLst>
      <p:ext uri="{BB962C8B-B14F-4D97-AF65-F5344CB8AC3E}">
        <p14:creationId xmlns:p14="http://schemas.microsoft.com/office/powerpoint/2010/main" val="326321236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0" y="383569"/>
            <a:ext cx="1110225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115829" y="735807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481013" y="72124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761805" y="721241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85852" y="738496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96021" y="148027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480919" y="145737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639" y="490802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300795" y="136865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478249" y="1694673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478249" y="20173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003428" y="20092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4A4C7B1-79DD-4446-8C90-5A706CA4B255}"/>
              </a:ext>
            </a:extLst>
          </p:cNvPr>
          <p:cNvSpPr txBox="1"/>
          <p:nvPr/>
        </p:nvSpPr>
        <p:spPr>
          <a:xfrm>
            <a:off x="479740" y="260877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PROGRAMA: A1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369EEAF-879E-4596-BA9F-9DD41DFEA503}"/>
              </a:ext>
            </a:extLst>
          </p:cNvPr>
          <p:cNvSpPr txBox="1"/>
          <p:nvPr/>
        </p:nvSpPr>
        <p:spPr>
          <a:xfrm>
            <a:off x="1923579" y="2602544"/>
            <a:ext cx="965691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F502CC7-E63E-445E-96BD-9DB8723AB616}"/>
              </a:ext>
            </a:extLst>
          </p:cNvPr>
          <p:cNvSpPr txBox="1"/>
          <p:nvPr/>
        </p:nvSpPr>
        <p:spPr>
          <a:xfrm>
            <a:off x="1918539" y="2894576"/>
            <a:ext cx="832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Prevención 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478249" y="2266245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b="1" dirty="0">
                <a:solidFill>
                  <a:srgbClr val="000000"/>
                </a:solidFill>
              </a:rPr>
              <a:t>ITEM A:PLAN DE GESTION AMBIENTAL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7005CCD6-E3EF-44F1-B859-80B0F1684741}"/>
              </a:ext>
            </a:extLst>
          </p:cNvPr>
          <p:cNvSpPr txBox="1"/>
          <p:nvPr/>
        </p:nvSpPr>
        <p:spPr>
          <a:xfrm>
            <a:off x="478246" y="3390785"/>
            <a:ext cx="11102246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68D9E53-AED7-467C-86C6-A1036A6D7C62}"/>
              </a:ext>
            </a:extLst>
          </p:cNvPr>
          <p:cNvSpPr txBox="1"/>
          <p:nvPr/>
        </p:nvSpPr>
        <p:spPr>
          <a:xfrm>
            <a:off x="478250" y="289297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T</a:t>
            </a:r>
            <a:r>
              <a:rPr lang="es-CO" sz="800" dirty="0"/>
              <a:t>IPO DE MEDIDA: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F731E45-A14D-4019-A7EE-26F396F707BE}"/>
              </a:ext>
            </a:extLst>
          </p:cNvPr>
          <p:cNvSpPr txBox="1"/>
          <p:nvPr/>
        </p:nvSpPr>
        <p:spPr>
          <a:xfrm>
            <a:off x="478250" y="3139219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O</a:t>
            </a:r>
            <a:r>
              <a:rPr lang="es-CO" sz="800" dirty="0"/>
              <a:t>BJETIVOS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27BA3E1-B9BF-410A-BF60-F1CCAABD9318}"/>
              </a:ext>
            </a:extLst>
          </p:cNvPr>
          <p:cNvSpPr txBox="1"/>
          <p:nvPr/>
        </p:nvSpPr>
        <p:spPr>
          <a:xfrm>
            <a:off x="2780587" y="2892977"/>
            <a:ext cx="2340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AA3449C-B91D-4EDC-A481-DBD31A24542E}"/>
              </a:ext>
            </a:extLst>
          </p:cNvPr>
          <p:cNvSpPr txBox="1"/>
          <p:nvPr/>
        </p:nvSpPr>
        <p:spPr>
          <a:xfrm>
            <a:off x="3066191" y="2886705"/>
            <a:ext cx="832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Control 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AE7149A-DE56-4617-93D9-C2529666731D}"/>
              </a:ext>
            </a:extLst>
          </p:cNvPr>
          <p:cNvSpPr txBox="1"/>
          <p:nvPr/>
        </p:nvSpPr>
        <p:spPr>
          <a:xfrm>
            <a:off x="3928239" y="2885106"/>
            <a:ext cx="2340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CBF8D36-792A-4DD1-B58D-03063DE06FB5}"/>
              </a:ext>
            </a:extLst>
          </p:cNvPr>
          <p:cNvSpPr txBox="1"/>
          <p:nvPr/>
        </p:nvSpPr>
        <p:spPr>
          <a:xfrm>
            <a:off x="4220960" y="2881841"/>
            <a:ext cx="832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Mitigación 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FEE1DAB-51DF-407F-B7C3-E4751F5EB407}"/>
              </a:ext>
            </a:extLst>
          </p:cNvPr>
          <p:cNvSpPr txBox="1"/>
          <p:nvPr/>
        </p:nvSpPr>
        <p:spPr>
          <a:xfrm>
            <a:off x="5083008" y="2880242"/>
            <a:ext cx="2340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03D4FBF-2BCF-448D-BE72-CF26AD0BFC56}"/>
              </a:ext>
            </a:extLst>
          </p:cNvPr>
          <p:cNvSpPr txBox="1"/>
          <p:nvPr/>
        </p:nvSpPr>
        <p:spPr>
          <a:xfrm>
            <a:off x="5375729" y="2881841"/>
            <a:ext cx="832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Compensación 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5EC9486-A0DF-48E5-8E41-873C413C7FD7}"/>
              </a:ext>
            </a:extLst>
          </p:cNvPr>
          <p:cNvSpPr txBox="1"/>
          <p:nvPr/>
        </p:nvSpPr>
        <p:spPr>
          <a:xfrm>
            <a:off x="6259995" y="2880242"/>
            <a:ext cx="2340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B00343C-11AA-40D5-9649-27B5A4BCB37F}"/>
              </a:ext>
            </a:extLst>
          </p:cNvPr>
          <p:cNvSpPr txBox="1"/>
          <p:nvPr/>
        </p:nvSpPr>
        <p:spPr>
          <a:xfrm>
            <a:off x="478246" y="4125142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IMPACTOS AMBIENTALES A PREVENIR O MITIGAR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20E8F2AE-D73A-4384-9D85-120D15AE7C96}"/>
              </a:ext>
            </a:extLst>
          </p:cNvPr>
          <p:cNvSpPr txBox="1"/>
          <p:nvPr/>
        </p:nvSpPr>
        <p:spPr>
          <a:xfrm>
            <a:off x="478246" y="4393885"/>
            <a:ext cx="11102246" cy="95410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732AA92-F682-4935-8C42-399D9110E89B}"/>
              </a:ext>
            </a:extLst>
          </p:cNvPr>
          <p:cNvSpPr txBox="1"/>
          <p:nvPr/>
        </p:nvSpPr>
        <p:spPr>
          <a:xfrm>
            <a:off x="478246" y="5401291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PLAN DE ACCIÓN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66C0026-2DB0-4CB5-A67E-6C5F641F85F1}"/>
              </a:ext>
            </a:extLst>
          </p:cNvPr>
          <p:cNvSpPr txBox="1"/>
          <p:nvPr/>
        </p:nvSpPr>
        <p:spPr>
          <a:xfrm>
            <a:off x="511376" y="5638859"/>
            <a:ext cx="11102246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47224906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0" y="383569"/>
            <a:ext cx="1110225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115829" y="735807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481013" y="72124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761805" y="721241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85852" y="738496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96021" y="148027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480919" y="145737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639" y="490802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300795" y="136865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478249" y="1694673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478249" y="20173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003428" y="20092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478249" y="2266245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b="1">
                <a:solidFill>
                  <a:srgbClr val="000000"/>
                </a:solidFill>
              </a:rPr>
              <a:t>ITEM A:PLAN DE GESTION AMBIENTAL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732AA92-F682-4935-8C42-399D9110E89B}"/>
              </a:ext>
            </a:extLst>
          </p:cNvPr>
          <p:cNvSpPr txBox="1"/>
          <p:nvPr/>
        </p:nvSpPr>
        <p:spPr>
          <a:xfrm>
            <a:off x="478249" y="2622373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PLAN DE ACCIÓN</a:t>
            </a:r>
            <a:endParaRPr lang="es-CO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66C0026-2DB0-4CB5-A67E-6C5F641F85F1}"/>
              </a:ext>
            </a:extLst>
          </p:cNvPr>
          <p:cNvSpPr txBox="1"/>
          <p:nvPr/>
        </p:nvSpPr>
        <p:spPr>
          <a:xfrm>
            <a:off x="511379" y="2859941"/>
            <a:ext cx="11069116" cy="12003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44B98DE-43A9-4431-88C9-0BFAA7B16497}"/>
              </a:ext>
            </a:extLst>
          </p:cNvPr>
          <p:cNvSpPr txBox="1"/>
          <p:nvPr/>
        </p:nvSpPr>
        <p:spPr>
          <a:xfrm>
            <a:off x="517986" y="4215718"/>
            <a:ext cx="555112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TIPO DE RESIDUO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06D5E19-52C2-40A8-AA50-038A1D9D2E46}"/>
              </a:ext>
            </a:extLst>
          </p:cNvPr>
          <p:cNvSpPr txBox="1"/>
          <p:nvPr/>
        </p:nvSpPr>
        <p:spPr>
          <a:xfrm>
            <a:off x="6096000" y="4205504"/>
            <a:ext cx="548449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DISPOSICIÓN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9F5BC69-2E5F-4352-A34D-89E4362594E3}"/>
              </a:ext>
            </a:extLst>
          </p:cNvPr>
          <p:cNvSpPr txBox="1"/>
          <p:nvPr/>
        </p:nvSpPr>
        <p:spPr>
          <a:xfrm>
            <a:off x="517986" y="4444637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ESPECIALES O PELIGROSOS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0BEB6C6-832D-4D5C-B605-FC9E34E024EB}"/>
              </a:ext>
            </a:extLst>
          </p:cNvPr>
          <p:cNvSpPr txBox="1"/>
          <p:nvPr/>
        </p:nvSpPr>
        <p:spPr>
          <a:xfrm>
            <a:off x="517986" y="4684401"/>
            <a:ext cx="5551123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5DD7E79-B671-49E5-8CDA-9C03E63EE919}"/>
              </a:ext>
            </a:extLst>
          </p:cNvPr>
          <p:cNvSpPr txBox="1"/>
          <p:nvPr/>
        </p:nvSpPr>
        <p:spPr>
          <a:xfrm>
            <a:off x="6131574" y="4682205"/>
            <a:ext cx="549091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3B5A343-FE35-411B-B648-EA1B143DBAE4}"/>
              </a:ext>
            </a:extLst>
          </p:cNvPr>
          <p:cNvSpPr txBox="1"/>
          <p:nvPr/>
        </p:nvSpPr>
        <p:spPr>
          <a:xfrm>
            <a:off x="517986" y="5064866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INDUSTRIALES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2C1AC3A-4BA8-4B22-B347-64B52064ACF8}"/>
              </a:ext>
            </a:extLst>
          </p:cNvPr>
          <p:cNvSpPr txBox="1"/>
          <p:nvPr/>
        </p:nvSpPr>
        <p:spPr>
          <a:xfrm>
            <a:off x="517986" y="5354501"/>
            <a:ext cx="5551123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7DB8A19-E33A-4886-A476-E7AA87A9EBCC}"/>
              </a:ext>
            </a:extLst>
          </p:cNvPr>
          <p:cNvSpPr txBox="1"/>
          <p:nvPr/>
        </p:nvSpPr>
        <p:spPr>
          <a:xfrm>
            <a:off x="6131574" y="5352305"/>
            <a:ext cx="549091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BC95281-23F9-40E0-9B5E-BED8E5F1C70C}"/>
              </a:ext>
            </a:extLst>
          </p:cNvPr>
          <p:cNvSpPr txBox="1"/>
          <p:nvPr/>
        </p:nvSpPr>
        <p:spPr>
          <a:xfrm>
            <a:off x="511379" y="5747185"/>
            <a:ext cx="5551123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62C602E-A58F-410D-BA3B-2329627A7ABD}"/>
              </a:ext>
            </a:extLst>
          </p:cNvPr>
          <p:cNvSpPr txBox="1"/>
          <p:nvPr/>
        </p:nvSpPr>
        <p:spPr>
          <a:xfrm>
            <a:off x="6124967" y="5744989"/>
            <a:ext cx="549091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14669553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0" y="383569"/>
            <a:ext cx="1110225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115829" y="735807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481013" y="72124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761805" y="721241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85852" y="738496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96021" y="148027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480919" y="145737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639" y="490802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300795" y="136865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478249" y="1694673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478249" y="20173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003428" y="20092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478249" y="2266245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b="1">
                <a:solidFill>
                  <a:srgbClr val="000000"/>
                </a:solidFill>
              </a:rPr>
              <a:t>ITEM A:PLAN DE GESTION AMBIENTAL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3B5A343-FE35-411B-B648-EA1B143DBAE4}"/>
              </a:ext>
            </a:extLst>
          </p:cNvPr>
          <p:cNvSpPr txBox="1"/>
          <p:nvPr/>
        </p:nvSpPr>
        <p:spPr>
          <a:xfrm>
            <a:off x="475994" y="2569316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INDUSTRIALES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2C1AC3A-4BA8-4B22-B347-64B52064ACF8}"/>
              </a:ext>
            </a:extLst>
          </p:cNvPr>
          <p:cNvSpPr txBox="1"/>
          <p:nvPr/>
        </p:nvSpPr>
        <p:spPr>
          <a:xfrm>
            <a:off x="475994" y="2858951"/>
            <a:ext cx="5551123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7DB8A19-E33A-4886-A476-E7AA87A9EBCC}"/>
              </a:ext>
            </a:extLst>
          </p:cNvPr>
          <p:cNvSpPr txBox="1"/>
          <p:nvPr/>
        </p:nvSpPr>
        <p:spPr>
          <a:xfrm>
            <a:off x="6089582" y="2856755"/>
            <a:ext cx="549091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6BC95281-23F9-40E0-9B5E-BED8E5F1C70C}"/>
              </a:ext>
            </a:extLst>
          </p:cNvPr>
          <p:cNvSpPr txBox="1"/>
          <p:nvPr/>
        </p:nvSpPr>
        <p:spPr>
          <a:xfrm>
            <a:off x="467319" y="3493000"/>
            <a:ext cx="555112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862C602E-A58F-410D-BA3B-2329627A7ABD}"/>
              </a:ext>
            </a:extLst>
          </p:cNvPr>
          <p:cNvSpPr txBox="1"/>
          <p:nvPr/>
        </p:nvSpPr>
        <p:spPr>
          <a:xfrm>
            <a:off x="6087325" y="3487014"/>
            <a:ext cx="549091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B89B1D1-1D12-481C-B5AC-60F0D6C2B1A9}"/>
              </a:ext>
            </a:extLst>
          </p:cNvPr>
          <p:cNvSpPr txBox="1"/>
          <p:nvPr/>
        </p:nvSpPr>
        <p:spPr>
          <a:xfrm>
            <a:off x="475994" y="3733864"/>
            <a:ext cx="5551123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322ABB8-E603-4C3C-9859-EA301F5E6028}"/>
              </a:ext>
            </a:extLst>
          </p:cNvPr>
          <p:cNvSpPr txBox="1"/>
          <p:nvPr/>
        </p:nvSpPr>
        <p:spPr>
          <a:xfrm>
            <a:off x="6089582" y="3731668"/>
            <a:ext cx="5490915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379893F-1786-4107-9C3D-0FAA9A585AE2}"/>
              </a:ext>
            </a:extLst>
          </p:cNvPr>
          <p:cNvSpPr txBox="1"/>
          <p:nvPr/>
        </p:nvSpPr>
        <p:spPr>
          <a:xfrm>
            <a:off x="475994" y="4358016"/>
            <a:ext cx="5551123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0CC2C4A-8A2C-4817-BA9E-CC2517810058}"/>
              </a:ext>
            </a:extLst>
          </p:cNvPr>
          <p:cNvSpPr txBox="1"/>
          <p:nvPr/>
        </p:nvSpPr>
        <p:spPr>
          <a:xfrm>
            <a:off x="6096000" y="4352030"/>
            <a:ext cx="549091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08AB5E3-5957-4C9D-B325-C5E1C40CFEB1}"/>
              </a:ext>
            </a:extLst>
          </p:cNvPr>
          <p:cNvSpPr txBox="1"/>
          <p:nvPr/>
        </p:nvSpPr>
        <p:spPr>
          <a:xfrm>
            <a:off x="482412" y="4832076"/>
            <a:ext cx="5551123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4633449-B394-48B8-8FA7-F1FF408761CA}"/>
              </a:ext>
            </a:extLst>
          </p:cNvPr>
          <p:cNvSpPr txBox="1"/>
          <p:nvPr/>
        </p:nvSpPr>
        <p:spPr>
          <a:xfrm>
            <a:off x="6096000" y="4829880"/>
            <a:ext cx="549091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0FBD8E2-2633-4857-B10D-34C345A564B1}"/>
              </a:ext>
            </a:extLst>
          </p:cNvPr>
          <p:cNvSpPr txBox="1"/>
          <p:nvPr/>
        </p:nvSpPr>
        <p:spPr>
          <a:xfrm>
            <a:off x="482412" y="5325209"/>
            <a:ext cx="5551123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50F4B10-C45E-4488-B43E-771DD2249993}"/>
              </a:ext>
            </a:extLst>
          </p:cNvPr>
          <p:cNvSpPr txBox="1"/>
          <p:nvPr/>
        </p:nvSpPr>
        <p:spPr>
          <a:xfrm>
            <a:off x="6102418" y="5319223"/>
            <a:ext cx="549091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7FD01F5-F874-4B9B-8276-D9BAF12D1E6F}"/>
              </a:ext>
            </a:extLst>
          </p:cNvPr>
          <p:cNvSpPr txBox="1"/>
          <p:nvPr/>
        </p:nvSpPr>
        <p:spPr>
          <a:xfrm>
            <a:off x="482412" y="5694895"/>
            <a:ext cx="5551123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6E4434B5-9AB8-4A2E-A882-B21BEE0A759E}"/>
              </a:ext>
            </a:extLst>
          </p:cNvPr>
          <p:cNvSpPr txBox="1"/>
          <p:nvPr/>
        </p:nvSpPr>
        <p:spPr>
          <a:xfrm>
            <a:off x="6096000" y="5692699"/>
            <a:ext cx="5490915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36685031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20" y="383569"/>
            <a:ext cx="1110225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115829" y="735807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481013" y="72124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761805" y="721241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85852" y="738496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96021" y="148027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480919" y="145737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639" y="490802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300795" y="136865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478249" y="1694673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478249" y="20173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003428" y="20092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478249" y="2266245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100" b="1">
                <a:solidFill>
                  <a:srgbClr val="000000"/>
                </a:solidFill>
              </a:rPr>
              <a:t>ITEM A:PLAN DE GESTION AMBIENTAL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732AA92-F682-4935-8C42-399D9110E89B}"/>
              </a:ext>
            </a:extLst>
          </p:cNvPr>
          <p:cNvSpPr txBox="1"/>
          <p:nvPr/>
        </p:nvSpPr>
        <p:spPr>
          <a:xfrm>
            <a:off x="478249" y="2622373"/>
            <a:ext cx="1110224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800" dirty="0"/>
              <a:t>PLAN DE ACCIÓN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66C0026-2DB0-4CB5-A67E-6C5F641F85F1}"/>
              </a:ext>
            </a:extLst>
          </p:cNvPr>
          <p:cNvSpPr txBox="1"/>
          <p:nvPr/>
        </p:nvSpPr>
        <p:spPr>
          <a:xfrm>
            <a:off x="511379" y="2859941"/>
            <a:ext cx="11069116" cy="95410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0BEB6C6-832D-4D5C-B605-FC9E34E024EB}"/>
              </a:ext>
            </a:extLst>
          </p:cNvPr>
          <p:cNvSpPr txBox="1"/>
          <p:nvPr/>
        </p:nvSpPr>
        <p:spPr>
          <a:xfrm>
            <a:off x="511379" y="3868178"/>
            <a:ext cx="3447147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5DD7E79-B671-49E5-8CDA-9C03E63EE919}"/>
              </a:ext>
            </a:extLst>
          </p:cNvPr>
          <p:cNvSpPr txBox="1"/>
          <p:nvPr/>
        </p:nvSpPr>
        <p:spPr>
          <a:xfrm>
            <a:off x="4028092" y="3874070"/>
            <a:ext cx="3664148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EB533F3-82F4-428D-82FB-0C287D167AF7}"/>
              </a:ext>
            </a:extLst>
          </p:cNvPr>
          <p:cNvSpPr txBox="1"/>
          <p:nvPr/>
        </p:nvSpPr>
        <p:spPr>
          <a:xfrm>
            <a:off x="7761806" y="3871911"/>
            <a:ext cx="3813436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5573D33-DFF5-4129-A196-463829CD1DCA}"/>
              </a:ext>
            </a:extLst>
          </p:cNvPr>
          <p:cNvSpPr txBox="1"/>
          <p:nvPr/>
        </p:nvSpPr>
        <p:spPr>
          <a:xfrm>
            <a:off x="511379" y="4728329"/>
            <a:ext cx="344714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Residuos orgánicos</a:t>
            </a:r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835F92C-3E41-43D5-886D-08BB07B1B117}"/>
              </a:ext>
            </a:extLst>
          </p:cNvPr>
          <p:cNvSpPr txBox="1"/>
          <p:nvPr/>
        </p:nvSpPr>
        <p:spPr>
          <a:xfrm>
            <a:off x="4028092" y="4734221"/>
            <a:ext cx="366414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/>
              <a:t>Residuos reciclable y/o reutilizables</a:t>
            </a:r>
            <a:endParaRPr lang="es-MX" sz="8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1983FF9-A5DA-4DD5-90A5-90C62AA64DB6}"/>
              </a:ext>
            </a:extLst>
          </p:cNvPr>
          <p:cNvSpPr txBox="1"/>
          <p:nvPr/>
        </p:nvSpPr>
        <p:spPr>
          <a:xfrm>
            <a:off x="7761806" y="4732062"/>
            <a:ext cx="381343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Residuos peligrosos</a:t>
            </a:r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660DFB3-55F4-47FF-BCBD-68F68D08E86D}"/>
              </a:ext>
            </a:extLst>
          </p:cNvPr>
          <p:cNvSpPr txBox="1"/>
          <p:nvPr/>
        </p:nvSpPr>
        <p:spPr>
          <a:xfrm>
            <a:off x="528956" y="445233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Archivo: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12D5536B-508E-4D8F-9ED3-48B1BF3DD6F1}"/>
              </a:ext>
            </a:extLst>
          </p:cNvPr>
          <p:cNvSpPr txBox="1"/>
          <p:nvPr/>
        </p:nvSpPr>
        <p:spPr>
          <a:xfrm>
            <a:off x="1984014" y="4454511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AFBA865-69F3-4BB5-85A4-8E6BEC5B64FD}"/>
              </a:ext>
            </a:extLst>
          </p:cNvPr>
          <p:cNvSpPr txBox="1"/>
          <p:nvPr/>
        </p:nvSpPr>
        <p:spPr>
          <a:xfrm>
            <a:off x="4144781" y="447875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Archivo: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B75FF7A-F88C-4E3F-AE67-832A2714BD05}"/>
              </a:ext>
            </a:extLst>
          </p:cNvPr>
          <p:cNvSpPr txBox="1"/>
          <p:nvPr/>
        </p:nvSpPr>
        <p:spPr>
          <a:xfrm>
            <a:off x="5599839" y="448092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5F60960-DB7C-4267-852F-BF8749F3D892}"/>
              </a:ext>
            </a:extLst>
          </p:cNvPr>
          <p:cNvSpPr txBox="1"/>
          <p:nvPr/>
        </p:nvSpPr>
        <p:spPr>
          <a:xfrm>
            <a:off x="7942527" y="447150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Archivo: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CAB3A87-A97D-4B4F-A569-2F599DF77F83}"/>
              </a:ext>
            </a:extLst>
          </p:cNvPr>
          <p:cNvSpPr txBox="1"/>
          <p:nvPr/>
        </p:nvSpPr>
        <p:spPr>
          <a:xfrm>
            <a:off x="9397585" y="447367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ED70C13-BC92-40AA-988D-F93ACE9C6383}"/>
              </a:ext>
            </a:extLst>
          </p:cNvPr>
          <p:cNvSpPr txBox="1"/>
          <p:nvPr/>
        </p:nvSpPr>
        <p:spPr>
          <a:xfrm>
            <a:off x="1448140" y="5162594"/>
            <a:ext cx="10135032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  <a:p>
            <a:endParaRPr lang="es-MX" sz="80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5BD20B7-BEF2-49A9-8794-37BDE62DBA33}"/>
              </a:ext>
            </a:extLst>
          </p:cNvPr>
          <p:cNvSpPr txBox="1"/>
          <p:nvPr/>
        </p:nvSpPr>
        <p:spPr>
          <a:xfrm>
            <a:off x="497593" y="5251944"/>
            <a:ext cx="84529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Notas: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3D4160D-FC8E-49AD-9132-108491D1E599}"/>
              </a:ext>
            </a:extLst>
          </p:cNvPr>
          <p:cNvSpPr txBox="1"/>
          <p:nvPr/>
        </p:nvSpPr>
        <p:spPr>
          <a:xfrm>
            <a:off x="3572915" y="60354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9AFEC6F-6C94-48A3-B84E-BAB09F9FF996}"/>
              </a:ext>
            </a:extLst>
          </p:cNvPr>
          <p:cNvSpPr txBox="1"/>
          <p:nvPr/>
        </p:nvSpPr>
        <p:spPr>
          <a:xfrm>
            <a:off x="5559708" y="60354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C902FFF-81A9-4C56-95EB-951F4516EC53}"/>
              </a:ext>
            </a:extLst>
          </p:cNvPr>
          <p:cNvSpPr txBox="1"/>
          <p:nvPr/>
        </p:nvSpPr>
        <p:spPr>
          <a:xfrm>
            <a:off x="7546501" y="60354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E7F54B5-CECC-4F08-BD42-7BBFA67CCB77}"/>
              </a:ext>
            </a:extLst>
          </p:cNvPr>
          <p:cNvSpPr txBox="1"/>
          <p:nvPr/>
        </p:nvSpPr>
        <p:spPr>
          <a:xfrm>
            <a:off x="9600016" y="603549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D264BCB-020F-4FAF-A35D-091907A04311}"/>
              </a:ext>
            </a:extLst>
          </p:cNvPr>
          <p:cNvSpPr txBox="1"/>
          <p:nvPr/>
        </p:nvSpPr>
        <p:spPr>
          <a:xfrm>
            <a:off x="1730337" y="603549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1934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Manejo ambiental 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42338" y="427943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52619" y="4279430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8650E78-C03F-403A-9FEB-A7442C63E4E7}"/>
              </a:ext>
            </a:extLst>
          </p:cNvPr>
          <p:cNvSpPr txBox="1"/>
          <p:nvPr/>
        </p:nvSpPr>
        <p:spPr>
          <a:xfrm>
            <a:off x="1284964" y="335749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Programas: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5F07426-9663-46C0-8FC9-2F349D98408C}"/>
              </a:ext>
            </a:extLst>
          </p:cNvPr>
          <p:cNvSpPr txBox="1"/>
          <p:nvPr/>
        </p:nvSpPr>
        <p:spPr>
          <a:xfrm>
            <a:off x="2810143" y="3349369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A492E1F-B656-4A88-8355-2CFDA4902B3B}"/>
              </a:ext>
            </a:extLst>
          </p:cNvPr>
          <p:cNvSpPr txBox="1"/>
          <p:nvPr/>
        </p:nvSpPr>
        <p:spPr>
          <a:xfrm>
            <a:off x="3007610" y="545571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35140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16050" y="59308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25988" y="55311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1033" y="51949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8141" y="4164689"/>
            <a:ext cx="92385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Medidas de prevención 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7265204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0" y="383569"/>
            <a:ext cx="1110225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115829" y="735807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481013" y="721241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761805" y="721241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85852" y="738496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96021" y="148027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480919" y="145737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639" y="490802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300795" y="136865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478249" y="1694673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Medio Ambiente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2759289" y="646431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4746082" y="646431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6732875" y="646431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8786390" y="6464316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501B0C9-FACF-45E2-964E-CEE4386943FD}"/>
              </a:ext>
            </a:extLst>
          </p:cNvPr>
          <p:cNvSpPr txBox="1"/>
          <p:nvPr/>
        </p:nvSpPr>
        <p:spPr>
          <a:xfrm>
            <a:off x="478249" y="20173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A43D6FA-5B83-4A58-A819-014AC1F60019}"/>
              </a:ext>
            </a:extLst>
          </p:cNvPr>
          <p:cNvSpPr txBox="1"/>
          <p:nvPr/>
        </p:nvSpPr>
        <p:spPr>
          <a:xfrm>
            <a:off x="2003428" y="20092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0E5B42-388E-4BA1-89C1-16013E0E3B15}"/>
              </a:ext>
            </a:extLst>
          </p:cNvPr>
          <p:cNvSpPr txBox="1"/>
          <p:nvPr/>
        </p:nvSpPr>
        <p:spPr>
          <a:xfrm>
            <a:off x="478249" y="2266245"/>
            <a:ext cx="1110224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y control frente al riesgo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ED04E3A6-EE1F-462B-A21C-B1727810A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39003"/>
              </p:ext>
            </p:extLst>
          </p:nvPr>
        </p:nvGraphicFramePr>
        <p:xfrm>
          <a:off x="2203450" y="2858812"/>
          <a:ext cx="7555405" cy="327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4" name="Worksheet" r:id="rId5" imgW="19059477" imgH="13268311" progId="Excel.Sheet.12">
                  <p:embed/>
                </p:oleObj>
              </mc:Choice>
              <mc:Fallback>
                <p:oleObj name="Worksheet" r:id="rId5" imgW="19059477" imgH="1326831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3450" y="2858812"/>
                        <a:ext cx="7555405" cy="327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uadroTexto 23">
            <a:extLst>
              <a:ext uri="{FF2B5EF4-FFF2-40B4-BE49-F238E27FC236}">
                <a16:creationId xmlns:a16="http://schemas.microsoft.com/office/drawing/2014/main" id="{07F7B419-0884-4B90-97DF-31F555479A96}"/>
              </a:ext>
            </a:extLst>
          </p:cNvPr>
          <p:cNvSpPr txBox="1"/>
          <p:nvPr/>
        </p:nvSpPr>
        <p:spPr>
          <a:xfrm>
            <a:off x="908893" y="646431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00560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/>
              <a:t>Medidas de prevención y control frente al riesgo</a:t>
            </a:r>
            <a:r>
              <a:rPr lang="es-CO" sz="1100" b="1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43560" y="5014946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68562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16050" y="59308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25988" y="55311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1033" y="51949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8141" y="4563661"/>
            <a:ext cx="243722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medidas de prevención y control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254039832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por los trabajadores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1EFD031-85A0-451F-8406-DED8F4DE4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7693"/>
              </p:ext>
            </p:extLst>
          </p:nvPr>
        </p:nvGraphicFramePr>
        <p:xfrm>
          <a:off x="2648084" y="2734212"/>
          <a:ext cx="7540434" cy="3218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0307">
                  <a:extLst>
                    <a:ext uri="{9D8B030D-6E8A-4147-A177-3AD203B41FA5}">
                      <a16:colId xmlns:a16="http://schemas.microsoft.com/office/drawing/2014/main" val="443945149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19895557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3692572859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2000173781"/>
                    </a:ext>
                  </a:extLst>
                </a:gridCol>
                <a:gridCol w="309892">
                  <a:extLst>
                    <a:ext uri="{9D8B030D-6E8A-4147-A177-3AD203B41FA5}">
                      <a16:colId xmlns:a16="http://schemas.microsoft.com/office/drawing/2014/main" val="2844234221"/>
                    </a:ext>
                  </a:extLst>
                </a:gridCol>
                <a:gridCol w="137179">
                  <a:extLst>
                    <a:ext uri="{9D8B030D-6E8A-4147-A177-3AD203B41FA5}">
                      <a16:colId xmlns:a16="http://schemas.microsoft.com/office/drawing/2014/main" val="3561594960"/>
                    </a:ext>
                  </a:extLst>
                </a:gridCol>
                <a:gridCol w="353986">
                  <a:extLst>
                    <a:ext uri="{9D8B030D-6E8A-4147-A177-3AD203B41FA5}">
                      <a16:colId xmlns:a16="http://schemas.microsoft.com/office/drawing/2014/main" val="2580842920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50934203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2840253074"/>
                    </a:ext>
                  </a:extLst>
                </a:gridCol>
                <a:gridCol w="393732">
                  <a:extLst>
                    <a:ext uri="{9D8B030D-6E8A-4147-A177-3AD203B41FA5}">
                      <a16:colId xmlns:a16="http://schemas.microsoft.com/office/drawing/2014/main" val="506591750"/>
                    </a:ext>
                  </a:extLst>
                </a:gridCol>
                <a:gridCol w="353986">
                  <a:extLst>
                    <a:ext uri="{9D8B030D-6E8A-4147-A177-3AD203B41FA5}">
                      <a16:colId xmlns:a16="http://schemas.microsoft.com/office/drawing/2014/main" val="917147168"/>
                    </a:ext>
                  </a:extLst>
                </a:gridCol>
                <a:gridCol w="353986">
                  <a:extLst>
                    <a:ext uri="{9D8B030D-6E8A-4147-A177-3AD203B41FA5}">
                      <a16:colId xmlns:a16="http://schemas.microsoft.com/office/drawing/2014/main" val="833507711"/>
                    </a:ext>
                  </a:extLst>
                </a:gridCol>
                <a:gridCol w="353986">
                  <a:extLst>
                    <a:ext uri="{9D8B030D-6E8A-4147-A177-3AD203B41FA5}">
                      <a16:colId xmlns:a16="http://schemas.microsoft.com/office/drawing/2014/main" val="962288133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4263033481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3507494707"/>
                    </a:ext>
                  </a:extLst>
                </a:gridCol>
                <a:gridCol w="440307">
                  <a:extLst>
                    <a:ext uri="{9D8B030D-6E8A-4147-A177-3AD203B41FA5}">
                      <a16:colId xmlns:a16="http://schemas.microsoft.com/office/drawing/2014/main" val="4178635127"/>
                    </a:ext>
                  </a:extLst>
                </a:gridCol>
                <a:gridCol w="1320924">
                  <a:extLst>
                    <a:ext uri="{9D8B030D-6E8A-4147-A177-3AD203B41FA5}">
                      <a16:colId xmlns:a16="http://schemas.microsoft.com/office/drawing/2014/main" val="3194175573"/>
                    </a:ext>
                  </a:extLst>
                </a:gridCol>
              </a:tblGrid>
              <a:tr h="22583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SECCIÓN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ALMACENAMIENTO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PASILLOS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DEMARCACIÓN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LIMPIEZA AREA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AVISO PREVENTIVO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RECIPIENTE MATER. DESECHOS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AREA DE HERRAMIENTA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 dirty="0">
                          <a:effectLst/>
                        </a:rPr>
                        <a:t>OBSERVACION</a:t>
                      </a:r>
                      <a:endParaRPr lang="es-CO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3070656879"/>
                  </a:ext>
                </a:extLst>
              </a:tr>
              <a:tr h="27348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BUENO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MALO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BUENO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MALO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SI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BUENA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MALA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SI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SI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BUENA 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MALA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321443"/>
                  </a:ext>
                </a:extLst>
              </a:tr>
              <a:tr h="2734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Bodega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2556180879"/>
                  </a:ext>
                </a:extLst>
              </a:tr>
              <a:tr h="2734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Tienda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500934191"/>
                  </a:ext>
                </a:extLst>
              </a:tr>
              <a:tr h="1808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Baño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160904857"/>
                  </a:ext>
                </a:extLst>
              </a:tr>
              <a:tr h="88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820337557"/>
                  </a:ext>
                </a:extLst>
              </a:tr>
              <a:tr h="881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extLst>
                  <a:ext uri="{0D108BD9-81ED-4DB2-BD59-A6C34878D82A}">
                    <a16:rowId xmlns:a16="http://schemas.microsoft.com/office/drawing/2014/main" val="4201760822"/>
                  </a:ext>
                </a:extLst>
              </a:tr>
              <a:tr h="1268845">
                <a:tc gridSpan="5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INSPECCIONADO POR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NOMBRE: 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endParaRPr lang="es-ES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FIRMA: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OBSERVACIONES: 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ES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879" marR="42879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599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3B4D41B-1266-4138-8FD4-77E8C7B382AF}"/>
              </a:ext>
            </a:extLst>
          </p:cNvPr>
          <p:cNvSpPr txBox="1"/>
          <p:nvPr/>
        </p:nvSpPr>
        <p:spPr>
          <a:xfrm>
            <a:off x="528145" y="3429000"/>
            <a:ext cx="1041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rgbClr val="FF0000"/>
                </a:solidFill>
              </a:rPr>
              <a:t>Documento inspecciones del </a:t>
            </a:r>
            <a:r>
              <a:rPr lang="es-MX" sz="1200" dirty="0" err="1">
                <a:solidFill>
                  <a:srgbClr val="FF0000"/>
                </a:solidFill>
              </a:rPr>
              <a:t>copasst</a:t>
            </a:r>
            <a:endParaRPr lang="es-CO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2720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por los trabajadores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9D1BFCE-0DD3-4FA4-B8C9-B7C0A8DCA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711794"/>
              </p:ext>
            </p:extLst>
          </p:nvPr>
        </p:nvGraphicFramePr>
        <p:xfrm>
          <a:off x="4122683" y="2456266"/>
          <a:ext cx="5896303" cy="40050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29">
                  <a:extLst>
                    <a:ext uri="{9D8B030D-6E8A-4147-A177-3AD203B41FA5}">
                      <a16:colId xmlns:a16="http://schemas.microsoft.com/office/drawing/2014/main" val="464011975"/>
                    </a:ext>
                  </a:extLst>
                </a:gridCol>
                <a:gridCol w="413047">
                  <a:extLst>
                    <a:ext uri="{9D8B030D-6E8A-4147-A177-3AD203B41FA5}">
                      <a16:colId xmlns:a16="http://schemas.microsoft.com/office/drawing/2014/main" val="1214381760"/>
                    </a:ext>
                  </a:extLst>
                </a:gridCol>
                <a:gridCol w="343399">
                  <a:extLst>
                    <a:ext uri="{9D8B030D-6E8A-4147-A177-3AD203B41FA5}">
                      <a16:colId xmlns:a16="http://schemas.microsoft.com/office/drawing/2014/main" val="2937203740"/>
                    </a:ext>
                  </a:extLst>
                </a:gridCol>
                <a:gridCol w="548954">
                  <a:extLst>
                    <a:ext uri="{9D8B030D-6E8A-4147-A177-3AD203B41FA5}">
                      <a16:colId xmlns:a16="http://schemas.microsoft.com/office/drawing/2014/main" val="2656364895"/>
                    </a:ext>
                  </a:extLst>
                </a:gridCol>
                <a:gridCol w="960550">
                  <a:extLst>
                    <a:ext uri="{9D8B030D-6E8A-4147-A177-3AD203B41FA5}">
                      <a16:colId xmlns:a16="http://schemas.microsoft.com/office/drawing/2014/main" val="3036782611"/>
                    </a:ext>
                  </a:extLst>
                </a:gridCol>
                <a:gridCol w="1028262">
                  <a:extLst>
                    <a:ext uri="{9D8B030D-6E8A-4147-A177-3AD203B41FA5}">
                      <a16:colId xmlns:a16="http://schemas.microsoft.com/office/drawing/2014/main" val="350086162"/>
                    </a:ext>
                  </a:extLst>
                </a:gridCol>
                <a:gridCol w="1028262">
                  <a:extLst>
                    <a:ext uri="{9D8B030D-6E8A-4147-A177-3AD203B41FA5}">
                      <a16:colId xmlns:a16="http://schemas.microsoft.com/office/drawing/2014/main" val="1524923475"/>
                    </a:ext>
                  </a:extLst>
                </a:gridCol>
              </a:tblGrid>
              <a:tr h="67321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ITEM PARA REVISAR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BUENO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MALO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NO/APLICA.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ACCION CORRECTIVA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COMPROMISO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172144"/>
                  </a:ext>
                </a:extLst>
              </a:tr>
              <a:tr h="7081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RESPONSABLE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FECHA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300365105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396722918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ORDEN(CLASIFICACION DEL MATERIAL)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594332960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LIMPIEZA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971783870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DEMARCACION/AVISOS DE SEGURIDAD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525660287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PASILLOS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213477699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OTROS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308739315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EQUIPOS DE EMERGENCIA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926251668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EXTINTOR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066093487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HIDRANTES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63020565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BOTIQUIN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74855186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CAMILLAS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056775535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VIA DE EVACUACION (SAL. DE EMER.)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217943041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ALARMA DE EMERGENCIA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48755703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ALUMBRADO DE EMERGENCIA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714610833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ORDEN Y LIMPIEZA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720061934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PISOS / PASILLOS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698121596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PAREDES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68273433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PUERTAS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251598254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VENTANALES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694888051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PUESTOS DE TRABAJO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201209334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HERRAMIENTA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167754437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AREA DE ALMACENAMIENTO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865018199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INSTALACIONES ELECTRICAS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232033080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CAFETERIA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940296798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OTROS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08091279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MANEJO DE DESECHOS, (Liq, sol. Gas)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919660504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PROCEDIMIENTO ESCRITO RECICLAJE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815910143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AREA DE ALMACENAMIENTO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797770913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EVACUACION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874975291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DEMARCACION/ AVISOS DE SEGURIDAD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714260450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ORDEN/LIMPIEZA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2633589499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OTROS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530372837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ELEMENTOS DE PROTECCION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237067309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ADECUADO PARA EL RIESGO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322496946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USO 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69124979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PRESENTACION (LIMPIEZA)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219208233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OTROS: CAPACITACION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424990253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INSTALACIONES LOCATIVAS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3458783116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ESTADO TECHO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994188272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ESTADO PISO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1648374438"/>
                  </a:ext>
                </a:extLst>
              </a:tr>
              <a:tr h="673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ESTADO PARED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 dirty="0">
                          <a:effectLst/>
                        </a:rPr>
                        <a:t> </a:t>
                      </a:r>
                      <a:endParaRPr lang="es-CO" sz="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1186" marR="31186" marT="0" marB="0"/>
                </a:tc>
                <a:extLst>
                  <a:ext uri="{0D108BD9-81ED-4DB2-BD59-A6C34878D82A}">
                    <a16:rowId xmlns:a16="http://schemas.microsoft.com/office/drawing/2014/main" val="810918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99542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por los trabajadores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1F4748A-40F9-4CCE-B16E-8F299B7C76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415361"/>
              </p:ext>
            </p:extLst>
          </p:nvPr>
        </p:nvGraphicFramePr>
        <p:xfrm>
          <a:off x="3776063" y="1974776"/>
          <a:ext cx="5730546" cy="4377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0290">
                  <a:extLst>
                    <a:ext uri="{9D8B030D-6E8A-4147-A177-3AD203B41FA5}">
                      <a16:colId xmlns:a16="http://schemas.microsoft.com/office/drawing/2014/main" val="2559544006"/>
                    </a:ext>
                  </a:extLst>
                </a:gridCol>
                <a:gridCol w="496100">
                  <a:extLst>
                    <a:ext uri="{9D8B030D-6E8A-4147-A177-3AD203B41FA5}">
                      <a16:colId xmlns:a16="http://schemas.microsoft.com/office/drawing/2014/main" val="546115909"/>
                    </a:ext>
                  </a:extLst>
                </a:gridCol>
                <a:gridCol w="412449">
                  <a:extLst>
                    <a:ext uri="{9D8B030D-6E8A-4147-A177-3AD203B41FA5}">
                      <a16:colId xmlns:a16="http://schemas.microsoft.com/office/drawing/2014/main" val="2021567248"/>
                    </a:ext>
                  </a:extLst>
                </a:gridCol>
                <a:gridCol w="659336">
                  <a:extLst>
                    <a:ext uri="{9D8B030D-6E8A-4147-A177-3AD203B41FA5}">
                      <a16:colId xmlns:a16="http://schemas.microsoft.com/office/drawing/2014/main" val="2267151231"/>
                    </a:ext>
                  </a:extLst>
                </a:gridCol>
                <a:gridCol w="65854">
                  <a:extLst>
                    <a:ext uri="{9D8B030D-6E8A-4147-A177-3AD203B41FA5}">
                      <a16:colId xmlns:a16="http://schemas.microsoft.com/office/drawing/2014/main" val="1908620578"/>
                    </a:ext>
                  </a:extLst>
                </a:gridCol>
                <a:gridCol w="65854">
                  <a:extLst>
                    <a:ext uri="{9D8B030D-6E8A-4147-A177-3AD203B41FA5}">
                      <a16:colId xmlns:a16="http://schemas.microsoft.com/office/drawing/2014/main" val="246296589"/>
                    </a:ext>
                  </a:extLst>
                </a:gridCol>
                <a:gridCol w="905643">
                  <a:extLst>
                    <a:ext uri="{9D8B030D-6E8A-4147-A177-3AD203B41FA5}">
                      <a16:colId xmlns:a16="http://schemas.microsoft.com/office/drawing/2014/main" val="2671336177"/>
                    </a:ext>
                  </a:extLst>
                </a:gridCol>
                <a:gridCol w="1235020">
                  <a:extLst>
                    <a:ext uri="{9D8B030D-6E8A-4147-A177-3AD203B41FA5}">
                      <a16:colId xmlns:a16="http://schemas.microsoft.com/office/drawing/2014/main" val="1604618279"/>
                    </a:ext>
                  </a:extLst>
                </a:gridCol>
              </a:tblGrid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PUERTAS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4212741086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DE ESCALERAS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62836029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VENTANAS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01319908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SEÑALIZACION Y DEMARCACION AREAS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319673409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ILUMINACION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175972928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VENTILACION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905238549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TEMPERATURA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159949780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NIVEL DE RUIDO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67614693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OTROS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877738081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INSTALACIONES ELECTRICAS LOCATIVAS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56630123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CABLES (ENTUBADO)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70021906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TOMA CORRIENTE (Polo a tierra)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14321478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SUICHE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525686881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CAJA DE DISTRIBUCION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22251546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TABLEROS ELECTRICOS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358491139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ESTADO BOMBILLOS/TUBOS FLUORESCENTES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849703320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ORDEN/LIMPIEZA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54130530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SEÑALIZACION/AVISOS DE SEGURIDAD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50558145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ACCESO (LIBRE DE OBSTACULOS)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71867515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MAQUINA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022593045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MAQUINA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indent="133985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00154079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MANUAL DE PROCEDIMIENTO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53607147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INSTALACION ELECTRICA (Polo a tierra)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24664226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FUGA DE ACEITE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424889815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FUGA DE AIRE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935418723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TABLERO DE CONTROL (Indicadores)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26195327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NIVEL DE RUIDO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358871158"/>
                  </a:ext>
                </a:extLst>
              </a:tr>
              <a:tr h="52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TEMPERATURA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173275526"/>
                  </a:ext>
                </a:extLst>
              </a:tr>
              <a:tr h="52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DEMARCACION/AVISO DE SEGURIDAD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812711453"/>
                  </a:ext>
                </a:extLst>
              </a:tr>
              <a:tr h="521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PUESTO DE TRABAJO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4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3003661532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ELEMENTOS PROTECCION PERSONAL (adecuados)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74884731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PARADA DE EMERGENCIA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916403338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DISPOSITIVOS DE SEGURIDAD/GUARDAS PROTECTORAS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119455671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ORDEN / LIMPIEZA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093219164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OTROS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969074185"/>
                  </a:ext>
                </a:extLst>
              </a:tr>
              <a:tr h="521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ALMACENAMIENTO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1655378805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DISTANCIA A LA PARED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571199486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ALTURA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887849361"/>
                  </a:ext>
                </a:extLst>
              </a:tr>
              <a:tr h="625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ESTABILIDAD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extLst>
                  <a:ext uri="{0D108BD9-81ED-4DB2-BD59-A6C34878D82A}">
                    <a16:rowId xmlns:a16="http://schemas.microsoft.com/office/drawing/2014/main" val="22940247"/>
                  </a:ext>
                </a:extLst>
              </a:tr>
              <a:tr h="5459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INSPECCIONADO POR: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NOMBRE: 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 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FECHA: 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FIRMA:_______________________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RESPONSABLE DEL SITIO: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NOMBRE: 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FECHA: 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 </a:t>
                      </a:r>
                      <a:endParaRPr lang="es-CO" sz="6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>
                          <a:effectLst/>
                        </a:rPr>
                        <a:t>FIRMA_________________________</a:t>
                      </a:r>
                      <a:endParaRPr lang="es-CO" sz="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 dirty="0">
                          <a:effectLst/>
                        </a:rPr>
                        <a:t> </a:t>
                      </a:r>
                      <a:endParaRPr lang="es-CO" sz="6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 dirty="0">
                          <a:effectLst/>
                        </a:rPr>
                        <a:t>OBSERVACIONES: </a:t>
                      </a:r>
                      <a:endParaRPr lang="es-CO" sz="6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 dirty="0">
                          <a:effectLst/>
                        </a:rPr>
                        <a:t>____________________________________________________________________________________________________________</a:t>
                      </a:r>
                      <a:endParaRPr lang="es-CO" sz="6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500" dirty="0">
                          <a:effectLst/>
                        </a:rPr>
                        <a:t>______________________________________________________________________________________________________________________________________________________________________________________________________________________________________________________________________________</a:t>
                      </a:r>
                      <a:endParaRPr lang="es-CO" sz="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920" marR="2792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83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9963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por los trabajadores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50919" y="6215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37712" y="6215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724505" y="6215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778020" y="6215852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9B1F675-CAA3-4590-8445-D257C74A6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290031"/>
              </p:ext>
            </p:extLst>
          </p:nvPr>
        </p:nvGraphicFramePr>
        <p:xfrm>
          <a:off x="2400916" y="3090759"/>
          <a:ext cx="7019921" cy="2780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7049">
                  <a:extLst>
                    <a:ext uri="{9D8B030D-6E8A-4147-A177-3AD203B41FA5}">
                      <a16:colId xmlns:a16="http://schemas.microsoft.com/office/drawing/2014/main" val="1016102476"/>
                    </a:ext>
                  </a:extLst>
                </a:gridCol>
                <a:gridCol w="292200">
                  <a:extLst>
                    <a:ext uri="{9D8B030D-6E8A-4147-A177-3AD203B41FA5}">
                      <a16:colId xmlns:a16="http://schemas.microsoft.com/office/drawing/2014/main" val="177962071"/>
                    </a:ext>
                  </a:extLst>
                </a:gridCol>
                <a:gridCol w="292200">
                  <a:extLst>
                    <a:ext uri="{9D8B030D-6E8A-4147-A177-3AD203B41FA5}">
                      <a16:colId xmlns:a16="http://schemas.microsoft.com/office/drawing/2014/main" val="1014257520"/>
                    </a:ext>
                  </a:extLst>
                </a:gridCol>
                <a:gridCol w="253002">
                  <a:extLst>
                    <a:ext uri="{9D8B030D-6E8A-4147-A177-3AD203B41FA5}">
                      <a16:colId xmlns:a16="http://schemas.microsoft.com/office/drawing/2014/main" val="3911465016"/>
                    </a:ext>
                  </a:extLst>
                </a:gridCol>
                <a:gridCol w="253002">
                  <a:extLst>
                    <a:ext uri="{9D8B030D-6E8A-4147-A177-3AD203B41FA5}">
                      <a16:colId xmlns:a16="http://schemas.microsoft.com/office/drawing/2014/main" val="3879630754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2049150666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953302482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293691967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3608945736"/>
                    </a:ext>
                  </a:extLst>
                </a:gridCol>
                <a:gridCol w="253002">
                  <a:extLst>
                    <a:ext uri="{9D8B030D-6E8A-4147-A177-3AD203B41FA5}">
                      <a16:colId xmlns:a16="http://schemas.microsoft.com/office/drawing/2014/main" val="3275657233"/>
                    </a:ext>
                  </a:extLst>
                </a:gridCol>
                <a:gridCol w="253002">
                  <a:extLst>
                    <a:ext uri="{9D8B030D-6E8A-4147-A177-3AD203B41FA5}">
                      <a16:colId xmlns:a16="http://schemas.microsoft.com/office/drawing/2014/main" val="3763797174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2054037275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579450566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644356308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1483876483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1135829774"/>
                    </a:ext>
                  </a:extLst>
                </a:gridCol>
                <a:gridCol w="212617">
                  <a:extLst>
                    <a:ext uri="{9D8B030D-6E8A-4147-A177-3AD203B41FA5}">
                      <a16:colId xmlns:a16="http://schemas.microsoft.com/office/drawing/2014/main" val="134192213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2089256298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1221473080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1153891229"/>
                    </a:ext>
                  </a:extLst>
                </a:gridCol>
                <a:gridCol w="213211">
                  <a:extLst>
                    <a:ext uri="{9D8B030D-6E8A-4147-A177-3AD203B41FA5}">
                      <a16:colId xmlns:a16="http://schemas.microsoft.com/office/drawing/2014/main" val="533682799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990850257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3504807873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4233900937"/>
                    </a:ext>
                  </a:extLst>
                </a:gridCol>
                <a:gridCol w="252408">
                  <a:extLst>
                    <a:ext uri="{9D8B030D-6E8A-4147-A177-3AD203B41FA5}">
                      <a16:colId xmlns:a16="http://schemas.microsoft.com/office/drawing/2014/main" val="3339178863"/>
                    </a:ext>
                  </a:extLst>
                </a:gridCol>
                <a:gridCol w="338524">
                  <a:extLst>
                    <a:ext uri="{9D8B030D-6E8A-4147-A177-3AD203B41FA5}">
                      <a16:colId xmlns:a16="http://schemas.microsoft.com/office/drawing/2014/main" val="72931068"/>
                    </a:ext>
                  </a:extLst>
                </a:gridCol>
                <a:gridCol w="338524">
                  <a:extLst>
                    <a:ext uri="{9D8B030D-6E8A-4147-A177-3AD203B41FA5}">
                      <a16:colId xmlns:a16="http://schemas.microsoft.com/office/drawing/2014/main" val="417738328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Sección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Clasificación del material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Colocación de Carga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Arrume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Estantería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Estabilidad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Demarcación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Distancia pared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Distancia luminarias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Iluminación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Ventilación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Instalación eléctrica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Equipo contra incendio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600">
                          <a:effectLst/>
                        </a:rPr>
                        <a:t>Pasillos vías acceso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4169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B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 M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SI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SI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700">
                          <a:effectLst/>
                        </a:rPr>
                        <a:t>NO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98220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Bodega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566518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Almacén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47973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70421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87964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009013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90033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296273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118934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8476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928985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CO" sz="8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977315349"/>
                  </a:ext>
                </a:extLst>
              </a:tr>
              <a:tr h="1017905">
                <a:tc gridSpan="6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AYUDA MECANICA ¿CUÁL?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10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1000">
                          <a:effectLst/>
                        </a:rPr>
                        <a:t>Ninguna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OBSERVACIONES: 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 </a:t>
                      </a:r>
                      <a:endParaRPr lang="es-CO" sz="10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>
                          <a:effectLst/>
                        </a:rPr>
                        <a:t> </a:t>
                      </a:r>
                      <a:endParaRPr lang="es-CO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 dirty="0">
                          <a:effectLst/>
                        </a:rPr>
                        <a:t>COMPROMISOS</a:t>
                      </a:r>
                      <a:endParaRPr lang="es-CO" sz="1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 dirty="0">
                          <a:effectLst/>
                        </a:rPr>
                        <a:t>RESPONSABLE/FECHA:</a:t>
                      </a:r>
                      <a:endParaRPr lang="es-CO" sz="1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9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97636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5FD8B33-06A6-4687-B5DC-EF87E8BF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30908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6925" algn="l"/>
              </a:tabLst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53D83DB-B649-42EB-8D9E-CB9088F5BEFD}"/>
              </a:ext>
            </a:extLst>
          </p:cNvPr>
          <p:cNvSpPr txBox="1"/>
          <p:nvPr/>
        </p:nvSpPr>
        <p:spPr>
          <a:xfrm>
            <a:off x="1589357" y="6215852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59067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Medidas de prevención por los trabajadores</a:t>
            </a:r>
            <a:r>
              <a:rPr lang="es-CO" sz="1100" b="1" dirty="0">
                <a:solidFill>
                  <a:srgbClr val="000000"/>
                </a:solidFill>
              </a:rPr>
              <a:t> </a:t>
            </a:r>
            <a:endParaRPr lang="es-CO" sz="1100" b="1" dirty="0">
              <a:solidFill>
                <a:srgbClr val="0070C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063119" y="473934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3271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Mantenimiento periódico de instalaciones, equipos, máquinas, herramientas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33268" y="610370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45829" y="57189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10932079" y="529556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4952" y="5157067"/>
            <a:ext cx="185409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Inspecciones Maquinaria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14099501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62380" y="2345650"/>
            <a:ext cx="10289259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Inspección de Maquina</a:t>
            </a:r>
            <a:endParaRPr lang="es-CO" sz="11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FD8B33-06A6-4687-B5DC-EF87E8BF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30908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6925" algn="l"/>
              </a:tabLst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110137-3F84-4D4A-86EF-B99394A14CFE}"/>
              </a:ext>
            </a:extLst>
          </p:cNvPr>
          <p:cNvSpPr txBox="1"/>
          <p:nvPr/>
        </p:nvSpPr>
        <p:spPr>
          <a:xfrm>
            <a:off x="1262380" y="280125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C6848A7-B9CD-4F49-9AD0-A25C95AAFF16}"/>
              </a:ext>
            </a:extLst>
          </p:cNvPr>
          <p:cNvSpPr txBox="1"/>
          <p:nvPr/>
        </p:nvSpPr>
        <p:spPr>
          <a:xfrm>
            <a:off x="2787559" y="279312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69B155C-ADE0-4D8D-BB2A-BFF09B631960}"/>
              </a:ext>
            </a:extLst>
          </p:cNvPr>
          <p:cNvSpPr txBox="1"/>
          <p:nvPr/>
        </p:nvSpPr>
        <p:spPr>
          <a:xfrm>
            <a:off x="1262381" y="36573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Maquina: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778746-0A10-4A68-835F-5F58F7948848}"/>
              </a:ext>
            </a:extLst>
          </p:cNvPr>
          <p:cNvSpPr txBox="1"/>
          <p:nvPr/>
        </p:nvSpPr>
        <p:spPr>
          <a:xfrm>
            <a:off x="2787560" y="364924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D2CE206-6DAC-44A2-8EB7-15C855CD0D65}"/>
              </a:ext>
            </a:extLst>
          </p:cNvPr>
          <p:cNvSpPr txBox="1"/>
          <p:nvPr/>
        </p:nvSpPr>
        <p:spPr>
          <a:xfrm>
            <a:off x="1262381" y="3349763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Fichas técnicas de maquina </a:t>
            </a:r>
            <a:endParaRPr lang="es-CO" sz="11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66D7208-A3E7-463C-8663-06B1E5E8F95C}"/>
              </a:ext>
            </a:extLst>
          </p:cNvPr>
          <p:cNvSpPr txBox="1"/>
          <p:nvPr/>
        </p:nvSpPr>
        <p:spPr>
          <a:xfrm>
            <a:off x="4754443" y="36573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 de equipo: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323168-E2F7-4C64-9ADE-451152B603C7}"/>
              </a:ext>
            </a:extLst>
          </p:cNvPr>
          <p:cNvSpPr txBox="1"/>
          <p:nvPr/>
        </p:nvSpPr>
        <p:spPr>
          <a:xfrm>
            <a:off x="6279622" y="364924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D26AE64-185E-4E0E-8217-5F7B18BE26A1}"/>
              </a:ext>
            </a:extLst>
          </p:cNvPr>
          <p:cNvSpPr txBox="1"/>
          <p:nvPr/>
        </p:nvSpPr>
        <p:spPr>
          <a:xfrm>
            <a:off x="8246505" y="36573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Ubicación en planta: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A15B814-3112-4ACC-9F5B-A64F3122FE02}"/>
              </a:ext>
            </a:extLst>
          </p:cNvPr>
          <p:cNvSpPr txBox="1"/>
          <p:nvPr/>
        </p:nvSpPr>
        <p:spPr>
          <a:xfrm>
            <a:off x="9771685" y="3649246"/>
            <a:ext cx="1757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0976D3E-C6ED-4EE3-8566-EA0046DC569B}"/>
              </a:ext>
            </a:extLst>
          </p:cNvPr>
          <p:cNvSpPr txBox="1"/>
          <p:nvPr/>
        </p:nvSpPr>
        <p:spPr>
          <a:xfrm>
            <a:off x="1262381" y="392054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Nombre del fabricante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80EA07A-AE42-42AD-90E0-4B8FA6C28D76}"/>
              </a:ext>
            </a:extLst>
          </p:cNvPr>
          <p:cNvSpPr txBox="1"/>
          <p:nvPr/>
        </p:nvSpPr>
        <p:spPr>
          <a:xfrm>
            <a:off x="2787560" y="391241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FAFDAEA-8D6F-428C-9932-9E975901B7FE}"/>
              </a:ext>
            </a:extLst>
          </p:cNvPr>
          <p:cNvSpPr txBox="1"/>
          <p:nvPr/>
        </p:nvSpPr>
        <p:spPr>
          <a:xfrm>
            <a:off x="4749127" y="391241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Modelo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5869A66-74AF-4599-A97B-3665CB139E2F}"/>
              </a:ext>
            </a:extLst>
          </p:cNvPr>
          <p:cNvSpPr txBox="1"/>
          <p:nvPr/>
        </p:nvSpPr>
        <p:spPr>
          <a:xfrm>
            <a:off x="6274306" y="390428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85E736-37F5-48FA-BFC9-88B76ED64D99}"/>
              </a:ext>
            </a:extLst>
          </p:cNvPr>
          <p:cNvSpPr txBox="1"/>
          <p:nvPr/>
        </p:nvSpPr>
        <p:spPr>
          <a:xfrm>
            <a:off x="8246505" y="391385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Numero de serie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78D3F4-70DD-4E2A-88FD-34C41CAB6357}"/>
              </a:ext>
            </a:extLst>
          </p:cNvPr>
          <p:cNvSpPr txBox="1"/>
          <p:nvPr/>
        </p:nvSpPr>
        <p:spPr>
          <a:xfrm>
            <a:off x="9771685" y="3905728"/>
            <a:ext cx="1757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1F91508-D53F-4083-B40C-FB4ABF6F313D}"/>
              </a:ext>
            </a:extLst>
          </p:cNvPr>
          <p:cNvSpPr txBox="1"/>
          <p:nvPr/>
        </p:nvSpPr>
        <p:spPr>
          <a:xfrm>
            <a:off x="1262381" y="421036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Capacidad: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05E4DAF-8705-4006-A5EC-8D1006BF1212}"/>
              </a:ext>
            </a:extLst>
          </p:cNvPr>
          <p:cNvSpPr txBox="1"/>
          <p:nvPr/>
        </p:nvSpPr>
        <p:spPr>
          <a:xfrm>
            <a:off x="2787560" y="4202234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8DE81E5-899F-44C2-BD9E-FEF89551F69F}"/>
              </a:ext>
            </a:extLst>
          </p:cNvPr>
          <p:cNvSpPr txBox="1"/>
          <p:nvPr/>
        </p:nvSpPr>
        <p:spPr>
          <a:xfrm>
            <a:off x="4749126" y="4197199"/>
            <a:ext cx="144845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Potencia de accionamiento 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19F5CC8-52F9-4207-B7CC-FAE8A27FF5FC}"/>
              </a:ext>
            </a:extLst>
          </p:cNvPr>
          <p:cNvSpPr txBox="1"/>
          <p:nvPr/>
        </p:nvSpPr>
        <p:spPr>
          <a:xfrm>
            <a:off x="6274306" y="418907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B51EA53-C201-4777-AE4D-1583D2E287EE}"/>
              </a:ext>
            </a:extLst>
          </p:cNvPr>
          <p:cNvSpPr txBox="1"/>
          <p:nvPr/>
        </p:nvSpPr>
        <p:spPr>
          <a:xfrm>
            <a:off x="8246504" y="4172888"/>
            <a:ext cx="13854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Tenciones del servicio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602FCEC-4B83-403B-8B24-54A7776FFA67}"/>
              </a:ext>
            </a:extLst>
          </p:cNvPr>
          <p:cNvSpPr txBox="1"/>
          <p:nvPr/>
        </p:nvSpPr>
        <p:spPr>
          <a:xfrm>
            <a:off x="9771685" y="4164761"/>
            <a:ext cx="1757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E370418-E272-462B-A847-5B5B4DCEA394}"/>
              </a:ext>
            </a:extLst>
          </p:cNvPr>
          <p:cNvSpPr txBox="1"/>
          <p:nvPr/>
        </p:nvSpPr>
        <p:spPr>
          <a:xfrm>
            <a:off x="1262380" y="4460428"/>
            <a:ext cx="187812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B0604020202020204" pitchFamily="2" charset="0"/>
              </a:rPr>
              <a:t>Fecha de incorporación al servicio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EC97955-FA1C-49BE-B58E-B6311790FDD5}"/>
              </a:ext>
            </a:extLst>
          </p:cNvPr>
          <p:cNvSpPr txBox="1"/>
          <p:nvPr/>
        </p:nvSpPr>
        <p:spPr>
          <a:xfrm>
            <a:off x="3217231" y="4452301"/>
            <a:ext cx="14658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78593C1-2C7F-41E0-B48B-F4FFBF4EA0C7}"/>
              </a:ext>
            </a:extLst>
          </p:cNvPr>
          <p:cNvSpPr txBox="1"/>
          <p:nvPr/>
        </p:nvSpPr>
        <p:spPr>
          <a:xfrm>
            <a:off x="4749127" y="4452301"/>
            <a:ext cx="190610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Costo de origen y de instalación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AED4932D-716A-47CA-AF53-4C1434B5EB36}"/>
              </a:ext>
            </a:extLst>
          </p:cNvPr>
          <p:cNvSpPr txBox="1"/>
          <p:nvPr/>
        </p:nvSpPr>
        <p:spPr>
          <a:xfrm>
            <a:off x="8137632" y="4453217"/>
            <a:ext cx="262339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Fecha en que se realizan trabajos de mantenimiento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F157DC0-58B8-47B5-92AB-95A04EBDA7EB}"/>
              </a:ext>
            </a:extLst>
          </p:cNvPr>
          <p:cNvSpPr txBox="1"/>
          <p:nvPr/>
        </p:nvSpPr>
        <p:spPr>
          <a:xfrm>
            <a:off x="10809199" y="4445616"/>
            <a:ext cx="71985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49A9D02-3AC9-4546-BE05-CEFFF248AEE5}"/>
              </a:ext>
            </a:extLst>
          </p:cNvPr>
          <p:cNvSpPr txBox="1"/>
          <p:nvPr/>
        </p:nvSpPr>
        <p:spPr>
          <a:xfrm>
            <a:off x="1262381" y="475024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Naturaleza de los fallos</a:t>
            </a:r>
            <a:r>
              <a:rPr lang="es-CO" sz="800" dirty="0"/>
              <a:t>: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84D5A63E-64BB-4041-9094-7C5E5C3C1AAA}"/>
              </a:ext>
            </a:extLst>
          </p:cNvPr>
          <p:cNvSpPr txBox="1"/>
          <p:nvPr/>
        </p:nvSpPr>
        <p:spPr>
          <a:xfrm>
            <a:off x="2787560" y="474212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F6D8BBB-C45B-455D-A72A-82F32217A9E9}"/>
              </a:ext>
            </a:extLst>
          </p:cNvPr>
          <p:cNvSpPr txBox="1"/>
          <p:nvPr/>
        </p:nvSpPr>
        <p:spPr>
          <a:xfrm>
            <a:off x="4749126" y="4737087"/>
            <a:ext cx="144845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causas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28BDC1D-5948-450F-8DF9-7EF014D041FC}"/>
              </a:ext>
            </a:extLst>
          </p:cNvPr>
          <p:cNvSpPr txBox="1"/>
          <p:nvPr/>
        </p:nvSpPr>
        <p:spPr>
          <a:xfrm>
            <a:off x="6274306" y="4728960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0ADE1B5-73E4-4B3B-A275-88B8A99A33A4}"/>
              </a:ext>
            </a:extLst>
          </p:cNvPr>
          <p:cNvSpPr txBox="1"/>
          <p:nvPr/>
        </p:nvSpPr>
        <p:spPr>
          <a:xfrm>
            <a:off x="8246504" y="4712776"/>
            <a:ext cx="138549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reparaciones realizadas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4F34D0B-E6C5-492E-A2D1-F556732CEFA0}"/>
              </a:ext>
            </a:extLst>
          </p:cNvPr>
          <p:cNvSpPr txBox="1"/>
          <p:nvPr/>
        </p:nvSpPr>
        <p:spPr>
          <a:xfrm>
            <a:off x="9771685" y="4704649"/>
            <a:ext cx="17573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28064F01-57D2-4AD0-BE44-5CBA1D39D68B}"/>
              </a:ext>
            </a:extLst>
          </p:cNvPr>
          <p:cNvSpPr txBox="1"/>
          <p:nvPr/>
        </p:nvSpPr>
        <p:spPr>
          <a:xfrm>
            <a:off x="6703971" y="4453217"/>
            <a:ext cx="138549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E9BC6C5-8483-46ED-A53F-F22A9F9174B4}"/>
              </a:ext>
            </a:extLst>
          </p:cNvPr>
          <p:cNvSpPr txBox="1"/>
          <p:nvPr/>
        </p:nvSpPr>
        <p:spPr>
          <a:xfrm>
            <a:off x="1262381" y="5013416"/>
            <a:ext cx="256970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Costo de materiales utilizados en las reparaciones</a:t>
            </a:r>
            <a:r>
              <a:rPr lang="es-CO" sz="800" dirty="0"/>
              <a:t>: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5D410E14-47BC-44A9-86A2-CC5459F495F2}"/>
              </a:ext>
            </a:extLst>
          </p:cNvPr>
          <p:cNvSpPr txBox="1"/>
          <p:nvPr/>
        </p:nvSpPr>
        <p:spPr>
          <a:xfrm>
            <a:off x="3908810" y="5005289"/>
            <a:ext cx="77422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3F450B0-B3F3-4D83-81CB-FDB312C90AEB}"/>
              </a:ext>
            </a:extLst>
          </p:cNvPr>
          <p:cNvSpPr txBox="1"/>
          <p:nvPr/>
        </p:nvSpPr>
        <p:spPr>
          <a:xfrm>
            <a:off x="4749126" y="5000254"/>
            <a:ext cx="2409484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Horas-hombre improductivas </a:t>
            </a:r>
            <a:r>
              <a:rPr lang="es-MX" sz="800" dirty="0">
                <a:solidFill>
                  <a:srgbClr val="515151"/>
                </a:solidFill>
                <a:latin typeface="Roboto" panose="02000000000000000000" pitchFamily="2" charset="0"/>
              </a:rPr>
              <a:t> 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 por las reparaciones: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7A997F29-748B-4FDD-8B46-EAE66D1747E5}"/>
              </a:ext>
            </a:extLst>
          </p:cNvPr>
          <p:cNvSpPr txBox="1"/>
          <p:nvPr/>
        </p:nvSpPr>
        <p:spPr>
          <a:xfrm>
            <a:off x="7224702" y="4992127"/>
            <a:ext cx="9450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1BD8798-F842-42B0-881E-F2EF33139296}"/>
              </a:ext>
            </a:extLst>
          </p:cNvPr>
          <p:cNvSpPr txBox="1"/>
          <p:nvPr/>
        </p:nvSpPr>
        <p:spPr>
          <a:xfrm>
            <a:off x="8246503" y="4975943"/>
            <a:ext cx="256269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Horas-máquina improductivas por mantenimiento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A2386264-1569-4476-AE56-772EA9CE405E}"/>
              </a:ext>
            </a:extLst>
          </p:cNvPr>
          <p:cNvSpPr txBox="1"/>
          <p:nvPr/>
        </p:nvSpPr>
        <p:spPr>
          <a:xfrm>
            <a:off x="10884453" y="4967816"/>
            <a:ext cx="6446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D48EF4A-B488-4B32-94FC-62636AB568A5}"/>
              </a:ext>
            </a:extLst>
          </p:cNvPr>
          <p:cNvSpPr txBox="1"/>
          <p:nvPr/>
        </p:nvSpPr>
        <p:spPr>
          <a:xfrm>
            <a:off x="3750919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C6C7C3E-3615-4382-B1EE-E9510C1DD8D2}"/>
              </a:ext>
            </a:extLst>
          </p:cNvPr>
          <p:cNvSpPr txBox="1"/>
          <p:nvPr/>
        </p:nvSpPr>
        <p:spPr>
          <a:xfrm>
            <a:off x="5737712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5DD8439-70D5-425B-AEC1-E9A159A166B8}"/>
              </a:ext>
            </a:extLst>
          </p:cNvPr>
          <p:cNvSpPr txBox="1"/>
          <p:nvPr/>
        </p:nvSpPr>
        <p:spPr>
          <a:xfrm>
            <a:off x="772450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AA8FF3B-2188-4139-A6CB-1E7D162A871B}"/>
              </a:ext>
            </a:extLst>
          </p:cNvPr>
          <p:cNvSpPr txBox="1"/>
          <p:nvPr/>
        </p:nvSpPr>
        <p:spPr>
          <a:xfrm>
            <a:off x="9778020" y="591814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BCEE3FA-6DA5-435B-A626-27DFE80D9D28}"/>
              </a:ext>
            </a:extLst>
          </p:cNvPr>
          <p:cNvSpPr txBox="1"/>
          <p:nvPr/>
        </p:nvSpPr>
        <p:spPr>
          <a:xfrm>
            <a:off x="192822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4013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62380" y="2345650"/>
            <a:ext cx="10289259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Inspección de Maquina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750919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737712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72450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778020" y="591814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FD8B33-06A6-4687-B5DC-EF87E8BFE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309082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066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66925" algn="l"/>
              </a:tabLst>
            </a:pPr>
            <a:r>
              <a:rPr kumimoji="0" lang="es-CO" altLang="es-CO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9110137-3F84-4D4A-86EF-B99394A14CFE}"/>
              </a:ext>
            </a:extLst>
          </p:cNvPr>
          <p:cNvSpPr txBox="1"/>
          <p:nvPr/>
        </p:nvSpPr>
        <p:spPr>
          <a:xfrm>
            <a:off x="1262380" y="280125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C6848A7-B9CD-4F49-9AD0-A25C95AAFF16}"/>
              </a:ext>
            </a:extLst>
          </p:cNvPr>
          <p:cNvSpPr txBox="1"/>
          <p:nvPr/>
        </p:nvSpPr>
        <p:spPr>
          <a:xfrm>
            <a:off x="2787559" y="279312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69B155C-ADE0-4D8D-BB2A-BFF09B631960}"/>
              </a:ext>
            </a:extLst>
          </p:cNvPr>
          <p:cNvSpPr txBox="1"/>
          <p:nvPr/>
        </p:nvSpPr>
        <p:spPr>
          <a:xfrm>
            <a:off x="1262381" y="36573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515151"/>
                </a:solidFill>
                <a:latin typeface="Roboto" panose="02000000000000000000" pitchFamily="2" charset="0"/>
              </a:rPr>
              <a:t>E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quipos a inspeccionar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778746-0A10-4A68-835F-5F58F7948848}"/>
              </a:ext>
            </a:extLst>
          </p:cNvPr>
          <p:cNvSpPr txBox="1"/>
          <p:nvPr/>
        </p:nvSpPr>
        <p:spPr>
          <a:xfrm>
            <a:off x="2787560" y="364924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D2CE206-6DAC-44A2-8EB7-15C855CD0D65}"/>
              </a:ext>
            </a:extLst>
          </p:cNvPr>
          <p:cNvSpPr txBox="1"/>
          <p:nvPr/>
        </p:nvSpPr>
        <p:spPr>
          <a:xfrm>
            <a:off x="1262381" y="3349763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Inspección de equipos de producción</a:t>
            </a:r>
            <a:endParaRPr lang="es-CO" sz="11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66D7208-A3E7-463C-8663-06B1E5E8F95C}"/>
              </a:ext>
            </a:extLst>
          </p:cNvPr>
          <p:cNvSpPr txBox="1"/>
          <p:nvPr/>
        </p:nvSpPr>
        <p:spPr>
          <a:xfrm>
            <a:off x="4754443" y="365737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Ubicación en planta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323168-E2F7-4C64-9ADE-451152B603C7}"/>
              </a:ext>
            </a:extLst>
          </p:cNvPr>
          <p:cNvSpPr txBox="1"/>
          <p:nvPr/>
        </p:nvSpPr>
        <p:spPr>
          <a:xfrm>
            <a:off x="6279622" y="364924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D26AE64-185E-4E0E-8217-5F7B18BE26A1}"/>
              </a:ext>
            </a:extLst>
          </p:cNvPr>
          <p:cNvSpPr txBox="1"/>
          <p:nvPr/>
        </p:nvSpPr>
        <p:spPr>
          <a:xfrm>
            <a:off x="8246504" y="3657373"/>
            <a:ext cx="163847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Frecuencia de inspección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A15B814-3112-4ACC-9F5B-A64F3122FE02}"/>
              </a:ext>
            </a:extLst>
          </p:cNvPr>
          <p:cNvSpPr txBox="1"/>
          <p:nvPr/>
        </p:nvSpPr>
        <p:spPr>
          <a:xfrm>
            <a:off x="9954321" y="3649246"/>
            <a:ext cx="157473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0976D3E-C6ED-4EE3-8566-EA0046DC569B}"/>
              </a:ext>
            </a:extLst>
          </p:cNvPr>
          <p:cNvSpPr txBox="1"/>
          <p:nvPr/>
        </p:nvSpPr>
        <p:spPr>
          <a:xfrm>
            <a:off x="1262380" y="3920540"/>
            <a:ext cx="228486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Especialidad que debe encarar la inspección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80EA07A-AE42-42AD-90E0-4B8FA6C28D76}"/>
              </a:ext>
            </a:extLst>
          </p:cNvPr>
          <p:cNvSpPr txBox="1"/>
          <p:nvPr/>
        </p:nvSpPr>
        <p:spPr>
          <a:xfrm>
            <a:off x="3623965" y="3912413"/>
            <a:ext cx="105907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FAFDAEA-8D6F-428C-9932-9E975901B7FE}"/>
              </a:ext>
            </a:extLst>
          </p:cNvPr>
          <p:cNvSpPr txBox="1"/>
          <p:nvPr/>
        </p:nvSpPr>
        <p:spPr>
          <a:xfrm>
            <a:off x="4749127" y="3912413"/>
            <a:ext cx="170770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Listado de ítems a inspeccionar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5869A66-74AF-4599-A97B-3665CB139E2F}"/>
              </a:ext>
            </a:extLst>
          </p:cNvPr>
          <p:cNvSpPr txBox="1"/>
          <p:nvPr/>
        </p:nvSpPr>
        <p:spPr>
          <a:xfrm>
            <a:off x="6596522" y="3904286"/>
            <a:ext cx="157326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85E736-37F5-48FA-BFC9-88B76ED64D99}"/>
              </a:ext>
            </a:extLst>
          </p:cNvPr>
          <p:cNvSpPr txBox="1"/>
          <p:nvPr/>
        </p:nvSpPr>
        <p:spPr>
          <a:xfrm>
            <a:off x="8246505" y="3913855"/>
            <a:ext cx="212720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Descripción de las tareas para cada ítem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78D3F4-70DD-4E2A-88FD-34C41CAB6357}"/>
              </a:ext>
            </a:extLst>
          </p:cNvPr>
          <p:cNvSpPr txBox="1"/>
          <p:nvPr/>
        </p:nvSpPr>
        <p:spPr>
          <a:xfrm>
            <a:off x="10450434" y="3905728"/>
            <a:ext cx="107862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1F91508-D53F-4083-B40C-FB4ABF6F313D}"/>
              </a:ext>
            </a:extLst>
          </p:cNvPr>
          <p:cNvSpPr txBox="1"/>
          <p:nvPr/>
        </p:nvSpPr>
        <p:spPr>
          <a:xfrm>
            <a:off x="1262381" y="421036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Observaciones </a:t>
            </a:r>
            <a:r>
              <a:rPr lang="es-CO" sz="800" dirty="0"/>
              <a:t>: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05E4DAF-8705-4006-A5EC-8D1006BF1212}"/>
              </a:ext>
            </a:extLst>
          </p:cNvPr>
          <p:cNvSpPr txBox="1"/>
          <p:nvPr/>
        </p:nvSpPr>
        <p:spPr>
          <a:xfrm>
            <a:off x="2787560" y="4202234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8DE81E5-899F-44C2-BD9E-FEF89551F69F}"/>
              </a:ext>
            </a:extLst>
          </p:cNvPr>
          <p:cNvSpPr txBox="1"/>
          <p:nvPr/>
        </p:nvSpPr>
        <p:spPr>
          <a:xfrm>
            <a:off x="4749126" y="4197199"/>
            <a:ext cx="144845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515151"/>
                </a:solidFill>
                <a:latin typeface="Roboto" panose="02000000000000000000" pitchFamily="2" charset="0"/>
              </a:rPr>
              <a:t>N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ovedades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19F5CC8-52F9-4207-B7CC-FAE8A27FF5FC}"/>
              </a:ext>
            </a:extLst>
          </p:cNvPr>
          <p:cNvSpPr txBox="1"/>
          <p:nvPr/>
        </p:nvSpPr>
        <p:spPr>
          <a:xfrm>
            <a:off x="6274306" y="4189072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B51EA53-C201-4777-AE4D-1583D2E287EE}"/>
              </a:ext>
            </a:extLst>
          </p:cNvPr>
          <p:cNvSpPr txBox="1"/>
          <p:nvPr/>
        </p:nvSpPr>
        <p:spPr>
          <a:xfrm>
            <a:off x="8246504" y="4172888"/>
            <a:ext cx="1707817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Recomendaciones de acciones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602FCEC-4B83-403B-8B24-54A7776FFA67}"/>
              </a:ext>
            </a:extLst>
          </p:cNvPr>
          <p:cNvSpPr txBox="1"/>
          <p:nvPr/>
        </p:nvSpPr>
        <p:spPr>
          <a:xfrm>
            <a:off x="10031045" y="4164761"/>
            <a:ext cx="149801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E370418-E272-462B-A847-5B5B4DCEA394}"/>
              </a:ext>
            </a:extLst>
          </p:cNvPr>
          <p:cNvSpPr txBox="1"/>
          <p:nvPr/>
        </p:nvSpPr>
        <p:spPr>
          <a:xfrm>
            <a:off x="1262380" y="4460428"/>
            <a:ext cx="187812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Carácter de las acciones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EC97955-FA1C-49BE-B58E-B6311790FDD5}"/>
              </a:ext>
            </a:extLst>
          </p:cNvPr>
          <p:cNvSpPr txBox="1"/>
          <p:nvPr/>
        </p:nvSpPr>
        <p:spPr>
          <a:xfrm>
            <a:off x="3217231" y="4452301"/>
            <a:ext cx="1465804" cy="58477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Emergencia</a:t>
            </a:r>
          </a:p>
          <a:p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Urgente</a:t>
            </a:r>
          </a:p>
          <a:p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Programado</a:t>
            </a:r>
          </a:p>
          <a:p>
            <a:r>
              <a:rPr lang="es-CO" sz="800" dirty="0">
                <a:solidFill>
                  <a:srgbClr val="515151"/>
                </a:solidFill>
                <a:latin typeface="Roboto" panose="02000000000000000000" pitchFamily="2" charset="0"/>
              </a:rPr>
              <a:t>R</a:t>
            </a:r>
            <a:r>
              <a:rPr lang="es-CO" sz="800" b="0" i="0" dirty="0">
                <a:solidFill>
                  <a:srgbClr val="515151"/>
                </a:solidFill>
                <a:effectLst/>
                <a:latin typeface="Roboto" panose="02000000000000000000" pitchFamily="2" charset="0"/>
              </a:rPr>
              <a:t>utina</a:t>
            </a:r>
            <a:endParaRPr lang="es-MX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CCBFE8A-CBE5-4A82-9731-FD3C0B141F78}"/>
              </a:ext>
            </a:extLst>
          </p:cNvPr>
          <p:cNvSpPr txBox="1"/>
          <p:nvPr/>
        </p:nvSpPr>
        <p:spPr>
          <a:xfrm>
            <a:off x="1928225" y="591814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1211258-0F14-43F8-BB71-C939D0C6E9F9}"/>
              </a:ext>
            </a:extLst>
          </p:cNvPr>
          <p:cNvSpPr txBox="1"/>
          <p:nvPr/>
        </p:nvSpPr>
        <p:spPr>
          <a:xfrm>
            <a:off x="4825850" y="278722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 de serie: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D9E8B6B-DA35-4629-9D1D-9DA76DA0581B}"/>
              </a:ext>
            </a:extLst>
          </p:cNvPr>
          <p:cNvSpPr txBox="1"/>
          <p:nvPr/>
        </p:nvSpPr>
        <p:spPr>
          <a:xfrm>
            <a:off x="6351029" y="2779100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20033056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Inspección de Maquina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84964" y="444309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95245" y="4443090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305228" y="542740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15461D5-09C1-4598-A940-5F9917A69570}"/>
              </a:ext>
            </a:extLst>
          </p:cNvPr>
          <p:cNvSpPr txBox="1"/>
          <p:nvPr/>
        </p:nvSpPr>
        <p:spPr>
          <a:xfrm>
            <a:off x="1284964" y="316721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de la maquina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0A26EAD-F835-42EA-9961-B51E23CD050F}"/>
              </a:ext>
            </a:extLst>
          </p:cNvPr>
          <p:cNvSpPr txBox="1"/>
          <p:nvPr/>
        </p:nvSpPr>
        <p:spPr>
          <a:xfrm>
            <a:off x="2810143" y="315908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DE7FCC8-136B-4103-8CDB-27C63A2CF14D}"/>
              </a:ext>
            </a:extLst>
          </p:cNvPr>
          <p:cNvSpPr txBox="1"/>
          <p:nvPr/>
        </p:nvSpPr>
        <p:spPr>
          <a:xfrm>
            <a:off x="1270066" y="3536967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Ubicación en planta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D02FCF8-F8B4-4C1A-84C6-01CBDAA114E4}"/>
              </a:ext>
            </a:extLst>
          </p:cNvPr>
          <p:cNvSpPr txBox="1"/>
          <p:nvPr/>
        </p:nvSpPr>
        <p:spPr>
          <a:xfrm>
            <a:off x="2795245" y="3528840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80E4D42-4826-4CB6-8BCD-0484801F2782}"/>
              </a:ext>
            </a:extLst>
          </p:cNvPr>
          <p:cNvSpPr txBox="1"/>
          <p:nvPr/>
        </p:nvSpPr>
        <p:spPr>
          <a:xfrm>
            <a:off x="1284964" y="396561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Numero de serie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ADDD5D0-E53E-4B95-B47F-1C89A5E9141A}"/>
              </a:ext>
            </a:extLst>
          </p:cNvPr>
          <p:cNvSpPr txBox="1"/>
          <p:nvPr/>
        </p:nvSpPr>
        <p:spPr>
          <a:xfrm>
            <a:off x="2810143" y="395748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90325297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 contratistas y subcontratistas</a:t>
            </a:r>
          </a:p>
          <a:p>
            <a:endParaRPr lang="es-MX" sz="1200" dirty="0"/>
          </a:p>
          <a:p>
            <a:r>
              <a:rPr lang="es-MX" sz="1200" dirty="0"/>
              <a:t>Plan de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9216050" y="5930850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10932079" y="556064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1033" y="51949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322850" y="5329809"/>
            <a:ext cx="92385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Entregas EPP contratistas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60630486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Entregas EPP contratistas</a:t>
            </a:r>
            <a:r>
              <a:rPr lang="es-CO" sz="1100" dirty="0"/>
              <a:t> o subcontratistas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495404" y="629822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B83DB38-46FC-4C26-B65F-2FC7D634851A}"/>
              </a:ext>
            </a:extLst>
          </p:cNvPr>
          <p:cNvSpPr txBox="1"/>
          <p:nvPr/>
        </p:nvSpPr>
        <p:spPr>
          <a:xfrm>
            <a:off x="5482197" y="629822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4AFEA77-318F-4AF9-B59E-06351957FEB2}"/>
              </a:ext>
            </a:extLst>
          </p:cNvPr>
          <p:cNvSpPr txBox="1"/>
          <p:nvPr/>
        </p:nvSpPr>
        <p:spPr>
          <a:xfrm>
            <a:off x="7468990" y="629822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2F54C6-1A9F-49CA-8872-D2775315C80F}"/>
              </a:ext>
            </a:extLst>
          </p:cNvPr>
          <p:cNvSpPr txBox="1"/>
          <p:nvPr/>
        </p:nvSpPr>
        <p:spPr>
          <a:xfrm>
            <a:off x="9522505" y="6298228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943B5A4F-3DE0-41E6-B6FA-2434A11D4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454747"/>
              </p:ext>
            </p:extLst>
          </p:nvPr>
        </p:nvGraphicFramePr>
        <p:xfrm>
          <a:off x="1508611" y="3183529"/>
          <a:ext cx="9438198" cy="2950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55" name="Worksheet" r:id="rId5" imgW="16030431" imgH="11487278" progId="Excel.Sheet.12">
                  <p:embed/>
                </p:oleObj>
              </mc:Choice>
              <mc:Fallback>
                <p:oleObj name="Worksheet" r:id="rId5" imgW="16030431" imgH="1148727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8611" y="3183529"/>
                        <a:ext cx="9438198" cy="2950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812C44D3-8E98-4C1D-B36E-7A062EAF7A12}"/>
              </a:ext>
            </a:extLst>
          </p:cNvPr>
          <p:cNvSpPr txBox="1"/>
          <p:nvPr/>
        </p:nvSpPr>
        <p:spPr>
          <a:xfrm>
            <a:off x="1508611" y="629822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16EDA19-8000-4B2C-97F7-42362928C08F}"/>
              </a:ext>
            </a:extLst>
          </p:cNvPr>
          <p:cNvSpPr txBox="1"/>
          <p:nvPr/>
        </p:nvSpPr>
        <p:spPr>
          <a:xfrm>
            <a:off x="4883772" y="275344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del contratista 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5068C78-AD6C-4734-9BD2-CAFC56FD8577}"/>
              </a:ext>
            </a:extLst>
          </p:cNvPr>
          <p:cNvSpPr txBox="1"/>
          <p:nvPr/>
        </p:nvSpPr>
        <p:spPr>
          <a:xfrm>
            <a:off x="6408951" y="274531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B7BB50A-5482-444B-90A0-C082FEDB1312}"/>
              </a:ext>
            </a:extLst>
          </p:cNvPr>
          <p:cNvSpPr txBox="1"/>
          <p:nvPr/>
        </p:nvSpPr>
        <p:spPr>
          <a:xfrm>
            <a:off x="8344181" y="274531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0782936-516D-4189-95BF-B4B8F03A9B29}"/>
              </a:ext>
            </a:extLst>
          </p:cNvPr>
          <p:cNvSpPr txBox="1"/>
          <p:nvPr/>
        </p:nvSpPr>
        <p:spPr>
          <a:xfrm>
            <a:off x="9869360" y="2737189"/>
            <a:ext cx="16822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36706712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320504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Entregas EPP contratistas</a:t>
            </a:r>
            <a:r>
              <a:rPr lang="es-CO" sz="1100" dirty="0"/>
              <a:t> o subcontratistas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99862" y="41742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810143" y="4174224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414C82-45E7-4134-BBC2-09BD0587C1B1}"/>
              </a:ext>
            </a:extLst>
          </p:cNvPr>
          <p:cNvSpPr txBox="1"/>
          <p:nvPr/>
        </p:nvSpPr>
        <p:spPr>
          <a:xfrm>
            <a:off x="3213911" y="5115971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A202A7C-A108-45F0-9A45-B4A9506C9091}"/>
              </a:ext>
            </a:extLst>
          </p:cNvPr>
          <p:cNvSpPr txBox="1"/>
          <p:nvPr/>
        </p:nvSpPr>
        <p:spPr>
          <a:xfrm>
            <a:off x="1299862" y="317806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Nombre contratista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613E9F8-755E-4406-ADBC-6B62DEE2242D}"/>
              </a:ext>
            </a:extLst>
          </p:cNvPr>
          <p:cNvSpPr txBox="1"/>
          <p:nvPr/>
        </p:nvSpPr>
        <p:spPr>
          <a:xfrm>
            <a:off x="2825041" y="3169938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751372D-0139-4188-884F-8174ED375316}"/>
              </a:ext>
            </a:extLst>
          </p:cNvPr>
          <p:cNvSpPr txBox="1"/>
          <p:nvPr/>
        </p:nvSpPr>
        <p:spPr>
          <a:xfrm>
            <a:off x="1284964" y="35971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Cedula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DB9CC52-991D-4C46-89D1-D25E47F82D4C}"/>
              </a:ext>
            </a:extLst>
          </p:cNvPr>
          <p:cNvSpPr txBox="1"/>
          <p:nvPr/>
        </p:nvSpPr>
        <p:spPr>
          <a:xfrm>
            <a:off x="2810143" y="358902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53388945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742230" y="2696359"/>
            <a:ext cx="3471204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Metodología de Identificación de peligros</a:t>
            </a:r>
          </a:p>
          <a:p>
            <a:endParaRPr lang="es-MX" sz="1200" dirty="0"/>
          </a:p>
          <a:p>
            <a:r>
              <a:rPr lang="es-MX" sz="1200" dirty="0"/>
              <a:t>Identificación de peligros </a:t>
            </a:r>
          </a:p>
          <a:p>
            <a:endParaRPr lang="es-MX" sz="1200" dirty="0"/>
          </a:p>
          <a:p>
            <a:r>
              <a:rPr lang="es-MX" sz="1200" dirty="0"/>
              <a:t>Identificación de sustancias cancerígenos o toxicas </a:t>
            </a:r>
          </a:p>
          <a:p>
            <a:endParaRPr lang="es-MX" sz="1200" dirty="0"/>
          </a:p>
          <a:p>
            <a:r>
              <a:rPr lang="es-MX" sz="1200" dirty="0"/>
              <a:t>Medición ambiental</a:t>
            </a:r>
          </a:p>
          <a:p>
            <a:endParaRPr lang="es-MX" sz="1200" dirty="0"/>
          </a:p>
          <a:p>
            <a:r>
              <a:rPr lang="es-MX" sz="1200" dirty="0"/>
              <a:t>Medidas de prevención y control frente al riesgo</a:t>
            </a:r>
          </a:p>
          <a:p>
            <a:endParaRPr lang="es-MX" sz="1200" dirty="0"/>
          </a:p>
          <a:p>
            <a:r>
              <a:rPr lang="es-MX" sz="1200" dirty="0"/>
              <a:t>Medidas de prevención y control por parte de los trabajadores</a:t>
            </a:r>
          </a:p>
          <a:p>
            <a:endParaRPr lang="es-MX" sz="1200" dirty="0"/>
          </a:p>
          <a:p>
            <a:r>
              <a:rPr lang="es-MX" sz="1200" dirty="0"/>
              <a:t>Inspecciones de maquinaria</a:t>
            </a:r>
          </a:p>
          <a:p>
            <a:endParaRPr lang="es-MX" sz="1200" dirty="0"/>
          </a:p>
          <a:p>
            <a:r>
              <a:rPr lang="es-MX" sz="1200" dirty="0"/>
              <a:t>Entrega de los EPP</a:t>
            </a:r>
          </a:p>
          <a:p>
            <a:endParaRPr lang="es-MX" sz="1200" dirty="0"/>
          </a:p>
          <a:p>
            <a:r>
              <a:rPr lang="es-MX" sz="1200" dirty="0"/>
              <a:t>Plan de Prevención y Preparación ante emergencias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9659332" y="316767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0583877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5D19DB7-955C-4F68-8BF4-E2AE0189AF3F}"/>
              </a:ext>
            </a:extLst>
          </p:cNvPr>
          <p:cNvSpPr/>
          <p:nvPr/>
        </p:nvSpPr>
        <p:spPr>
          <a:xfrm>
            <a:off x="11080572" y="591001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99E04B21-11A8-468E-A8BB-2055604E8E24}"/>
              </a:ext>
            </a:extLst>
          </p:cNvPr>
          <p:cNvSpPr/>
          <p:nvPr/>
        </p:nvSpPr>
        <p:spPr>
          <a:xfrm>
            <a:off x="9125988" y="553110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F5E37111-F1CA-4037-B26F-5196F05419EB}"/>
              </a:ext>
            </a:extLst>
          </p:cNvPr>
          <p:cNvSpPr/>
          <p:nvPr/>
        </p:nvSpPr>
        <p:spPr>
          <a:xfrm>
            <a:off x="9651033" y="51949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E50DCCCC-04CB-4ECA-89B3-3F5FCCFEC072}"/>
              </a:ext>
            </a:extLst>
          </p:cNvPr>
          <p:cNvSpPr/>
          <p:nvPr/>
        </p:nvSpPr>
        <p:spPr>
          <a:xfrm>
            <a:off x="10932080" y="46643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B02B43A-0AE4-4B37-9268-B76E45B3F325}"/>
              </a:ext>
            </a:extLst>
          </p:cNvPr>
          <p:cNvSpPr/>
          <p:nvPr/>
        </p:nvSpPr>
        <p:spPr>
          <a:xfrm>
            <a:off x="10932080" y="430318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464CB15-F61E-4CBE-9A9B-8D4904103982}"/>
              </a:ext>
            </a:extLst>
          </p:cNvPr>
          <p:cNvSpPr/>
          <p:nvPr/>
        </p:nvSpPr>
        <p:spPr>
          <a:xfrm>
            <a:off x="9216050" y="392393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7E8A9C63-09BC-49FD-81E5-CD6FA6F1C00F}"/>
              </a:ext>
            </a:extLst>
          </p:cNvPr>
          <p:cNvSpPr/>
          <p:nvPr/>
        </p:nvSpPr>
        <p:spPr>
          <a:xfrm>
            <a:off x="11025865" y="354856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C268AAB-84DC-4D62-B54A-E996EAE8D9C5}"/>
              </a:ext>
            </a:extLst>
          </p:cNvPr>
          <p:cNvSpPr txBox="1"/>
          <p:nvPr/>
        </p:nvSpPr>
        <p:spPr>
          <a:xfrm>
            <a:off x="11268141" y="5868056"/>
            <a:ext cx="92385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Plan de Emergencia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39993409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Plan de Emergencias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787785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5774578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7761371" y="62618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9814886" y="62618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8124C7-0651-4806-AA95-945E10E98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886" y="2977014"/>
            <a:ext cx="1909660" cy="2358162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E54DF6B-38FC-41B3-9831-F0EE641C6BCF}"/>
              </a:ext>
            </a:extLst>
          </p:cNvPr>
          <p:cNvSpPr txBox="1"/>
          <p:nvPr/>
        </p:nvSpPr>
        <p:spPr>
          <a:xfrm>
            <a:off x="1570108" y="626180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69396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  <a:p>
            <a:r>
              <a:rPr lang="es-MX" dirty="0"/>
              <a:t>Gestión de amenazas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589137" y="3947392"/>
            <a:ext cx="2684476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MX" sz="1200" dirty="0"/>
          </a:p>
          <a:p>
            <a:r>
              <a:rPr lang="es-MX" sz="1200" dirty="0"/>
              <a:t>Conformación de brigadas de emergencia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Capacitación  y preparación ante emergencias</a:t>
            </a:r>
          </a:p>
          <a:p>
            <a:endParaRPr lang="es-MX" sz="1200" dirty="0"/>
          </a:p>
          <a:p>
            <a:endParaRPr lang="es-MX" sz="1200" dirty="0"/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 rot="5400000"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7054249" y="39871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EFE712F0-4831-422E-8B78-5326925C75CB}"/>
              </a:ext>
            </a:extLst>
          </p:cNvPr>
          <p:cNvSpPr/>
          <p:nvPr/>
        </p:nvSpPr>
        <p:spPr>
          <a:xfrm>
            <a:off x="9683169" y="427241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2ECA7C77-36D9-4790-BD1D-27F99CAD6976}"/>
              </a:ext>
            </a:extLst>
          </p:cNvPr>
          <p:cNvSpPr/>
          <p:nvPr/>
        </p:nvSpPr>
        <p:spPr>
          <a:xfrm>
            <a:off x="9870738" y="4824555"/>
            <a:ext cx="167166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B6E3EAE-939C-41EE-87A3-4E77D29710BF}"/>
              </a:ext>
            </a:extLst>
          </p:cNvPr>
          <p:cNvSpPr txBox="1"/>
          <p:nvPr/>
        </p:nvSpPr>
        <p:spPr>
          <a:xfrm>
            <a:off x="10459630" y="4062539"/>
            <a:ext cx="117834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Brigadas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93902846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Conformación de Brigada de Emergencia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750919" y="616810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5737712" y="616810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7724505" y="616810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9778020" y="6168108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C7DFE9-F4A9-4603-8B68-38EA89F32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75" y="2939893"/>
            <a:ext cx="1980549" cy="260075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CC7B45E8-D1DD-4F66-B14B-A8BC052D790F}"/>
              </a:ext>
            </a:extLst>
          </p:cNvPr>
          <p:cNvSpPr txBox="1"/>
          <p:nvPr/>
        </p:nvSpPr>
        <p:spPr>
          <a:xfrm>
            <a:off x="1930085" y="616810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Guardar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50667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5798026" y="1793572"/>
            <a:ext cx="173562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Gestión de la salud</a:t>
            </a:r>
          </a:p>
          <a:p>
            <a:endParaRPr lang="es-MX" dirty="0"/>
          </a:p>
          <a:p>
            <a:r>
              <a:rPr lang="es-MX" dirty="0"/>
              <a:t>Gestión de peligros y riesgos</a:t>
            </a:r>
          </a:p>
          <a:p>
            <a:endParaRPr lang="es-MX" dirty="0"/>
          </a:p>
          <a:p>
            <a:r>
              <a:rPr lang="es-MX" dirty="0"/>
              <a:t>Gestión de amenazas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7685211" y="3948007"/>
            <a:ext cx="268447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MX" sz="1200" dirty="0"/>
          </a:p>
          <a:p>
            <a:r>
              <a:rPr lang="es-MX" sz="1200" dirty="0"/>
              <a:t>Brigadas de emergencia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Capacitación  y preparación ante emergencias</a:t>
            </a:r>
          </a:p>
          <a:p>
            <a:endParaRPr lang="es-MX" sz="1200" dirty="0"/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rot="5400000">
            <a:off x="7181520" y="19929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 rot="5400000">
            <a:off x="7087032" y="279517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7054249" y="398712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EFE712F0-4831-422E-8B78-5326925C75CB}"/>
              </a:ext>
            </a:extLst>
          </p:cNvPr>
          <p:cNvSpPr/>
          <p:nvPr/>
        </p:nvSpPr>
        <p:spPr>
          <a:xfrm>
            <a:off x="9512948" y="4209617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2ECA7C77-36D9-4790-BD1D-27F99CAD6976}"/>
              </a:ext>
            </a:extLst>
          </p:cNvPr>
          <p:cNvSpPr/>
          <p:nvPr/>
        </p:nvSpPr>
        <p:spPr>
          <a:xfrm>
            <a:off x="10021832" y="4805241"/>
            <a:ext cx="167166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90D126-37EE-4564-B4EC-70742EAA9612}"/>
              </a:ext>
            </a:extLst>
          </p:cNvPr>
          <p:cNvSpPr txBox="1"/>
          <p:nvPr/>
        </p:nvSpPr>
        <p:spPr>
          <a:xfrm>
            <a:off x="10521246" y="4667760"/>
            <a:ext cx="122283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Capacitaciones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12426855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 Capacitaciones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4162476" y="616696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6149269" y="616696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8136062" y="616696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10189577" y="616696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58FE74A4-864B-4B57-B764-6420DE3A5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52482"/>
              </p:ext>
            </p:extLst>
          </p:nvPr>
        </p:nvGraphicFramePr>
        <p:xfrm>
          <a:off x="1289235" y="3227607"/>
          <a:ext cx="9613530" cy="2600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76" name="Worksheet" r:id="rId5" imgW="15220918" imgH="7124515" progId="Excel.Sheet.8">
                  <p:embed/>
                </p:oleObj>
              </mc:Choice>
              <mc:Fallback>
                <p:oleObj name="Worksheet" r:id="rId5" imgW="15220918" imgH="7124515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9235" y="3227607"/>
                        <a:ext cx="9613530" cy="26001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BE2E3966-47E3-4929-B2F2-26F6A342F7E4}"/>
              </a:ext>
            </a:extLst>
          </p:cNvPr>
          <p:cNvSpPr txBox="1"/>
          <p:nvPr/>
        </p:nvSpPr>
        <p:spPr>
          <a:xfrm>
            <a:off x="481713" y="616696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BC75C98-FA1D-4F81-8386-FE68AD9E0228}"/>
              </a:ext>
            </a:extLst>
          </p:cNvPr>
          <p:cNvSpPr txBox="1"/>
          <p:nvPr/>
        </p:nvSpPr>
        <p:spPr>
          <a:xfrm>
            <a:off x="2391552" y="6166960"/>
            <a:ext cx="138549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Enviar al link de empleados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10997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Capacitación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065135" y="497036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726415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110771" y="1112798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563543" y="1112798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691065" y="1107667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7378861" y="1793573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Verificación del SG-SST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9166046" y="1794167"/>
            <a:ext cx="2152034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Indicadores, proceso y resultado</a:t>
            </a:r>
          </a:p>
          <a:p>
            <a:endParaRPr lang="es-MX" sz="1200" dirty="0"/>
          </a:p>
          <a:p>
            <a:r>
              <a:rPr lang="es-MX" sz="1200" dirty="0"/>
              <a:t>Auditorias</a:t>
            </a:r>
          </a:p>
          <a:p>
            <a:endParaRPr lang="es-MX" sz="1200" dirty="0"/>
          </a:p>
          <a:p>
            <a:r>
              <a:rPr lang="es-MX" sz="1200" dirty="0"/>
              <a:t>Revisión por la alta gerencia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Auditoria con el COPASST</a:t>
            </a:r>
          </a:p>
          <a:p>
            <a:endParaRPr lang="es-MX" sz="1200" dirty="0"/>
          </a:p>
          <a:p>
            <a:r>
              <a:rPr lang="es-MX" sz="1200" dirty="0"/>
              <a:t>Plan de mejoramiento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8714905" y="21928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1017541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1075748" y="27890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10829972" y="19066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10209401" y="24609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A3BC070D-3423-45D2-AD20-E13FFE23851A}"/>
              </a:ext>
            </a:extLst>
          </p:cNvPr>
          <p:cNvSpPr/>
          <p:nvPr/>
        </p:nvSpPr>
        <p:spPr>
          <a:xfrm>
            <a:off x="10823504" y="37401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2F04CB-6903-448B-80F0-1E557EFFE073}"/>
              </a:ext>
            </a:extLst>
          </p:cNvPr>
          <p:cNvSpPr txBox="1"/>
          <p:nvPr/>
        </p:nvSpPr>
        <p:spPr>
          <a:xfrm>
            <a:off x="11369639" y="1799357"/>
            <a:ext cx="92385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797728473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3" y="801355"/>
            <a:ext cx="11785600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9" y="1153593"/>
            <a:ext cx="1589302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292946" y="1128927"/>
            <a:ext cx="158930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437667" y="1120196"/>
            <a:ext cx="1362456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546326" y="1120196"/>
            <a:ext cx="118419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9148454" y="1903689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359070" y="1875163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03" y="908587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5006982-C7AF-4ADA-819C-4C921C8B5771}"/>
              </a:ext>
            </a:extLst>
          </p:cNvPr>
          <p:cNvSpPr txBox="1"/>
          <p:nvPr/>
        </p:nvSpPr>
        <p:spPr>
          <a:xfrm>
            <a:off x="352815" y="2162644"/>
            <a:ext cx="11698508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Indicadores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E8F615F-6429-4D6D-84AA-6E789AEF7815}"/>
              </a:ext>
            </a:extLst>
          </p:cNvPr>
          <p:cNvSpPr txBox="1"/>
          <p:nvPr/>
        </p:nvSpPr>
        <p:spPr>
          <a:xfrm>
            <a:off x="346446" y="2674968"/>
            <a:ext cx="57509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Tipo de Indicador </a:t>
            </a:r>
            <a:endParaRPr lang="es-CO" sz="6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CB3F0C-C28E-4924-ADAA-E0FA98ECD584}"/>
              </a:ext>
            </a:extLst>
          </p:cNvPr>
          <p:cNvSpPr txBox="1"/>
          <p:nvPr/>
        </p:nvSpPr>
        <p:spPr>
          <a:xfrm>
            <a:off x="1319360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E0E79D-6AD7-4A8E-9251-3FEF496D8181}"/>
              </a:ext>
            </a:extLst>
          </p:cNvPr>
          <p:cNvSpPr txBox="1"/>
          <p:nvPr/>
        </p:nvSpPr>
        <p:spPr>
          <a:xfrm>
            <a:off x="3306153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3640CEF-1B19-4676-8372-993F3F4EB6E5}"/>
              </a:ext>
            </a:extLst>
          </p:cNvPr>
          <p:cNvSpPr txBox="1"/>
          <p:nvPr/>
        </p:nvSpPr>
        <p:spPr>
          <a:xfrm>
            <a:off x="5292946" y="6258955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2343D4B-7E30-40FE-8F95-73BA9071EF0E}"/>
              </a:ext>
            </a:extLst>
          </p:cNvPr>
          <p:cNvSpPr txBox="1"/>
          <p:nvPr/>
        </p:nvSpPr>
        <p:spPr>
          <a:xfrm>
            <a:off x="7346461" y="6258955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7B79CF4-F61C-4321-B3CE-ACE5112D9C25}"/>
              </a:ext>
            </a:extLst>
          </p:cNvPr>
          <p:cNvSpPr txBox="1"/>
          <p:nvPr/>
        </p:nvSpPr>
        <p:spPr>
          <a:xfrm>
            <a:off x="961477" y="2676838"/>
            <a:ext cx="69300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Definición del indicador</a:t>
            </a:r>
            <a:endParaRPr lang="es-CO" sz="6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3F71D58-6FCE-4792-B9D5-B59E1B51938C}"/>
              </a:ext>
            </a:extLst>
          </p:cNvPr>
          <p:cNvSpPr txBox="1"/>
          <p:nvPr/>
        </p:nvSpPr>
        <p:spPr>
          <a:xfrm>
            <a:off x="1679122" y="2669576"/>
            <a:ext cx="844288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Interpretación del indicador </a:t>
            </a:r>
            <a:endParaRPr lang="es-CO" sz="6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6E4C6E2-4BD1-4F8F-A023-190724903156}"/>
              </a:ext>
            </a:extLst>
          </p:cNvPr>
          <p:cNvSpPr txBox="1"/>
          <p:nvPr/>
        </p:nvSpPr>
        <p:spPr>
          <a:xfrm>
            <a:off x="2541683" y="2731132"/>
            <a:ext cx="84428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Meta</a:t>
            </a:r>
            <a:endParaRPr lang="es-CO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BE70C8E-FA4F-429D-8692-F4398FDF54F4}"/>
              </a:ext>
            </a:extLst>
          </p:cNvPr>
          <p:cNvSpPr txBox="1"/>
          <p:nvPr/>
        </p:nvSpPr>
        <p:spPr>
          <a:xfrm>
            <a:off x="3419291" y="2723005"/>
            <a:ext cx="84428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Método</a:t>
            </a:r>
            <a:endParaRPr lang="es-CO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FEB7E59-FB43-47C0-BD36-287400CA2352}"/>
              </a:ext>
            </a:extLst>
          </p:cNvPr>
          <p:cNvSpPr txBox="1"/>
          <p:nvPr/>
        </p:nvSpPr>
        <p:spPr>
          <a:xfrm>
            <a:off x="4295571" y="2676837"/>
            <a:ext cx="84428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Fuente de información</a:t>
            </a:r>
            <a:endParaRPr lang="es-CO" sz="6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64D3CAA-B1FF-4D24-8884-30EAD057C9F2}"/>
              </a:ext>
            </a:extLst>
          </p:cNvPr>
          <p:cNvSpPr txBox="1"/>
          <p:nvPr/>
        </p:nvSpPr>
        <p:spPr>
          <a:xfrm>
            <a:off x="6021310" y="2572596"/>
            <a:ext cx="69101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Personas que deben conocer el resultado</a:t>
            </a:r>
            <a:endParaRPr lang="es-CO" sz="6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FBDB069-E0FE-4205-9DA2-375FEAEE9415}"/>
              </a:ext>
            </a:extLst>
          </p:cNvPr>
          <p:cNvSpPr txBox="1"/>
          <p:nvPr/>
        </p:nvSpPr>
        <p:spPr>
          <a:xfrm>
            <a:off x="5172421" y="2723005"/>
            <a:ext cx="8166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Periodicidad </a:t>
            </a:r>
            <a:endParaRPr lang="es-CO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755B06A-C84A-4880-B834-1D0BA5C8927B}"/>
              </a:ext>
            </a:extLst>
          </p:cNvPr>
          <p:cNvSpPr txBox="1"/>
          <p:nvPr/>
        </p:nvSpPr>
        <p:spPr>
          <a:xfrm>
            <a:off x="6744605" y="2477063"/>
            <a:ext cx="5303462" cy="230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900" dirty="0"/>
              <a:t>Cumplimiento de Indicadores </a:t>
            </a:r>
            <a:endParaRPr lang="es-CO" sz="9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B98BC14-F789-4461-8063-F7A6C5BAE4E2}"/>
              </a:ext>
            </a:extLst>
          </p:cNvPr>
          <p:cNvSpPr txBox="1"/>
          <p:nvPr/>
        </p:nvSpPr>
        <p:spPr>
          <a:xfrm>
            <a:off x="6744604" y="2731132"/>
            <a:ext cx="309984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Enero</a:t>
            </a:r>
            <a:endParaRPr lang="es-CO" sz="4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BA8F821-E519-447E-A22F-4436721D441A}"/>
              </a:ext>
            </a:extLst>
          </p:cNvPr>
          <p:cNvSpPr txBox="1"/>
          <p:nvPr/>
        </p:nvSpPr>
        <p:spPr>
          <a:xfrm>
            <a:off x="7074823" y="2731132"/>
            <a:ext cx="371746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Febrero</a:t>
            </a:r>
            <a:endParaRPr lang="es-CO" sz="4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7E89BFB-A7D5-4133-B83C-393749C71A7B}"/>
              </a:ext>
            </a:extLst>
          </p:cNvPr>
          <p:cNvSpPr txBox="1"/>
          <p:nvPr/>
        </p:nvSpPr>
        <p:spPr>
          <a:xfrm>
            <a:off x="7470239" y="2723005"/>
            <a:ext cx="317353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Marzo</a:t>
            </a:r>
            <a:endParaRPr lang="es-CO" sz="4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4CE6A89-91C8-4408-ADCB-18EAD83CA975}"/>
              </a:ext>
            </a:extLst>
          </p:cNvPr>
          <p:cNvSpPr txBox="1"/>
          <p:nvPr/>
        </p:nvSpPr>
        <p:spPr>
          <a:xfrm>
            <a:off x="7801356" y="2723005"/>
            <a:ext cx="343698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Abril</a:t>
            </a:r>
            <a:endParaRPr lang="es-CO" sz="4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596FBE3-9061-4CC3-A5B9-EB143E9E8E0F}"/>
              </a:ext>
            </a:extLst>
          </p:cNvPr>
          <p:cNvSpPr txBox="1"/>
          <p:nvPr/>
        </p:nvSpPr>
        <p:spPr>
          <a:xfrm>
            <a:off x="8177331" y="2723005"/>
            <a:ext cx="371745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Mayo</a:t>
            </a:r>
            <a:endParaRPr lang="es-CO" sz="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3605198-1A5A-47FE-A95E-0D9B539E67F0}"/>
              </a:ext>
            </a:extLst>
          </p:cNvPr>
          <p:cNvSpPr txBox="1"/>
          <p:nvPr/>
        </p:nvSpPr>
        <p:spPr>
          <a:xfrm>
            <a:off x="8581353" y="2723005"/>
            <a:ext cx="371745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Junio</a:t>
            </a:r>
            <a:endParaRPr lang="es-CO" sz="4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48B87D7-E919-442A-81E5-5BFCCBB78180}"/>
              </a:ext>
            </a:extLst>
          </p:cNvPr>
          <p:cNvSpPr txBox="1"/>
          <p:nvPr/>
        </p:nvSpPr>
        <p:spPr>
          <a:xfrm>
            <a:off x="8985375" y="2731132"/>
            <a:ext cx="309984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Julio</a:t>
            </a:r>
            <a:endParaRPr lang="es-CO" sz="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9263D36E-8245-4CA7-90C1-BC715F7FE71E}"/>
              </a:ext>
            </a:extLst>
          </p:cNvPr>
          <p:cNvSpPr txBox="1"/>
          <p:nvPr/>
        </p:nvSpPr>
        <p:spPr>
          <a:xfrm>
            <a:off x="9315594" y="2731132"/>
            <a:ext cx="371746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Agosto</a:t>
            </a:r>
            <a:endParaRPr lang="es-CO" sz="4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AC5093E-011C-4B29-94F0-8D1A1EC26BFB}"/>
              </a:ext>
            </a:extLst>
          </p:cNvPr>
          <p:cNvSpPr txBox="1"/>
          <p:nvPr/>
        </p:nvSpPr>
        <p:spPr>
          <a:xfrm>
            <a:off x="9717717" y="2723005"/>
            <a:ext cx="424670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Septiembre</a:t>
            </a:r>
            <a:endParaRPr lang="es-CO" sz="4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D67AF93-946F-4FC0-878F-D943453CA858}"/>
              </a:ext>
            </a:extLst>
          </p:cNvPr>
          <p:cNvSpPr txBox="1"/>
          <p:nvPr/>
        </p:nvSpPr>
        <p:spPr>
          <a:xfrm>
            <a:off x="10173821" y="2723005"/>
            <a:ext cx="401887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Octubre</a:t>
            </a:r>
            <a:endParaRPr lang="es-CO" sz="4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9529BC1-DB2E-4E1E-9557-08B826CBCD1C}"/>
              </a:ext>
            </a:extLst>
          </p:cNvPr>
          <p:cNvSpPr txBox="1"/>
          <p:nvPr/>
        </p:nvSpPr>
        <p:spPr>
          <a:xfrm>
            <a:off x="10605652" y="2723986"/>
            <a:ext cx="416063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Noviembre</a:t>
            </a:r>
            <a:endParaRPr lang="es-CO" sz="4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CEEC2DB-80A2-4786-A296-C096728D7854}"/>
              </a:ext>
            </a:extLst>
          </p:cNvPr>
          <p:cNvSpPr txBox="1"/>
          <p:nvPr/>
        </p:nvSpPr>
        <p:spPr>
          <a:xfrm>
            <a:off x="11058261" y="2732453"/>
            <a:ext cx="417995" cy="153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Diciembre</a:t>
            </a:r>
            <a:endParaRPr lang="es-CO" sz="4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DD125E2-AB9F-4ADB-8DEA-5B5102D44CDA}"/>
              </a:ext>
            </a:extLst>
          </p:cNvPr>
          <p:cNvSpPr txBox="1"/>
          <p:nvPr/>
        </p:nvSpPr>
        <p:spPr>
          <a:xfrm>
            <a:off x="11538302" y="2723005"/>
            <a:ext cx="509764" cy="184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Total  </a:t>
            </a:r>
            <a:endParaRPr lang="es-CO" sz="6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92E98B7E-8C5F-4E3A-A3E6-876D15EBC9DA}"/>
              </a:ext>
            </a:extLst>
          </p:cNvPr>
          <p:cNvSpPr txBox="1"/>
          <p:nvPr/>
        </p:nvSpPr>
        <p:spPr>
          <a:xfrm>
            <a:off x="376783" y="2977073"/>
            <a:ext cx="57509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 </a:t>
            </a:r>
            <a:r>
              <a:rPr lang="es-MX" sz="600" dirty="0"/>
              <a:t>Estructura</a:t>
            </a:r>
            <a:endParaRPr lang="es-CO" sz="6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6C44D826-0710-400C-81B6-EE69C52AB5F6}"/>
              </a:ext>
            </a:extLst>
          </p:cNvPr>
          <p:cNvSpPr txBox="1"/>
          <p:nvPr/>
        </p:nvSpPr>
        <p:spPr>
          <a:xfrm>
            <a:off x="975849" y="2977073"/>
            <a:ext cx="693002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Políticas </a:t>
            </a:r>
            <a:endParaRPr lang="es-CO" sz="600" dirty="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13EF2A3F-FE48-47BC-B144-35D7C701B528}"/>
              </a:ext>
            </a:extLst>
          </p:cNvPr>
          <p:cNvSpPr txBox="1"/>
          <p:nvPr/>
        </p:nvSpPr>
        <p:spPr>
          <a:xfrm>
            <a:off x="1701128" y="2977073"/>
            <a:ext cx="844288" cy="2769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# de políticas establecidas</a:t>
            </a:r>
            <a:endParaRPr lang="es-CO" sz="6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9EECDDEB-4F73-49AA-A69B-5C42D86CB986}"/>
              </a:ext>
            </a:extLst>
          </p:cNvPr>
          <p:cNvSpPr txBox="1"/>
          <p:nvPr/>
        </p:nvSpPr>
        <p:spPr>
          <a:xfrm>
            <a:off x="2565651" y="2977073"/>
            <a:ext cx="84428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100 %</a:t>
            </a:r>
            <a:endParaRPr lang="es-CO" sz="800" dirty="0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5A6D6813-FB86-40EE-A630-B6D839C1F58C}"/>
              </a:ext>
            </a:extLst>
          </p:cNvPr>
          <p:cNvSpPr txBox="1"/>
          <p:nvPr/>
        </p:nvSpPr>
        <p:spPr>
          <a:xfrm>
            <a:off x="3443259" y="2968946"/>
            <a:ext cx="844289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600" dirty="0"/>
              <a:t># de Políticas divulgadas / # de políticas creadas y / o actualizadas*100</a:t>
            </a: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29C0F875-63D8-4578-A58B-5FAEF6982577}"/>
              </a:ext>
            </a:extLst>
          </p:cNvPr>
          <p:cNvSpPr txBox="1"/>
          <p:nvPr/>
        </p:nvSpPr>
        <p:spPr>
          <a:xfrm>
            <a:off x="4319824" y="2968946"/>
            <a:ext cx="844289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MX" sz="600" dirty="0"/>
          </a:p>
          <a:p>
            <a:pPr algn="ctr"/>
            <a:r>
              <a:rPr lang="es-MX" sz="600" dirty="0"/>
              <a:t>Evidencia de las divulgaciones de las políticas</a:t>
            </a:r>
            <a:endParaRPr lang="es-CO" sz="600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510F9E5-FA97-496E-BC9E-2A12C7C68298}"/>
              </a:ext>
            </a:extLst>
          </p:cNvPr>
          <p:cNvSpPr txBox="1"/>
          <p:nvPr/>
        </p:nvSpPr>
        <p:spPr>
          <a:xfrm>
            <a:off x="6045279" y="2968946"/>
            <a:ext cx="691017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Todos los niveles de la organización</a:t>
            </a:r>
            <a:endParaRPr lang="es-CO" sz="6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0E72E0D-F836-4D9A-BDEB-641E5B600B11}"/>
              </a:ext>
            </a:extLst>
          </p:cNvPr>
          <p:cNvSpPr txBox="1"/>
          <p:nvPr/>
        </p:nvSpPr>
        <p:spPr>
          <a:xfrm>
            <a:off x="5196389" y="2968946"/>
            <a:ext cx="816614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/>
              <a:t>Anual </a:t>
            </a:r>
            <a:endParaRPr lang="es-CO" sz="800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0EF12716-9551-4E32-B65D-D772C1F99539}"/>
              </a:ext>
            </a:extLst>
          </p:cNvPr>
          <p:cNvSpPr txBox="1"/>
          <p:nvPr/>
        </p:nvSpPr>
        <p:spPr>
          <a:xfrm>
            <a:off x="6768572" y="2977073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100%</a:t>
            </a:r>
            <a:endParaRPr lang="es-CO" sz="400" dirty="0"/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7A9ACA93-9E5F-4FC2-80C6-F38B1DDD3115}"/>
              </a:ext>
            </a:extLst>
          </p:cNvPr>
          <p:cNvSpPr txBox="1"/>
          <p:nvPr/>
        </p:nvSpPr>
        <p:spPr>
          <a:xfrm>
            <a:off x="7108500" y="2977073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1F0FFD1C-8889-4173-BA8C-9D6D1D4F353F}"/>
              </a:ext>
            </a:extLst>
          </p:cNvPr>
          <p:cNvSpPr txBox="1"/>
          <p:nvPr/>
        </p:nvSpPr>
        <p:spPr>
          <a:xfrm>
            <a:off x="7493637" y="2968946"/>
            <a:ext cx="31735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77A04346-8400-4954-B7F6-B7FD6F9FB010}"/>
              </a:ext>
            </a:extLst>
          </p:cNvPr>
          <p:cNvSpPr txBox="1"/>
          <p:nvPr/>
        </p:nvSpPr>
        <p:spPr>
          <a:xfrm>
            <a:off x="7834580" y="2968946"/>
            <a:ext cx="343698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358EB3AE-1A23-4413-9C7C-4DCD45E7188C}"/>
              </a:ext>
            </a:extLst>
          </p:cNvPr>
          <p:cNvSpPr txBox="1"/>
          <p:nvPr/>
        </p:nvSpPr>
        <p:spPr>
          <a:xfrm>
            <a:off x="8201299" y="2968946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47217BC4-60E3-4C95-A590-A955536AA21E}"/>
              </a:ext>
            </a:extLst>
          </p:cNvPr>
          <p:cNvSpPr txBox="1"/>
          <p:nvPr/>
        </p:nvSpPr>
        <p:spPr>
          <a:xfrm>
            <a:off x="8605321" y="2968946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1F1CA360-96BD-43C7-B666-8D5CD535B656}"/>
              </a:ext>
            </a:extLst>
          </p:cNvPr>
          <p:cNvSpPr txBox="1"/>
          <p:nvPr/>
        </p:nvSpPr>
        <p:spPr>
          <a:xfrm>
            <a:off x="9009343" y="2977073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E6DFAF05-39D3-41B4-BF78-B31EC14A6859}"/>
              </a:ext>
            </a:extLst>
          </p:cNvPr>
          <p:cNvSpPr txBox="1"/>
          <p:nvPr/>
        </p:nvSpPr>
        <p:spPr>
          <a:xfrm>
            <a:off x="9339562" y="2977073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A0981D49-EBF8-4057-8AAE-2953310A0A1F}"/>
              </a:ext>
            </a:extLst>
          </p:cNvPr>
          <p:cNvSpPr txBox="1"/>
          <p:nvPr/>
        </p:nvSpPr>
        <p:spPr>
          <a:xfrm>
            <a:off x="9741685" y="2968946"/>
            <a:ext cx="424670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1B0E6184-3890-4D3E-AE38-D955593CD1B6}"/>
              </a:ext>
            </a:extLst>
          </p:cNvPr>
          <p:cNvSpPr txBox="1"/>
          <p:nvPr/>
        </p:nvSpPr>
        <p:spPr>
          <a:xfrm>
            <a:off x="10197789" y="2968946"/>
            <a:ext cx="401887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38CFEF07-75DB-4521-AD1A-DB6924D0CF57}"/>
              </a:ext>
            </a:extLst>
          </p:cNvPr>
          <p:cNvSpPr txBox="1"/>
          <p:nvPr/>
        </p:nvSpPr>
        <p:spPr>
          <a:xfrm>
            <a:off x="10629620" y="2969927"/>
            <a:ext cx="41606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0509AEB8-094D-4C40-AEA0-DE4C23CAD04D}"/>
              </a:ext>
            </a:extLst>
          </p:cNvPr>
          <p:cNvSpPr txBox="1"/>
          <p:nvPr/>
        </p:nvSpPr>
        <p:spPr>
          <a:xfrm>
            <a:off x="11082229" y="2978394"/>
            <a:ext cx="41799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8016E85E-BA07-42CE-A674-3A5D89837990}"/>
              </a:ext>
            </a:extLst>
          </p:cNvPr>
          <p:cNvSpPr txBox="1"/>
          <p:nvPr/>
        </p:nvSpPr>
        <p:spPr>
          <a:xfrm>
            <a:off x="11560335" y="2968946"/>
            <a:ext cx="509764" cy="1846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  100%</a:t>
            </a:r>
            <a:endParaRPr lang="es-CO" sz="600" dirty="0"/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8B4351D5-DD42-4B6F-B11E-D6EB6F99EFB9}"/>
              </a:ext>
            </a:extLst>
          </p:cNvPr>
          <p:cNvSpPr txBox="1"/>
          <p:nvPr/>
        </p:nvSpPr>
        <p:spPr>
          <a:xfrm>
            <a:off x="376783" y="3518742"/>
            <a:ext cx="57509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 Proceso</a:t>
            </a:r>
            <a:endParaRPr lang="es-CO" sz="800" dirty="0"/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6A2AA62C-1F3D-4375-98BE-3BB470849E61}"/>
              </a:ext>
            </a:extLst>
          </p:cNvPr>
          <p:cNvSpPr txBox="1"/>
          <p:nvPr/>
        </p:nvSpPr>
        <p:spPr>
          <a:xfrm>
            <a:off x="975849" y="3518742"/>
            <a:ext cx="693002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600"/>
              <a:t>Autoevaluación</a:t>
            </a:r>
            <a:endParaRPr lang="es-CO" sz="600" dirty="0"/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65D0C3EF-54A4-489A-9CE5-C173AA8D1772}"/>
              </a:ext>
            </a:extLst>
          </p:cNvPr>
          <p:cNvSpPr txBox="1"/>
          <p:nvPr/>
        </p:nvSpPr>
        <p:spPr>
          <a:xfrm>
            <a:off x="1701128" y="3518742"/>
            <a:ext cx="844288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/>
              <a:t>Porcentaje de cumplimiento del avance en el SG-SST</a:t>
            </a:r>
            <a:endParaRPr lang="es-CO" sz="600" dirty="0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017B360A-BF56-4F97-B356-7E7C190D9671}"/>
              </a:ext>
            </a:extLst>
          </p:cNvPr>
          <p:cNvSpPr txBox="1"/>
          <p:nvPr/>
        </p:nvSpPr>
        <p:spPr>
          <a:xfrm>
            <a:off x="2565651" y="3518742"/>
            <a:ext cx="84428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100%</a:t>
            </a:r>
            <a:endParaRPr lang="es-CO" sz="800" dirty="0"/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35B38E66-72E2-42FF-BC5D-D7CD60911113}"/>
              </a:ext>
            </a:extLst>
          </p:cNvPr>
          <p:cNvSpPr txBox="1"/>
          <p:nvPr/>
        </p:nvSpPr>
        <p:spPr>
          <a:xfrm>
            <a:off x="3443259" y="3510615"/>
            <a:ext cx="844289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Promedio de los </a:t>
            </a:r>
            <a:r>
              <a:rPr lang="es-MX" sz="800" dirty="0" err="1"/>
              <a:t>items</a:t>
            </a:r>
            <a:r>
              <a:rPr lang="es-MX" sz="800" dirty="0"/>
              <a:t> evaluados </a:t>
            </a:r>
            <a:endParaRPr lang="es-CO" sz="800" dirty="0"/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3779A071-D7B5-4981-BBB4-8575E8B8D8A5}"/>
              </a:ext>
            </a:extLst>
          </p:cNvPr>
          <p:cNvSpPr txBox="1"/>
          <p:nvPr/>
        </p:nvSpPr>
        <p:spPr>
          <a:xfrm>
            <a:off x="4319824" y="3510615"/>
            <a:ext cx="844289" cy="2769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600" dirty="0"/>
              <a:t>Resultados de evaluación inicial</a:t>
            </a:r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4809C06B-07DD-4457-A0E0-43E39EEA627B}"/>
              </a:ext>
            </a:extLst>
          </p:cNvPr>
          <p:cNvSpPr txBox="1"/>
          <p:nvPr/>
        </p:nvSpPr>
        <p:spPr>
          <a:xfrm>
            <a:off x="6045279" y="3510615"/>
            <a:ext cx="691017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600" dirty="0"/>
              <a:t>Copasst</a:t>
            </a:r>
          </a:p>
          <a:p>
            <a:pPr algn="ctr"/>
            <a:r>
              <a:rPr lang="es-CO" sz="600" dirty="0"/>
              <a:t>Gerente</a:t>
            </a:r>
          </a:p>
          <a:p>
            <a:pPr algn="ctr"/>
            <a:r>
              <a:rPr lang="es-CO" sz="600" dirty="0"/>
              <a:t>Responsable SST</a:t>
            </a: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FB4901DE-A2F7-4F2D-902E-894148528A06}"/>
              </a:ext>
            </a:extLst>
          </p:cNvPr>
          <p:cNvSpPr txBox="1"/>
          <p:nvPr/>
        </p:nvSpPr>
        <p:spPr>
          <a:xfrm>
            <a:off x="6768572" y="3518742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70%</a:t>
            </a:r>
            <a:endParaRPr lang="es-CO" sz="400" dirty="0"/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2F865560-BE6D-4A13-B6C8-861DC2C8D527}"/>
              </a:ext>
            </a:extLst>
          </p:cNvPr>
          <p:cNvSpPr txBox="1"/>
          <p:nvPr/>
        </p:nvSpPr>
        <p:spPr>
          <a:xfrm>
            <a:off x="7108500" y="3518742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E0B599D9-77A3-40B2-B35A-37F8EF64A96B}"/>
              </a:ext>
            </a:extLst>
          </p:cNvPr>
          <p:cNvSpPr txBox="1"/>
          <p:nvPr/>
        </p:nvSpPr>
        <p:spPr>
          <a:xfrm>
            <a:off x="7493637" y="3510615"/>
            <a:ext cx="31735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ADFD011A-CD80-43E3-98FC-9CDF1B811147}"/>
              </a:ext>
            </a:extLst>
          </p:cNvPr>
          <p:cNvSpPr txBox="1"/>
          <p:nvPr/>
        </p:nvSpPr>
        <p:spPr>
          <a:xfrm>
            <a:off x="7834580" y="3510615"/>
            <a:ext cx="343698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6DB4BE1B-D2EF-442A-8C97-177DECFF58B8}"/>
              </a:ext>
            </a:extLst>
          </p:cNvPr>
          <p:cNvSpPr txBox="1"/>
          <p:nvPr/>
        </p:nvSpPr>
        <p:spPr>
          <a:xfrm>
            <a:off x="8201299" y="3510615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DB2E78EE-2DEA-4DA7-9057-4B9B7B968BE1}"/>
              </a:ext>
            </a:extLst>
          </p:cNvPr>
          <p:cNvSpPr txBox="1"/>
          <p:nvPr/>
        </p:nvSpPr>
        <p:spPr>
          <a:xfrm>
            <a:off x="8605321" y="3510615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15D2511E-4776-48C7-B425-DACC9E3BD082}"/>
              </a:ext>
            </a:extLst>
          </p:cNvPr>
          <p:cNvSpPr txBox="1"/>
          <p:nvPr/>
        </p:nvSpPr>
        <p:spPr>
          <a:xfrm>
            <a:off x="9009343" y="3518742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78230FB2-EF96-4BA3-83D7-EC984B94FBE5}"/>
              </a:ext>
            </a:extLst>
          </p:cNvPr>
          <p:cNvSpPr txBox="1"/>
          <p:nvPr/>
        </p:nvSpPr>
        <p:spPr>
          <a:xfrm>
            <a:off x="9339562" y="3518742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A1B67B05-9368-480B-B5CA-4FAFD3F17142}"/>
              </a:ext>
            </a:extLst>
          </p:cNvPr>
          <p:cNvSpPr txBox="1"/>
          <p:nvPr/>
        </p:nvSpPr>
        <p:spPr>
          <a:xfrm>
            <a:off x="9741685" y="3510615"/>
            <a:ext cx="424670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1A7B7C2C-892D-4B02-A371-5808A2CE5D17}"/>
              </a:ext>
            </a:extLst>
          </p:cNvPr>
          <p:cNvSpPr txBox="1"/>
          <p:nvPr/>
        </p:nvSpPr>
        <p:spPr>
          <a:xfrm>
            <a:off x="10197789" y="3510615"/>
            <a:ext cx="401887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C49C965B-0165-46F1-A810-E023DEB1F2CA}"/>
              </a:ext>
            </a:extLst>
          </p:cNvPr>
          <p:cNvSpPr txBox="1"/>
          <p:nvPr/>
        </p:nvSpPr>
        <p:spPr>
          <a:xfrm>
            <a:off x="10629620" y="3511596"/>
            <a:ext cx="41606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5DD202C5-CAD1-4627-BAF5-03C8825DA05C}"/>
              </a:ext>
            </a:extLst>
          </p:cNvPr>
          <p:cNvSpPr txBox="1"/>
          <p:nvPr/>
        </p:nvSpPr>
        <p:spPr>
          <a:xfrm>
            <a:off x="11082229" y="3520063"/>
            <a:ext cx="41799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0A97A6A6-BB4A-471C-A364-6461F1661272}"/>
              </a:ext>
            </a:extLst>
          </p:cNvPr>
          <p:cNvSpPr txBox="1"/>
          <p:nvPr/>
        </p:nvSpPr>
        <p:spPr>
          <a:xfrm>
            <a:off x="11560335" y="3510615"/>
            <a:ext cx="509764" cy="184666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  70%</a:t>
            </a:r>
            <a:endParaRPr lang="es-CO" sz="600" dirty="0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D0D45861-FCEC-4A4C-98AC-BFDEA94FF446}"/>
              </a:ext>
            </a:extLst>
          </p:cNvPr>
          <p:cNvSpPr txBox="1"/>
          <p:nvPr/>
        </p:nvSpPr>
        <p:spPr>
          <a:xfrm>
            <a:off x="400751" y="4091189"/>
            <a:ext cx="575098" cy="27699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Resultado</a:t>
            </a:r>
          </a:p>
          <a:p>
            <a:pPr algn="r"/>
            <a:r>
              <a:rPr lang="es-MX" sz="600" dirty="0"/>
              <a:t> </a:t>
            </a:r>
            <a:endParaRPr lang="es-CO" sz="600" dirty="0"/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7699F1D3-86BF-4AAD-B3CD-ABC51FF3286E}"/>
              </a:ext>
            </a:extLst>
          </p:cNvPr>
          <p:cNvSpPr txBox="1"/>
          <p:nvPr/>
        </p:nvSpPr>
        <p:spPr>
          <a:xfrm>
            <a:off x="999817" y="4091189"/>
            <a:ext cx="693002" cy="3693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600"/>
              <a:t>Requisitos normativos aplicables</a:t>
            </a:r>
            <a:endParaRPr lang="es-CO" sz="600" dirty="0"/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F0327BD0-1F39-49E0-8AD0-3EC2EB24B2FF}"/>
              </a:ext>
            </a:extLst>
          </p:cNvPr>
          <p:cNvSpPr txBox="1"/>
          <p:nvPr/>
        </p:nvSpPr>
        <p:spPr>
          <a:xfrm>
            <a:off x="1725096" y="4091189"/>
            <a:ext cx="844288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/>
              <a:t>Cumplimiento de los requisitos normativos aplicables</a:t>
            </a:r>
            <a:endParaRPr lang="es-CO" sz="600" dirty="0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673839E8-9B00-46BB-ADF4-77E10FC613DE}"/>
              </a:ext>
            </a:extLst>
          </p:cNvPr>
          <p:cNvSpPr txBox="1"/>
          <p:nvPr/>
        </p:nvSpPr>
        <p:spPr>
          <a:xfrm>
            <a:off x="2589619" y="4091189"/>
            <a:ext cx="84428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sz="800"/>
              <a:t>100%</a:t>
            </a:r>
            <a:endParaRPr lang="es-CO" sz="8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BF5C06AB-282E-46D7-B97B-FEB3994990BF}"/>
              </a:ext>
            </a:extLst>
          </p:cNvPr>
          <p:cNvSpPr txBox="1"/>
          <p:nvPr/>
        </p:nvSpPr>
        <p:spPr>
          <a:xfrm>
            <a:off x="3467227" y="4083062"/>
            <a:ext cx="844289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N° de soportes creados y actualizados para evidencia del cumplimiento de requisitos aplicables / N° de requisitos exigidos en la matriz legal como soporte y evidencia *100</a:t>
            </a:r>
            <a:endParaRPr lang="es-CO" sz="400" dirty="0"/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131EB907-9495-4234-A9C3-D3BF765519E2}"/>
              </a:ext>
            </a:extLst>
          </p:cNvPr>
          <p:cNvSpPr txBox="1"/>
          <p:nvPr/>
        </p:nvSpPr>
        <p:spPr>
          <a:xfrm>
            <a:off x="4343792" y="4083062"/>
            <a:ext cx="844289" cy="46166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Normograma enfocado a Seguridad y Salud en el trabajo</a:t>
            </a:r>
            <a:endParaRPr lang="es-CO" sz="600" dirty="0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754D1006-4F44-4E91-9C0A-7375D262D868}"/>
              </a:ext>
            </a:extLst>
          </p:cNvPr>
          <p:cNvSpPr txBox="1"/>
          <p:nvPr/>
        </p:nvSpPr>
        <p:spPr>
          <a:xfrm>
            <a:off x="6069247" y="4083062"/>
            <a:ext cx="691017" cy="55399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600"/>
              <a:t>Gerente</a:t>
            </a:r>
          </a:p>
          <a:p>
            <a:pPr algn="ctr"/>
            <a:r>
              <a:rPr lang="fr-FR" sz="600"/>
              <a:t>COPASST</a:t>
            </a:r>
          </a:p>
          <a:p>
            <a:pPr algn="ctr"/>
            <a:r>
              <a:rPr lang="fr-FR" sz="600"/>
              <a:t>Responsable de SST</a:t>
            </a:r>
          </a:p>
          <a:p>
            <a:pPr algn="ctr"/>
            <a:r>
              <a:rPr lang="fr-FR" sz="600"/>
              <a:t>Area Juridica</a:t>
            </a:r>
            <a:endParaRPr lang="es-CO" sz="6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E9C86F58-1496-41D7-970D-43BD12E177D6}"/>
              </a:ext>
            </a:extLst>
          </p:cNvPr>
          <p:cNvSpPr txBox="1"/>
          <p:nvPr/>
        </p:nvSpPr>
        <p:spPr>
          <a:xfrm>
            <a:off x="6792540" y="4091189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400" dirty="0"/>
              <a:t>55%</a:t>
            </a:r>
            <a:endParaRPr lang="es-CO" sz="400" dirty="0"/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4CADA896-1497-4722-84CC-3BBC44D6109B}"/>
              </a:ext>
            </a:extLst>
          </p:cNvPr>
          <p:cNvSpPr txBox="1"/>
          <p:nvPr/>
        </p:nvSpPr>
        <p:spPr>
          <a:xfrm>
            <a:off x="7132468" y="4091189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4F4FE0E9-6763-42D1-B7C6-B2B1DF7A181E}"/>
              </a:ext>
            </a:extLst>
          </p:cNvPr>
          <p:cNvSpPr txBox="1"/>
          <p:nvPr/>
        </p:nvSpPr>
        <p:spPr>
          <a:xfrm>
            <a:off x="7517605" y="4083062"/>
            <a:ext cx="31735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4618EECC-CF9C-4DB2-A4DC-BD7BF1F8F6E5}"/>
              </a:ext>
            </a:extLst>
          </p:cNvPr>
          <p:cNvSpPr txBox="1"/>
          <p:nvPr/>
        </p:nvSpPr>
        <p:spPr>
          <a:xfrm>
            <a:off x="7858548" y="4083062"/>
            <a:ext cx="343698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C294FCFA-260B-4B16-890F-90078FEE9DAD}"/>
              </a:ext>
            </a:extLst>
          </p:cNvPr>
          <p:cNvSpPr txBox="1"/>
          <p:nvPr/>
        </p:nvSpPr>
        <p:spPr>
          <a:xfrm>
            <a:off x="8225267" y="4083062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20B7703C-CFC4-4D4A-AE9F-57AFA890FE1B}"/>
              </a:ext>
            </a:extLst>
          </p:cNvPr>
          <p:cNvSpPr txBox="1"/>
          <p:nvPr/>
        </p:nvSpPr>
        <p:spPr>
          <a:xfrm>
            <a:off x="8629289" y="4083062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BF51BA13-3F0D-4E8B-98E8-23A57232DA13}"/>
              </a:ext>
            </a:extLst>
          </p:cNvPr>
          <p:cNvSpPr txBox="1"/>
          <p:nvPr/>
        </p:nvSpPr>
        <p:spPr>
          <a:xfrm>
            <a:off x="9033311" y="4091189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731EA020-0729-42E6-A999-F55D0705BA5D}"/>
              </a:ext>
            </a:extLst>
          </p:cNvPr>
          <p:cNvSpPr txBox="1"/>
          <p:nvPr/>
        </p:nvSpPr>
        <p:spPr>
          <a:xfrm>
            <a:off x="9363530" y="4091189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51C8215D-B937-4E47-A287-97F13A488CDF}"/>
              </a:ext>
            </a:extLst>
          </p:cNvPr>
          <p:cNvSpPr txBox="1"/>
          <p:nvPr/>
        </p:nvSpPr>
        <p:spPr>
          <a:xfrm>
            <a:off x="9765653" y="4083062"/>
            <a:ext cx="424670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3E1F39C1-9A27-4C77-9127-89ABE76A378F}"/>
              </a:ext>
            </a:extLst>
          </p:cNvPr>
          <p:cNvSpPr txBox="1"/>
          <p:nvPr/>
        </p:nvSpPr>
        <p:spPr>
          <a:xfrm>
            <a:off x="10221757" y="4083062"/>
            <a:ext cx="401887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973B64D2-28EB-43F7-8AF0-E57E8C054827}"/>
              </a:ext>
            </a:extLst>
          </p:cNvPr>
          <p:cNvSpPr txBox="1"/>
          <p:nvPr/>
        </p:nvSpPr>
        <p:spPr>
          <a:xfrm>
            <a:off x="10653588" y="4084043"/>
            <a:ext cx="41606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C2EC1957-F7ED-4C2E-8593-D5E4765172FC}"/>
              </a:ext>
            </a:extLst>
          </p:cNvPr>
          <p:cNvSpPr txBox="1"/>
          <p:nvPr/>
        </p:nvSpPr>
        <p:spPr>
          <a:xfrm>
            <a:off x="11106197" y="4092510"/>
            <a:ext cx="41799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335D4457-1218-45AC-B61A-97D74935B247}"/>
              </a:ext>
            </a:extLst>
          </p:cNvPr>
          <p:cNvSpPr txBox="1"/>
          <p:nvPr/>
        </p:nvSpPr>
        <p:spPr>
          <a:xfrm>
            <a:off x="11584303" y="4083062"/>
            <a:ext cx="509764" cy="18466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  55%</a:t>
            </a:r>
            <a:endParaRPr lang="es-CO" sz="600" dirty="0"/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20406D05-B810-416B-800D-6E837FE17DB3}"/>
              </a:ext>
            </a:extLst>
          </p:cNvPr>
          <p:cNvSpPr txBox="1"/>
          <p:nvPr/>
        </p:nvSpPr>
        <p:spPr>
          <a:xfrm>
            <a:off x="424719" y="4669341"/>
            <a:ext cx="57509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 </a:t>
            </a:r>
            <a:endParaRPr lang="es-CO" sz="800" dirty="0"/>
          </a:p>
        </p:txBody>
      </p:sp>
      <p:sp>
        <p:nvSpPr>
          <p:cNvPr id="163" name="CuadroTexto 162">
            <a:extLst>
              <a:ext uri="{FF2B5EF4-FFF2-40B4-BE49-F238E27FC236}">
                <a16:creationId xmlns:a16="http://schemas.microsoft.com/office/drawing/2014/main" id="{5002D373-0D7C-4FBD-877D-FFA511DAF04C}"/>
              </a:ext>
            </a:extLst>
          </p:cNvPr>
          <p:cNvSpPr txBox="1"/>
          <p:nvPr/>
        </p:nvSpPr>
        <p:spPr>
          <a:xfrm>
            <a:off x="1023785" y="4669341"/>
            <a:ext cx="693002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8D993662-7DC4-49AF-82C5-4A040712B575}"/>
              </a:ext>
            </a:extLst>
          </p:cNvPr>
          <p:cNvSpPr txBox="1"/>
          <p:nvPr/>
        </p:nvSpPr>
        <p:spPr>
          <a:xfrm>
            <a:off x="1749064" y="4669341"/>
            <a:ext cx="844288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189A1AAA-F710-4324-AA55-AACE251ECB27}"/>
              </a:ext>
            </a:extLst>
          </p:cNvPr>
          <p:cNvSpPr txBox="1"/>
          <p:nvPr/>
        </p:nvSpPr>
        <p:spPr>
          <a:xfrm>
            <a:off x="2613587" y="4669341"/>
            <a:ext cx="84428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800" dirty="0"/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CA222744-5A96-4996-AA2F-D77D7018C82A}"/>
              </a:ext>
            </a:extLst>
          </p:cNvPr>
          <p:cNvSpPr txBox="1"/>
          <p:nvPr/>
        </p:nvSpPr>
        <p:spPr>
          <a:xfrm>
            <a:off x="3491195" y="4661214"/>
            <a:ext cx="844289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800" dirty="0"/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60A6A65B-DED4-459F-BBCD-E5B9A9E9A01C}"/>
              </a:ext>
            </a:extLst>
          </p:cNvPr>
          <p:cNvSpPr txBox="1"/>
          <p:nvPr/>
        </p:nvSpPr>
        <p:spPr>
          <a:xfrm>
            <a:off x="4367760" y="4661214"/>
            <a:ext cx="844289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76E15A78-E4E8-40D8-93DA-6D0AF2A8000B}"/>
              </a:ext>
            </a:extLst>
          </p:cNvPr>
          <p:cNvSpPr txBox="1"/>
          <p:nvPr/>
        </p:nvSpPr>
        <p:spPr>
          <a:xfrm>
            <a:off x="6093215" y="4661214"/>
            <a:ext cx="691017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B4C642FF-2E44-4598-A8BA-15E5DA0191AB}"/>
              </a:ext>
            </a:extLst>
          </p:cNvPr>
          <p:cNvSpPr txBox="1"/>
          <p:nvPr/>
        </p:nvSpPr>
        <p:spPr>
          <a:xfrm>
            <a:off x="6816508" y="4669341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87A4E4ED-9BC2-40BF-BF36-AC9084E14755}"/>
              </a:ext>
            </a:extLst>
          </p:cNvPr>
          <p:cNvSpPr txBox="1"/>
          <p:nvPr/>
        </p:nvSpPr>
        <p:spPr>
          <a:xfrm>
            <a:off x="7156436" y="4669341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E13D648E-49F5-4AFA-97F3-1BDD8CDCBD80}"/>
              </a:ext>
            </a:extLst>
          </p:cNvPr>
          <p:cNvSpPr txBox="1"/>
          <p:nvPr/>
        </p:nvSpPr>
        <p:spPr>
          <a:xfrm>
            <a:off x="7541573" y="4661214"/>
            <a:ext cx="31735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2E2D3E9-1A67-4958-8A32-E01080A74CED}"/>
              </a:ext>
            </a:extLst>
          </p:cNvPr>
          <p:cNvSpPr txBox="1"/>
          <p:nvPr/>
        </p:nvSpPr>
        <p:spPr>
          <a:xfrm>
            <a:off x="7882516" y="4661214"/>
            <a:ext cx="343698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DF2CC4AE-F51F-43C3-8D8A-9478378A323C}"/>
              </a:ext>
            </a:extLst>
          </p:cNvPr>
          <p:cNvSpPr txBox="1"/>
          <p:nvPr/>
        </p:nvSpPr>
        <p:spPr>
          <a:xfrm>
            <a:off x="8249235" y="4661214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14A65588-C26F-4991-95DA-AF08ED13F16C}"/>
              </a:ext>
            </a:extLst>
          </p:cNvPr>
          <p:cNvSpPr txBox="1"/>
          <p:nvPr/>
        </p:nvSpPr>
        <p:spPr>
          <a:xfrm>
            <a:off x="8653257" y="4661214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5" name="CuadroTexto 174">
            <a:extLst>
              <a:ext uri="{FF2B5EF4-FFF2-40B4-BE49-F238E27FC236}">
                <a16:creationId xmlns:a16="http://schemas.microsoft.com/office/drawing/2014/main" id="{6D46384A-FBC9-4EB4-87EE-5B651DC18B82}"/>
              </a:ext>
            </a:extLst>
          </p:cNvPr>
          <p:cNvSpPr txBox="1"/>
          <p:nvPr/>
        </p:nvSpPr>
        <p:spPr>
          <a:xfrm>
            <a:off x="9057279" y="4669341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6" name="CuadroTexto 175">
            <a:extLst>
              <a:ext uri="{FF2B5EF4-FFF2-40B4-BE49-F238E27FC236}">
                <a16:creationId xmlns:a16="http://schemas.microsoft.com/office/drawing/2014/main" id="{376948F8-51F6-45D0-A779-47DEC7556E5E}"/>
              </a:ext>
            </a:extLst>
          </p:cNvPr>
          <p:cNvSpPr txBox="1"/>
          <p:nvPr/>
        </p:nvSpPr>
        <p:spPr>
          <a:xfrm>
            <a:off x="9387498" y="4669341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7" name="CuadroTexto 176">
            <a:extLst>
              <a:ext uri="{FF2B5EF4-FFF2-40B4-BE49-F238E27FC236}">
                <a16:creationId xmlns:a16="http://schemas.microsoft.com/office/drawing/2014/main" id="{47C27BC1-2CF9-4809-8AF8-E12EA6A25AF7}"/>
              </a:ext>
            </a:extLst>
          </p:cNvPr>
          <p:cNvSpPr txBox="1"/>
          <p:nvPr/>
        </p:nvSpPr>
        <p:spPr>
          <a:xfrm>
            <a:off x="9789621" y="4661214"/>
            <a:ext cx="424670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5AFE0776-C491-4B2F-BE9E-1B00BE922904}"/>
              </a:ext>
            </a:extLst>
          </p:cNvPr>
          <p:cNvSpPr txBox="1"/>
          <p:nvPr/>
        </p:nvSpPr>
        <p:spPr>
          <a:xfrm>
            <a:off x="10245725" y="4661214"/>
            <a:ext cx="401887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79" name="CuadroTexto 178">
            <a:extLst>
              <a:ext uri="{FF2B5EF4-FFF2-40B4-BE49-F238E27FC236}">
                <a16:creationId xmlns:a16="http://schemas.microsoft.com/office/drawing/2014/main" id="{63924EDB-25C3-41B4-8AA2-18A5355992F3}"/>
              </a:ext>
            </a:extLst>
          </p:cNvPr>
          <p:cNvSpPr txBox="1"/>
          <p:nvPr/>
        </p:nvSpPr>
        <p:spPr>
          <a:xfrm>
            <a:off x="10677556" y="4662195"/>
            <a:ext cx="41606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80" name="CuadroTexto 179">
            <a:extLst>
              <a:ext uri="{FF2B5EF4-FFF2-40B4-BE49-F238E27FC236}">
                <a16:creationId xmlns:a16="http://schemas.microsoft.com/office/drawing/2014/main" id="{46E87476-CAF1-4143-BCA6-F408892F4F48}"/>
              </a:ext>
            </a:extLst>
          </p:cNvPr>
          <p:cNvSpPr txBox="1"/>
          <p:nvPr/>
        </p:nvSpPr>
        <p:spPr>
          <a:xfrm>
            <a:off x="11130165" y="4670662"/>
            <a:ext cx="41799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F9F6F596-6447-4789-A6D9-D1A291C567FD}"/>
              </a:ext>
            </a:extLst>
          </p:cNvPr>
          <p:cNvSpPr txBox="1"/>
          <p:nvPr/>
        </p:nvSpPr>
        <p:spPr>
          <a:xfrm>
            <a:off x="11608271" y="4661214"/>
            <a:ext cx="509764" cy="184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  </a:t>
            </a:r>
            <a:endParaRPr lang="es-CO" sz="600" dirty="0"/>
          </a:p>
        </p:txBody>
      </p:sp>
      <p:sp>
        <p:nvSpPr>
          <p:cNvPr id="182" name="CuadroTexto 181">
            <a:extLst>
              <a:ext uri="{FF2B5EF4-FFF2-40B4-BE49-F238E27FC236}">
                <a16:creationId xmlns:a16="http://schemas.microsoft.com/office/drawing/2014/main" id="{70077A22-FCAE-4872-BAB0-BF8E03560C18}"/>
              </a:ext>
            </a:extLst>
          </p:cNvPr>
          <p:cNvSpPr txBox="1"/>
          <p:nvPr/>
        </p:nvSpPr>
        <p:spPr>
          <a:xfrm>
            <a:off x="5194057" y="3487964"/>
            <a:ext cx="816614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/>
              <a:t>Anual </a:t>
            </a:r>
            <a:endParaRPr lang="es-CO" sz="800" dirty="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6FF6689C-5C13-4109-ABDD-69FD9905C803}"/>
              </a:ext>
            </a:extLst>
          </p:cNvPr>
          <p:cNvSpPr txBox="1"/>
          <p:nvPr/>
        </p:nvSpPr>
        <p:spPr>
          <a:xfrm>
            <a:off x="5211378" y="4070463"/>
            <a:ext cx="816614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/>
              <a:t>Semestral</a:t>
            </a:r>
            <a:endParaRPr lang="es-CO" sz="800" dirty="0"/>
          </a:p>
        </p:txBody>
      </p:sp>
      <p:sp>
        <p:nvSpPr>
          <p:cNvPr id="184" name="CuadroTexto 183">
            <a:extLst>
              <a:ext uri="{FF2B5EF4-FFF2-40B4-BE49-F238E27FC236}">
                <a16:creationId xmlns:a16="http://schemas.microsoft.com/office/drawing/2014/main" id="{3F0726EE-E8D0-4492-9513-A26308344A63}"/>
              </a:ext>
            </a:extLst>
          </p:cNvPr>
          <p:cNvSpPr txBox="1"/>
          <p:nvPr/>
        </p:nvSpPr>
        <p:spPr>
          <a:xfrm>
            <a:off x="5248595" y="4652962"/>
            <a:ext cx="816614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 </a:t>
            </a:r>
            <a:endParaRPr lang="es-CO" sz="800" dirty="0"/>
          </a:p>
        </p:txBody>
      </p: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104376BE-F38D-4437-9211-A80DA088644F}"/>
              </a:ext>
            </a:extLst>
          </p:cNvPr>
          <p:cNvSpPr txBox="1"/>
          <p:nvPr/>
        </p:nvSpPr>
        <p:spPr>
          <a:xfrm>
            <a:off x="448686" y="5583402"/>
            <a:ext cx="1385491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LIMITE DE INTERPRETACION </a:t>
            </a:r>
            <a:endParaRPr lang="es-CO" sz="800" dirty="0"/>
          </a:p>
        </p:txBody>
      </p:sp>
      <p:sp>
        <p:nvSpPr>
          <p:cNvPr id="186" name="CuadroTexto 185">
            <a:extLst>
              <a:ext uri="{FF2B5EF4-FFF2-40B4-BE49-F238E27FC236}">
                <a16:creationId xmlns:a16="http://schemas.microsoft.com/office/drawing/2014/main" id="{176BEB10-147B-494C-A60F-7C457AE6CF7D}"/>
              </a:ext>
            </a:extLst>
          </p:cNvPr>
          <p:cNvSpPr txBox="1"/>
          <p:nvPr/>
        </p:nvSpPr>
        <p:spPr>
          <a:xfrm>
            <a:off x="1962755" y="5581845"/>
            <a:ext cx="1343398" cy="2154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85% a 100% Satisfactorio</a:t>
            </a:r>
            <a:endParaRPr lang="es-CO" sz="800" dirty="0"/>
          </a:p>
        </p:txBody>
      </p:sp>
      <p:sp>
        <p:nvSpPr>
          <p:cNvPr id="187" name="CuadroTexto 186">
            <a:extLst>
              <a:ext uri="{FF2B5EF4-FFF2-40B4-BE49-F238E27FC236}">
                <a16:creationId xmlns:a16="http://schemas.microsoft.com/office/drawing/2014/main" id="{7255587A-8B7F-43CC-A1BF-0283DDA6D0F1}"/>
              </a:ext>
            </a:extLst>
          </p:cNvPr>
          <p:cNvSpPr txBox="1"/>
          <p:nvPr/>
        </p:nvSpPr>
        <p:spPr>
          <a:xfrm>
            <a:off x="3409939" y="5581208"/>
            <a:ext cx="1205792" cy="21544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70% a 85% Alarma</a:t>
            </a:r>
            <a:endParaRPr lang="es-CO" sz="800" dirty="0"/>
          </a:p>
        </p:txBody>
      </p:sp>
      <p:sp>
        <p:nvSpPr>
          <p:cNvPr id="188" name="CuadroTexto 187">
            <a:extLst>
              <a:ext uri="{FF2B5EF4-FFF2-40B4-BE49-F238E27FC236}">
                <a16:creationId xmlns:a16="http://schemas.microsoft.com/office/drawing/2014/main" id="{B112A1D8-C9EE-49FA-9C74-57DC6206E2D6}"/>
              </a:ext>
            </a:extLst>
          </p:cNvPr>
          <p:cNvSpPr txBox="1"/>
          <p:nvPr/>
        </p:nvSpPr>
        <p:spPr>
          <a:xfrm>
            <a:off x="4717715" y="5568734"/>
            <a:ext cx="1205792" cy="215444"/>
          </a:xfrm>
          <a:prstGeom prst="rect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800"/>
              <a:t>Inferior a 70% Crítico</a:t>
            </a:r>
            <a:endParaRPr lang="es-CO" sz="800" dirty="0"/>
          </a:p>
        </p:txBody>
      </p:sp>
      <p:sp>
        <p:nvSpPr>
          <p:cNvPr id="189" name="CuadroTexto 188">
            <a:extLst>
              <a:ext uri="{FF2B5EF4-FFF2-40B4-BE49-F238E27FC236}">
                <a16:creationId xmlns:a16="http://schemas.microsoft.com/office/drawing/2014/main" id="{BB5A3186-35E0-4D29-BBA5-3CBE233D3184}"/>
              </a:ext>
            </a:extLst>
          </p:cNvPr>
          <p:cNvSpPr txBox="1"/>
          <p:nvPr/>
        </p:nvSpPr>
        <p:spPr>
          <a:xfrm>
            <a:off x="430938" y="5072738"/>
            <a:ext cx="57509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 </a:t>
            </a:r>
            <a:endParaRPr lang="es-CO" sz="800" dirty="0"/>
          </a:p>
        </p:txBody>
      </p: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39656571-610A-429B-B250-686E506F321D}"/>
              </a:ext>
            </a:extLst>
          </p:cNvPr>
          <p:cNvSpPr txBox="1"/>
          <p:nvPr/>
        </p:nvSpPr>
        <p:spPr>
          <a:xfrm>
            <a:off x="1030004" y="5072738"/>
            <a:ext cx="693002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F53EC602-A748-4CCB-8627-6BE21B10839A}"/>
              </a:ext>
            </a:extLst>
          </p:cNvPr>
          <p:cNvSpPr txBox="1"/>
          <p:nvPr/>
        </p:nvSpPr>
        <p:spPr>
          <a:xfrm>
            <a:off x="1755283" y="5072738"/>
            <a:ext cx="844288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5CA060AC-8B37-4A39-9AF2-941BBF56236C}"/>
              </a:ext>
            </a:extLst>
          </p:cNvPr>
          <p:cNvSpPr txBox="1"/>
          <p:nvPr/>
        </p:nvSpPr>
        <p:spPr>
          <a:xfrm>
            <a:off x="2619806" y="5072738"/>
            <a:ext cx="844288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800" dirty="0"/>
          </a:p>
        </p:txBody>
      </p:sp>
      <p:sp>
        <p:nvSpPr>
          <p:cNvPr id="193" name="CuadroTexto 192">
            <a:extLst>
              <a:ext uri="{FF2B5EF4-FFF2-40B4-BE49-F238E27FC236}">
                <a16:creationId xmlns:a16="http://schemas.microsoft.com/office/drawing/2014/main" id="{AE7A4CD7-478F-49EA-B0EF-68C887A677D2}"/>
              </a:ext>
            </a:extLst>
          </p:cNvPr>
          <p:cNvSpPr txBox="1"/>
          <p:nvPr/>
        </p:nvSpPr>
        <p:spPr>
          <a:xfrm>
            <a:off x="3497414" y="5064611"/>
            <a:ext cx="844289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800" dirty="0"/>
          </a:p>
        </p:txBody>
      </p:sp>
      <p:sp>
        <p:nvSpPr>
          <p:cNvPr id="194" name="CuadroTexto 193">
            <a:extLst>
              <a:ext uri="{FF2B5EF4-FFF2-40B4-BE49-F238E27FC236}">
                <a16:creationId xmlns:a16="http://schemas.microsoft.com/office/drawing/2014/main" id="{199A3213-AADD-450B-A741-82CBB775D897}"/>
              </a:ext>
            </a:extLst>
          </p:cNvPr>
          <p:cNvSpPr txBox="1"/>
          <p:nvPr/>
        </p:nvSpPr>
        <p:spPr>
          <a:xfrm>
            <a:off x="4373979" y="5064611"/>
            <a:ext cx="844289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C9EA4086-CEED-4DEF-A22B-0386FFD009D0}"/>
              </a:ext>
            </a:extLst>
          </p:cNvPr>
          <p:cNvSpPr txBox="1"/>
          <p:nvPr/>
        </p:nvSpPr>
        <p:spPr>
          <a:xfrm>
            <a:off x="6099434" y="5064611"/>
            <a:ext cx="691017" cy="18466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600" dirty="0"/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41F4AE15-F379-45F0-B4CC-9CD4D241973D}"/>
              </a:ext>
            </a:extLst>
          </p:cNvPr>
          <p:cNvSpPr txBox="1"/>
          <p:nvPr/>
        </p:nvSpPr>
        <p:spPr>
          <a:xfrm>
            <a:off x="6822727" y="5072738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3008928F-0D5E-4D41-A905-75109D5EB13D}"/>
              </a:ext>
            </a:extLst>
          </p:cNvPr>
          <p:cNvSpPr txBox="1"/>
          <p:nvPr/>
        </p:nvSpPr>
        <p:spPr>
          <a:xfrm>
            <a:off x="7162655" y="5072738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CA51D6FA-F6AB-4F91-9306-371BA0687887}"/>
              </a:ext>
            </a:extLst>
          </p:cNvPr>
          <p:cNvSpPr txBox="1"/>
          <p:nvPr/>
        </p:nvSpPr>
        <p:spPr>
          <a:xfrm>
            <a:off x="7547792" y="5064611"/>
            <a:ext cx="31735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B83F341B-0DE8-4D0A-AC78-DA2429B1FE98}"/>
              </a:ext>
            </a:extLst>
          </p:cNvPr>
          <p:cNvSpPr txBox="1"/>
          <p:nvPr/>
        </p:nvSpPr>
        <p:spPr>
          <a:xfrm>
            <a:off x="7888735" y="5064611"/>
            <a:ext cx="343698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AEDB262C-75FD-4E3D-8CF4-8775D2022B6F}"/>
              </a:ext>
            </a:extLst>
          </p:cNvPr>
          <p:cNvSpPr txBox="1"/>
          <p:nvPr/>
        </p:nvSpPr>
        <p:spPr>
          <a:xfrm>
            <a:off x="8255454" y="5064611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FAD158A0-24CB-44DA-8ADC-55D12DF20955}"/>
              </a:ext>
            </a:extLst>
          </p:cNvPr>
          <p:cNvSpPr txBox="1"/>
          <p:nvPr/>
        </p:nvSpPr>
        <p:spPr>
          <a:xfrm>
            <a:off x="8659476" y="5064611"/>
            <a:ext cx="37174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EB996339-BE5C-4FF5-9483-79FE00EA972A}"/>
              </a:ext>
            </a:extLst>
          </p:cNvPr>
          <p:cNvSpPr txBox="1"/>
          <p:nvPr/>
        </p:nvSpPr>
        <p:spPr>
          <a:xfrm>
            <a:off x="9063498" y="5072738"/>
            <a:ext cx="309984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44B67658-A64C-48D9-B5DC-9668DD6B5E34}"/>
              </a:ext>
            </a:extLst>
          </p:cNvPr>
          <p:cNvSpPr txBox="1"/>
          <p:nvPr/>
        </p:nvSpPr>
        <p:spPr>
          <a:xfrm>
            <a:off x="9393717" y="5072738"/>
            <a:ext cx="371746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E6308667-D11F-4EC1-BB6D-5C4983510059}"/>
              </a:ext>
            </a:extLst>
          </p:cNvPr>
          <p:cNvSpPr txBox="1"/>
          <p:nvPr/>
        </p:nvSpPr>
        <p:spPr>
          <a:xfrm>
            <a:off x="9795840" y="5064611"/>
            <a:ext cx="424670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5" name="CuadroTexto 204">
            <a:extLst>
              <a:ext uri="{FF2B5EF4-FFF2-40B4-BE49-F238E27FC236}">
                <a16:creationId xmlns:a16="http://schemas.microsoft.com/office/drawing/2014/main" id="{D2469D81-EFC0-499E-ADB7-6B82B352F812}"/>
              </a:ext>
            </a:extLst>
          </p:cNvPr>
          <p:cNvSpPr txBox="1"/>
          <p:nvPr/>
        </p:nvSpPr>
        <p:spPr>
          <a:xfrm>
            <a:off x="10251944" y="5064611"/>
            <a:ext cx="401887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6D5D4889-C654-440E-A55C-13247FEE0B18}"/>
              </a:ext>
            </a:extLst>
          </p:cNvPr>
          <p:cNvSpPr txBox="1"/>
          <p:nvPr/>
        </p:nvSpPr>
        <p:spPr>
          <a:xfrm>
            <a:off x="10683775" y="5065592"/>
            <a:ext cx="416063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7" name="CuadroTexto 206">
            <a:extLst>
              <a:ext uri="{FF2B5EF4-FFF2-40B4-BE49-F238E27FC236}">
                <a16:creationId xmlns:a16="http://schemas.microsoft.com/office/drawing/2014/main" id="{E053F062-3747-4077-853D-2B2FCF621CE8}"/>
              </a:ext>
            </a:extLst>
          </p:cNvPr>
          <p:cNvSpPr txBox="1"/>
          <p:nvPr/>
        </p:nvSpPr>
        <p:spPr>
          <a:xfrm>
            <a:off x="11136384" y="5074059"/>
            <a:ext cx="417995" cy="15388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CO" sz="400" dirty="0"/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F4F34230-78AD-41F4-B2E2-6613A5C0564E}"/>
              </a:ext>
            </a:extLst>
          </p:cNvPr>
          <p:cNvSpPr txBox="1"/>
          <p:nvPr/>
        </p:nvSpPr>
        <p:spPr>
          <a:xfrm>
            <a:off x="11614490" y="5064611"/>
            <a:ext cx="509764" cy="1846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600" dirty="0"/>
              <a:t>  </a:t>
            </a:r>
            <a:endParaRPr lang="es-CO" sz="600" dirty="0"/>
          </a:p>
        </p:txBody>
      </p:sp>
      <p:sp>
        <p:nvSpPr>
          <p:cNvPr id="209" name="CuadroTexto 208">
            <a:extLst>
              <a:ext uri="{FF2B5EF4-FFF2-40B4-BE49-F238E27FC236}">
                <a16:creationId xmlns:a16="http://schemas.microsoft.com/office/drawing/2014/main" id="{9488A460-55A2-4532-942D-4790076740DC}"/>
              </a:ext>
            </a:extLst>
          </p:cNvPr>
          <p:cNvSpPr txBox="1"/>
          <p:nvPr/>
        </p:nvSpPr>
        <p:spPr>
          <a:xfrm>
            <a:off x="5254814" y="5057349"/>
            <a:ext cx="816614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s-MX" sz="800" dirty="0"/>
              <a:t> </a:t>
            </a:r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671AE2-3B9E-4495-893F-5DF20BEF5B2B}"/>
              </a:ext>
            </a:extLst>
          </p:cNvPr>
          <p:cNvSpPr txBox="1"/>
          <p:nvPr/>
        </p:nvSpPr>
        <p:spPr>
          <a:xfrm>
            <a:off x="6438723" y="5340121"/>
            <a:ext cx="5609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rgbClr val="FF0000"/>
                </a:solidFill>
              </a:rPr>
              <a:t>Andresito en la carpeta le dejo este archivo en Excel, está formulado, para que tengas una idea mas clara. Dejo tres ejemplos de los datos que se van a ingresar, la idea de esta tabla es que haga la función de la formula, al colocar en los meses un porcentaje arroje un total</a:t>
            </a:r>
            <a:r>
              <a:rPr lang="es-MX" sz="1200" b="1" dirty="0">
                <a:solidFill>
                  <a:srgbClr val="FF0000"/>
                </a:solidFill>
              </a:rPr>
              <a:t>. Posdata</a:t>
            </a:r>
            <a:r>
              <a:rPr lang="es-MX" sz="1200" dirty="0">
                <a:solidFill>
                  <a:srgbClr val="FF0000"/>
                </a:solidFill>
              </a:rPr>
              <a:t>: el archivo se llama Indicadores.</a:t>
            </a:r>
            <a:endParaRPr lang="es-CO" sz="1200" dirty="0">
              <a:solidFill>
                <a:srgbClr val="FF0000"/>
              </a:solidFill>
            </a:endParaRPr>
          </a:p>
        </p:txBody>
      </p:sp>
      <p:sp>
        <p:nvSpPr>
          <p:cNvPr id="210" name="CuadroTexto 209">
            <a:extLst>
              <a:ext uri="{FF2B5EF4-FFF2-40B4-BE49-F238E27FC236}">
                <a16:creationId xmlns:a16="http://schemas.microsoft.com/office/drawing/2014/main" id="{6E947211-1857-4F82-AF97-7258B2A02CB9}"/>
              </a:ext>
            </a:extLst>
          </p:cNvPr>
          <p:cNvSpPr txBox="1"/>
          <p:nvPr/>
        </p:nvSpPr>
        <p:spPr>
          <a:xfrm>
            <a:off x="9025002" y="6232423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B</a:t>
            </a:r>
            <a:r>
              <a:rPr lang="es-CO" sz="1200" dirty="0" err="1">
                <a:solidFill>
                  <a:srgbClr val="000000"/>
                </a:solidFill>
              </a:rPr>
              <a:t>uscar</a:t>
            </a:r>
            <a:r>
              <a:rPr lang="es-CO" sz="1200" dirty="0">
                <a:solidFill>
                  <a:srgbClr val="000000"/>
                </a:solidFill>
              </a:rPr>
              <a:t> 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27579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110771" y="1112798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563543" y="1112798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691065" y="1107667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7378861" y="1793573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Verificación del SG-SST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9166046" y="1794167"/>
            <a:ext cx="2152034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Indicadores, proceso y resultado</a:t>
            </a:r>
          </a:p>
          <a:p>
            <a:endParaRPr lang="es-MX" sz="1200" dirty="0"/>
          </a:p>
          <a:p>
            <a:r>
              <a:rPr lang="es-MX" sz="1200" dirty="0"/>
              <a:t>Auditorias</a:t>
            </a:r>
          </a:p>
          <a:p>
            <a:endParaRPr lang="es-MX" sz="1200" dirty="0"/>
          </a:p>
          <a:p>
            <a:r>
              <a:rPr lang="es-MX" sz="1200" dirty="0"/>
              <a:t>Revisión por la alta gerencia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Auditoria con el COPASST</a:t>
            </a:r>
          </a:p>
          <a:p>
            <a:endParaRPr lang="es-MX" sz="1200" dirty="0"/>
          </a:p>
          <a:p>
            <a:r>
              <a:rPr lang="es-MX" sz="1200" dirty="0"/>
              <a:t>Plan de mejoramiento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8714905" y="21928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1017541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1075748" y="27890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10829972" y="19066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10209401" y="24609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A3BC070D-3423-45D2-AD20-E13FFE23851A}"/>
              </a:ext>
            </a:extLst>
          </p:cNvPr>
          <p:cNvSpPr/>
          <p:nvPr/>
        </p:nvSpPr>
        <p:spPr>
          <a:xfrm>
            <a:off x="10823504" y="37401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2F04CB-6903-448B-80F0-1E557EFFE073}"/>
              </a:ext>
            </a:extLst>
          </p:cNvPr>
          <p:cNvSpPr txBox="1"/>
          <p:nvPr/>
        </p:nvSpPr>
        <p:spPr>
          <a:xfrm>
            <a:off x="11369639" y="2247761"/>
            <a:ext cx="92385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Auditorias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65203693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Auditorias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Subir archivo: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2295678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4282471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6269264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8322779" y="61233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792214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110771" y="1112798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563543" y="1112798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691065" y="1107667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7378861" y="1793573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Verificación del SG-SST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9166046" y="1794167"/>
            <a:ext cx="2152034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Indicadores, proceso y resultado</a:t>
            </a:r>
          </a:p>
          <a:p>
            <a:endParaRPr lang="es-MX" sz="1200" dirty="0"/>
          </a:p>
          <a:p>
            <a:r>
              <a:rPr lang="es-MX" sz="1200" dirty="0"/>
              <a:t>Auditorias</a:t>
            </a:r>
          </a:p>
          <a:p>
            <a:endParaRPr lang="es-MX" sz="1200" dirty="0"/>
          </a:p>
          <a:p>
            <a:r>
              <a:rPr lang="es-MX" sz="1200" dirty="0"/>
              <a:t>Revisión por la alta gerencia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Auditoria con el COPASST</a:t>
            </a:r>
          </a:p>
          <a:p>
            <a:endParaRPr lang="es-MX" sz="1200" dirty="0"/>
          </a:p>
          <a:p>
            <a:r>
              <a:rPr lang="es-MX" sz="1200" dirty="0"/>
              <a:t>Plan de mejoramiento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8714905" y="21928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1017541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1075748" y="27890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10829972" y="19066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10209401" y="24609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A3BC070D-3423-45D2-AD20-E13FFE23851A}"/>
              </a:ext>
            </a:extLst>
          </p:cNvPr>
          <p:cNvSpPr/>
          <p:nvPr/>
        </p:nvSpPr>
        <p:spPr>
          <a:xfrm>
            <a:off x="10823504" y="37401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2F04CB-6903-448B-80F0-1E557EFFE073}"/>
              </a:ext>
            </a:extLst>
          </p:cNvPr>
          <p:cNvSpPr txBox="1"/>
          <p:nvPr/>
        </p:nvSpPr>
        <p:spPr>
          <a:xfrm>
            <a:off x="11369639" y="2637881"/>
            <a:ext cx="92385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Revisión por Gerencia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85595289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Revisión por la gerencia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Subir Archivo: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2295678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4282471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6269264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8322779" y="61233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B996D7-FE4F-465C-A631-8381CEF7C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26" y="2977014"/>
            <a:ext cx="2013167" cy="251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7440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110771" y="1112798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563543" y="1112798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691065" y="1107667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7378861" y="1793573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Verificación del SG-SST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9166046" y="1794167"/>
            <a:ext cx="2152034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Indicadores, proceso y resultado</a:t>
            </a:r>
          </a:p>
          <a:p>
            <a:endParaRPr lang="es-MX" sz="1200" dirty="0"/>
          </a:p>
          <a:p>
            <a:r>
              <a:rPr lang="es-MX" sz="1200" dirty="0"/>
              <a:t>Auditorias</a:t>
            </a:r>
          </a:p>
          <a:p>
            <a:endParaRPr lang="es-MX" sz="1200" dirty="0"/>
          </a:p>
          <a:p>
            <a:r>
              <a:rPr lang="es-MX" sz="1200" dirty="0"/>
              <a:t>Revisión por la alta gerencia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Auditoria con el COPASST</a:t>
            </a:r>
          </a:p>
          <a:p>
            <a:endParaRPr lang="es-MX" sz="1200" dirty="0"/>
          </a:p>
          <a:p>
            <a:r>
              <a:rPr lang="es-MX" sz="1200" dirty="0"/>
              <a:t>Plan de mejoramiento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8714905" y="21928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1017541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1075748" y="27890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10829972" y="19066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10209401" y="24609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A3BC070D-3423-45D2-AD20-E13FFE23851A}"/>
              </a:ext>
            </a:extLst>
          </p:cNvPr>
          <p:cNvSpPr/>
          <p:nvPr/>
        </p:nvSpPr>
        <p:spPr>
          <a:xfrm>
            <a:off x="10823504" y="37401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2F04CB-6903-448B-80F0-1E557EFFE073}"/>
              </a:ext>
            </a:extLst>
          </p:cNvPr>
          <p:cNvSpPr txBox="1"/>
          <p:nvPr/>
        </p:nvSpPr>
        <p:spPr>
          <a:xfrm>
            <a:off x="11369639" y="3214794"/>
            <a:ext cx="92385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Auditorias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95911256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Auditorias con el COPASST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Subir Archivo: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2295678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4282471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6269264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8322779" y="61233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29774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110771" y="1112798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563543" y="1112798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691065" y="1107667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7378861" y="1793573"/>
            <a:ext cx="173562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Verificación del SG-SST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9166046" y="1794167"/>
            <a:ext cx="2152034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Indicadores, proceso y resultado</a:t>
            </a:r>
          </a:p>
          <a:p>
            <a:endParaRPr lang="es-MX" sz="1200" dirty="0"/>
          </a:p>
          <a:p>
            <a:r>
              <a:rPr lang="es-MX" sz="1200" dirty="0"/>
              <a:t>Auditorias</a:t>
            </a:r>
          </a:p>
          <a:p>
            <a:endParaRPr lang="es-MX" sz="1200" dirty="0"/>
          </a:p>
          <a:p>
            <a:r>
              <a:rPr lang="es-MX" sz="1200" dirty="0"/>
              <a:t>Revisión por la alta gerencia </a:t>
            </a:r>
          </a:p>
          <a:p>
            <a:endParaRPr lang="es-MX" sz="1200" dirty="0"/>
          </a:p>
          <a:p>
            <a:endParaRPr lang="es-MX" sz="1200" dirty="0"/>
          </a:p>
          <a:p>
            <a:r>
              <a:rPr lang="es-MX" sz="1200" dirty="0"/>
              <a:t>Auditoria con el COPASST</a:t>
            </a:r>
          </a:p>
          <a:p>
            <a:endParaRPr lang="es-MX" sz="1200" dirty="0"/>
          </a:p>
          <a:p>
            <a:r>
              <a:rPr lang="es-MX" sz="1200" dirty="0"/>
              <a:t>Plan de mejoramiento</a:t>
            </a: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8714905" y="219280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F429FF83-488E-4D2D-8DE6-6574DD690981}"/>
              </a:ext>
            </a:extLst>
          </p:cNvPr>
          <p:cNvSpPr/>
          <p:nvPr/>
        </p:nvSpPr>
        <p:spPr>
          <a:xfrm>
            <a:off x="11017541" y="3353294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6660E89-02C0-4B7E-BC05-C95AE23F1A48}"/>
              </a:ext>
            </a:extLst>
          </p:cNvPr>
          <p:cNvSpPr/>
          <p:nvPr/>
        </p:nvSpPr>
        <p:spPr>
          <a:xfrm>
            <a:off x="11075748" y="27890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27794C34-8294-4251-BA8F-347D2DC5D4CD}"/>
              </a:ext>
            </a:extLst>
          </p:cNvPr>
          <p:cNvSpPr/>
          <p:nvPr/>
        </p:nvSpPr>
        <p:spPr>
          <a:xfrm>
            <a:off x="10829972" y="1906663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209D238-A3B5-4FDF-B647-1549780B38E9}"/>
              </a:ext>
            </a:extLst>
          </p:cNvPr>
          <p:cNvSpPr/>
          <p:nvPr/>
        </p:nvSpPr>
        <p:spPr>
          <a:xfrm>
            <a:off x="10209401" y="24609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A3BC070D-3423-45D2-AD20-E13FFE23851A}"/>
              </a:ext>
            </a:extLst>
          </p:cNvPr>
          <p:cNvSpPr/>
          <p:nvPr/>
        </p:nvSpPr>
        <p:spPr>
          <a:xfrm>
            <a:off x="10823504" y="3740156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E2F04CB-6903-448B-80F0-1E557EFFE073}"/>
              </a:ext>
            </a:extLst>
          </p:cNvPr>
          <p:cNvSpPr txBox="1"/>
          <p:nvPr/>
        </p:nvSpPr>
        <p:spPr>
          <a:xfrm>
            <a:off x="11369639" y="3601656"/>
            <a:ext cx="1127161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Mejoramiento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846418396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Plan de Mejoramiento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750919" y="629710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5737712" y="629710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7724505" y="629710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9778020" y="6297109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3BD95792-378E-4EA8-BD5E-BF2EE55A8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54926"/>
              </p:ext>
            </p:extLst>
          </p:nvPr>
        </p:nvGraphicFramePr>
        <p:xfrm>
          <a:off x="2032000" y="2860757"/>
          <a:ext cx="8286531" cy="3182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14" name="Worksheet" r:id="rId5" imgW="17592595" imgH="11325296" progId="Excel.Sheet.12">
                  <p:embed/>
                </p:oleObj>
              </mc:Choice>
              <mc:Fallback>
                <p:oleObj name="Worksheet" r:id="rId5" imgW="17592595" imgH="1132529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32000" y="2860757"/>
                        <a:ext cx="8286531" cy="3182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uadroTexto 18">
            <a:extLst>
              <a:ext uri="{FF2B5EF4-FFF2-40B4-BE49-F238E27FC236}">
                <a16:creationId xmlns:a16="http://schemas.microsoft.com/office/drawing/2014/main" id="{BCB9CAAB-CC10-4D37-A58B-8594E95A50C5}"/>
              </a:ext>
            </a:extLst>
          </p:cNvPr>
          <p:cNvSpPr txBox="1"/>
          <p:nvPr/>
        </p:nvSpPr>
        <p:spPr>
          <a:xfrm>
            <a:off x="1697404" y="6297108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325041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Plan de Mejoramiento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2295678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4282471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6269264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8322779" y="61233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70672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4923202" y="110766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269339" y="1110462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280478" y="114172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8912316" y="1642769"/>
            <a:ext cx="189519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Mejoramiento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10902385" y="1659762"/>
            <a:ext cx="116959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Acciones de prevención </a:t>
            </a:r>
          </a:p>
          <a:p>
            <a:endParaRPr lang="es-MX" sz="1200" dirty="0"/>
          </a:p>
          <a:p>
            <a:r>
              <a:rPr lang="es-MX" sz="1200" dirty="0"/>
              <a:t>Medidas correctivas 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flipV="1">
            <a:off x="10482825" y="1743358"/>
            <a:ext cx="208514" cy="1650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F9BAD64A-B196-4C51-93D4-9D09A0105240}"/>
              </a:ext>
            </a:extLst>
          </p:cNvPr>
          <p:cNvSpPr/>
          <p:nvPr/>
        </p:nvSpPr>
        <p:spPr>
          <a:xfrm>
            <a:off x="11789536" y="1750199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C595541-438A-4AC4-B12A-61BF4C8686FD}"/>
              </a:ext>
            </a:extLst>
          </p:cNvPr>
          <p:cNvSpPr/>
          <p:nvPr/>
        </p:nvSpPr>
        <p:spPr>
          <a:xfrm>
            <a:off x="11709512" y="2510362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8EECBB9-94B6-4F66-9456-BD1479E7B189}"/>
              </a:ext>
            </a:extLst>
          </p:cNvPr>
          <p:cNvSpPr txBox="1"/>
          <p:nvPr/>
        </p:nvSpPr>
        <p:spPr>
          <a:xfrm>
            <a:off x="12312153" y="1659762"/>
            <a:ext cx="94495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Prevención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143998218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6028" y="2345650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6028" y="268296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3073" y="268296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4625" y="2959954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O" sz="1100" dirty="0"/>
              <a:t>Cuestionario de evaluación</a:t>
            </a:r>
            <a:r>
              <a:rPr lang="es-MX" sz="1100" dirty="0"/>
              <a:t>en el origen. Protección colectiva. Protección </a:t>
            </a:r>
            <a:r>
              <a:rPr lang="es-MX" sz="1100" dirty="0" err="1"/>
              <a:t>individu</a:t>
            </a:r>
            <a:r>
              <a:rPr lang="es-CO" sz="1100" dirty="0"/>
              <a:t>: </a:t>
            </a:r>
            <a:r>
              <a:rPr lang="es-MX" sz="1100" dirty="0"/>
              <a:t>Prevención al</a:t>
            </a:r>
            <a:r>
              <a:rPr lang="es-CO" sz="1100" dirty="0"/>
              <a:t>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4E08FA2-7A38-450B-B1AC-C8413584AD2B}"/>
              </a:ext>
            </a:extLst>
          </p:cNvPr>
          <p:cNvSpPr txBox="1"/>
          <p:nvPr/>
        </p:nvSpPr>
        <p:spPr>
          <a:xfrm>
            <a:off x="534625" y="3552887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AD7F8C0-F51C-4FCA-AFA0-18802FC81D85}"/>
              </a:ext>
            </a:extLst>
          </p:cNvPr>
          <p:cNvSpPr txBox="1"/>
          <p:nvPr/>
        </p:nvSpPr>
        <p:spPr>
          <a:xfrm>
            <a:off x="5367260" y="3552887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109F9F-8734-402B-BAF7-55887CFBD8FA}"/>
              </a:ext>
            </a:extLst>
          </p:cNvPr>
          <p:cNvSpPr txBox="1"/>
          <p:nvPr/>
        </p:nvSpPr>
        <p:spPr>
          <a:xfrm>
            <a:off x="5686449" y="355288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6755524" y="3554753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1D2EF4B-D328-4761-8EC5-2D12CFD83A3D}"/>
              </a:ext>
            </a:extLst>
          </p:cNvPr>
          <p:cNvSpPr txBox="1"/>
          <p:nvPr/>
        </p:nvSpPr>
        <p:spPr>
          <a:xfrm>
            <a:off x="6005639" y="3554878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39138A-7AB2-4D76-80E7-AD8A374761C0}"/>
              </a:ext>
            </a:extLst>
          </p:cNvPr>
          <p:cNvSpPr txBox="1"/>
          <p:nvPr/>
        </p:nvSpPr>
        <p:spPr>
          <a:xfrm>
            <a:off x="6436334" y="355288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534625" y="3819857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6E20519-2E6A-4E8E-B488-ADF2D3132599}"/>
              </a:ext>
            </a:extLst>
          </p:cNvPr>
          <p:cNvSpPr txBox="1"/>
          <p:nvPr/>
        </p:nvSpPr>
        <p:spPr>
          <a:xfrm>
            <a:off x="5367260" y="3819857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747993C-3CCC-43E5-88F6-2EB07D4DD443}"/>
              </a:ext>
            </a:extLst>
          </p:cNvPr>
          <p:cNvSpPr txBox="1"/>
          <p:nvPr/>
        </p:nvSpPr>
        <p:spPr>
          <a:xfrm>
            <a:off x="5686449" y="381985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C04D571-D863-45C7-859F-73B9EA56A5C1}"/>
              </a:ext>
            </a:extLst>
          </p:cNvPr>
          <p:cNvSpPr txBox="1"/>
          <p:nvPr/>
        </p:nvSpPr>
        <p:spPr>
          <a:xfrm>
            <a:off x="6755524" y="3821723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B29A5DA-2757-4E57-9BB1-ABD8DC72F359}"/>
              </a:ext>
            </a:extLst>
          </p:cNvPr>
          <p:cNvSpPr txBox="1"/>
          <p:nvPr/>
        </p:nvSpPr>
        <p:spPr>
          <a:xfrm>
            <a:off x="6005639" y="3821848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1E58040-1012-4709-B262-426287304A51}"/>
              </a:ext>
            </a:extLst>
          </p:cNvPr>
          <p:cNvSpPr txBox="1"/>
          <p:nvPr/>
        </p:nvSpPr>
        <p:spPr>
          <a:xfrm>
            <a:off x="6436334" y="381985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99FDBB2-2ECF-43FD-910D-9DB6C652F996}"/>
              </a:ext>
            </a:extLst>
          </p:cNvPr>
          <p:cNvSpPr txBox="1"/>
          <p:nvPr/>
        </p:nvSpPr>
        <p:spPr>
          <a:xfrm>
            <a:off x="534625" y="4115830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07DFF5B-08D6-4076-8C41-5982DC31131F}"/>
              </a:ext>
            </a:extLst>
          </p:cNvPr>
          <p:cNvSpPr txBox="1"/>
          <p:nvPr/>
        </p:nvSpPr>
        <p:spPr>
          <a:xfrm>
            <a:off x="5367260" y="4115830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9295AB0-B258-4948-9936-0FDB77E96FF1}"/>
              </a:ext>
            </a:extLst>
          </p:cNvPr>
          <p:cNvSpPr txBox="1"/>
          <p:nvPr/>
        </p:nvSpPr>
        <p:spPr>
          <a:xfrm>
            <a:off x="5686449" y="4115830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0B86162-A741-48F6-9801-94E44101DE53}"/>
              </a:ext>
            </a:extLst>
          </p:cNvPr>
          <p:cNvSpPr txBox="1"/>
          <p:nvPr/>
        </p:nvSpPr>
        <p:spPr>
          <a:xfrm>
            <a:off x="6755524" y="4117696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CE01FD5-EEDA-48F5-BBAF-38FD5FFD78F9}"/>
              </a:ext>
            </a:extLst>
          </p:cNvPr>
          <p:cNvSpPr txBox="1"/>
          <p:nvPr/>
        </p:nvSpPr>
        <p:spPr>
          <a:xfrm>
            <a:off x="6005639" y="4117821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653D627-C55F-4A12-9D56-67292B30DBF2}"/>
              </a:ext>
            </a:extLst>
          </p:cNvPr>
          <p:cNvSpPr txBox="1"/>
          <p:nvPr/>
        </p:nvSpPr>
        <p:spPr>
          <a:xfrm>
            <a:off x="6436334" y="4115830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6559561-7683-45EA-94D9-FE0861F0C41B}"/>
              </a:ext>
            </a:extLst>
          </p:cNvPr>
          <p:cNvSpPr txBox="1"/>
          <p:nvPr/>
        </p:nvSpPr>
        <p:spPr>
          <a:xfrm>
            <a:off x="534625" y="3262330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Requisitos </a:t>
            </a:r>
            <a:endParaRPr lang="es-CO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4D9C78B-F14F-4C75-9156-6B31215FB263}"/>
              </a:ext>
            </a:extLst>
          </p:cNvPr>
          <p:cNvSpPr txBox="1"/>
          <p:nvPr/>
        </p:nvSpPr>
        <p:spPr>
          <a:xfrm>
            <a:off x="6772782" y="3247246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Justificación </a:t>
            </a:r>
            <a:endParaRPr lang="es-CO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6FEDB70-53D3-4AFF-9B7A-E1D053139F41}"/>
              </a:ext>
            </a:extLst>
          </p:cNvPr>
          <p:cNvSpPr txBox="1"/>
          <p:nvPr/>
        </p:nvSpPr>
        <p:spPr>
          <a:xfrm>
            <a:off x="534625" y="4348392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A236367-3E24-41DC-BF6F-667F18D8BA2D}"/>
              </a:ext>
            </a:extLst>
          </p:cNvPr>
          <p:cNvSpPr txBox="1"/>
          <p:nvPr/>
        </p:nvSpPr>
        <p:spPr>
          <a:xfrm>
            <a:off x="5367260" y="4348392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74D38C8-8438-4B18-8ED3-CE9D50E1120C}"/>
              </a:ext>
            </a:extLst>
          </p:cNvPr>
          <p:cNvSpPr txBox="1"/>
          <p:nvPr/>
        </p:nvSpPr>
        <p:spPr>
          <a:xfrm>
            <a:off x="5686449" y="434839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D33FE98-0794-47D8-B312-9ED8B4BA0BBA}"/>
              </a:ext>
            </a:extLst>
          </p:cNvPr>
          <p:cNvSpPr txBox="1"/>
          <p:nvPr/>
        </p:nvSpPr>
        <p:spPr>
          <a:xfrm>
            <a:off x="6755524" y="4350258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117E071-15BB-41AA-BB80-2628E506B88D}"/>
              </a:ext>
            </a:extLst>
          </p:cNvPr>
          <p:cNvSpPr txBox="1"/>
          <p:nvPr/>
        </p:nvSpPr>
        <p:spPr>
          <a:xfrm>
            <a:off x="6005639" y="4350383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CB0432B-06CE-4B96-A5E3-18D2F74B71DD}"/>
              </a:ext>
            </a:extLst>
          </p:cNvPr>
          <p:cNvSpPr txBox="1"/>
          <p:nvPr/>
        </p:nvSpPr>
        <p:spPr>
          <a:xfrm>
            <a:off x="6436334" y="434839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CD04512-AB1C-47D0-97D1-919F526B3BBD}"/>
              </a:ext>
            </a:extLst>
          </p:cNvPr>
          <p:cNvSpPr txBox="1"/>
          <p:nvPr/>
        </p:nvSpPr>
        <p:spPr>
          <a:xfrm>
            <a:off x="534625" y="4615362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432C90D-641B-49AC-B17D-11EC5092E040}"/>
              </a:ext>
            </a:extLst>
          </p:cNvPr>
          <p:cNvSpPr txBox="1"/>
          <p:nvPr/>
        </p:nvSpPr>
        <p:spPr>
          <a:xfrm>
            <a:off x="5367260" y="4615362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B4FA848-A464-4083-A32F-07369FDD098E}"/>
              </a:ext>
            </a:extLst>
          </p:cNvPr>
          <p:cNvSpPr txBox="1"/>
          <p:nvPr/>
        </p:nvSpPr>
        <p:spPr>
          <a:xfrm>
            <a:off x="5686449" y="461536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2566277-689C-4EF2-AA34-9F80337B3AF2}"/>
              </a:ext>
            </a:extLst>
          </p:cNvPr>
          <p:cNvSpPr txBox="1"/>
          <p:nvPr/>
        </p:nvSpPr>
        <p:spPr>
          <a:xfrm>
            <a:off x="6755524" y="4617228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399918-7CC9-442D-A643-A169A12CE8E9}"/>
              </a:ext>
            </a:extLst>
          </p:cNvPr>
          <p:cNvSpPr txBox="1"/>
          <p:nvPr/>
        </p:nvSpPr>
        <p:spPr>
          <a:xfrm>
            <a:off x="6005639" y="4617353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B75DED2-6B54-46F6-AAF4-DE6C0116E2EE}"/>
              </a:ext>
            </a:extLst>
          </p:cNvPr>
          <p:cNvSpPr txBox="1"/>
          <p:nvPr/>
        </p:nvSpPr>
        <p:spPr>
          <a:xfrm>
            <a:off x="6436334" y="461536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38D2E3C-60BA-44C0-B0FD-66289747F28D}"/>
              </a:ext>
            </a:extLst>
          </p:cNvPr>
          <p:cNvSpPr txBox="1"/>
          <p:nvPr/>
        </p:nvSpPr>
        <p:spPr>
          <a:xfrm>
            <a:off x="534625" y="4911335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FA54B7B2-66A8-4C7E-B11C-E69B1437810C}"/>
              </a:ext>
            </a:extLst>
          </p:cNvPr>
          <p:cNvSpPr txBox="1"/>
          <p:nvPr/>
        </p:nvSpPr>
        <p:spPr>
          <a:xfrm>
            <a:off x="5367260" y="4911335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2B26EC4-9869-48F7-A36D-BDFBF33562AF}"/>
              </a:ext>
            </a:extLst>
          </p:cNvPr>
          <p:cNvSpPr txBox="1"/>
          <p:nvPr/>
        </p:nvSpPr>
        <p:spPr>
          <a:xfrm>
            <a:off x="5686449" y="4911335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D3C0E0A-46A5-4B17-B3AF-35E3D2444BF5}"/>
              </a:ext>
            </a:extLst>
          </p:cNvPr>
          <p:cNvSpPr txBox="1"/>
          <p:nvPr/>
        </p:nvSpPr>
        <p:spPr>
          <a:xfrm>
            <a:off x="6755524" y="4913201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536DCC9-20C7-4575-828B-A48812935D4F}"/>
              </a:ext>
            </a:extLst>
          </p:cNvPr>
          <p:cNvSpPr txBox="1"/>
          <p:nvPr/>
        </p:nvSpPr>
        <p:spPr>
          <a:xfrm>
            <a:off x="6005639" y="4913326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D25CAA-51FA-434C-854E-472108CACEC5}"/>
              </a:ext>
            </a:extLst>
          </p:cNvPr>
          <p:cNvSpPr txBox="1"/>
          <p:nvPr/>
        </p:nvSpPr>
        <p:spPr>
          <a:xfrm>
            <a:off x="6436334" y="4911335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4A2BEE9-C4F5-4ECE-9FA1-A0AE01DDDEBB}"/>
              </a:ext>
            </a:extLst>
          </p:cNvPr>
          <p:cNvSpPr txBox="1"/>
          <p:nvPr/>
        </p:nvSpPr>
        <p:spPr>
          <a:xfrm>
            <a:off x="529786" y="5420454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</a:t>
            </a:r>
            <a:r>
              <a:rPr lang="es-CO" sz="1100" dirty="0"/>
              <a:t>resultados de la Valoración 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23F4969-F440-46AE-BA51-68AF111DEDAF}"/>
              </a:ext>
            </a:extLst>
          </p:cNvPr>
          <p:cNvSpPr txBox="1"/>
          <p:nvPr/>
        </p:nvSpPr>
        <p:spPr>
          <a:xfrm>
            <a:off x="529787" y="5727176"/>
            <a:ext cx="2429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Muy deficiente:</a:t>
            </a:r>
            <a:endParaRPr lang="es-CO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95DC25E-36FA-4F4F-859F-2BF694B6728C}"/>
              </a:ext>
            </a:extLst>
          </p:cNvPr>
          <p:cNvSpPr txBox="1"/>
          <p:nvPr/>
        </p:nvSpPr>
        <p:spPr>
          <a:xfrm>
            <a:off x="3010880" y="5727176"/>
            <a:ext cx="2835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AAB8219B-471F-4937-B5DA-C21119265836}"/>
              </a:ext>
            </a:extLst>
          </p:cNvPr>
          <p:cNvSpPr txBox="1"/>
          <p:nvPr/>
        </p:nvSpPr>
        <p:spPr>
          <a:xfrm>
            <a:off x="3346247" y="5733545"/>
            <a:ext cx="231687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Deficiente: </a:t>
            </a:r>
            <a:endParaRPr lang="es-CO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D42E887-55E0-48B5-A886-0BA2BA5F4FC3}"/>
              </a:ext>
            </a:extLst>
          </p:cNvPr>
          <p:cNvSpPr txBox="1"/>
          <p:nvPr/>
        </p:nvSpPr>
        <p:spPr>
          <a:xfrm>
            <a:off x="5692617" y="5731554"/>
            <a:ext cx="29624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E2CD065F-8D72-4B37-A06E-D49AB2958C85}"/>
              </a:ext>
            </a:extLst>
          </p:cNvPr>
          <p:cNvSpPr txBox="1"/>
          <p:nvPr/>
        </p:nvSpPr>
        <p:spPr>
          <a:xfrm>
            <a:off x="6040658" y="5727599"/>
            <a:ext cx="247980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Mejorable: </a:t>
            </a:r>
            <a:endParaRPr lang="es-CO" sz="80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B52D71C8-7E34-4B1E-8FFB-5268ADEF39D8}"/>
              </a:ext>
            </a:extLst>
          </p:cNvPr>
          <p:cNvSpPr txBox="1"/>
          <p:nvPr/>
        </p:nvSpPr>
        <p:spPr>
          <a:xfrm>
            <a:off x="8572254" y="5727599"/>
            <a:ext cx="2835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2CC66257-93E5-4049-BE6E-2D63BA1760E8}"/>
              </a:ext>
            </a:extLst>
          </p:cNvPr>
          <p:cNvSpPr txBox="1"/>
          <p:nvPr/>
        </p:nvSpPr>
        <p:spPr>
          <a:xfrm>
            <a:off x="8907621" y="5733968"/>
            <a:ext cx="231687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Correcta: </a:t>
            </a:r>
            <a:endParaRPr lang="es-CO" sz="80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9F852A01-06D6-4768-B1BA-3BB907C05281}"/>
              </a:ext>
            </a:extLst>
          </p:cNvPr>
          <p:cNvSpPr txBox="1"/>
          <p:nvPr/>
        </p:nvSpPr>
        <p:spPr>
          <a:xfrm>
            <a:off x="11253991" y="5731977"/>
            <a:ext cx="29624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15656066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6028" y="2345650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6028" y="268296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3073" y="268296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4625" y="2959954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Ficha de registro de medidas de prevención y protección a adoptar en los puestos  de trabajo y tareas para minimizar los riesgos existentes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10381593" y="3255190"/>
            <a:ext cx="1168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1963612" y="3302093"/>
            <a:ext cx="19194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4A2BEE9-C4F5-4ECE-9FA1-A0AE01DDDEBB}"/>
              </a:ext>
            </a:extLst>
          </p:cNvPr>
          <p:cNvSpPr txBox="1"/>
          <p:nvPr/>
        </p:nvSpPr>
        <p:spPr>
          <a:xfrm>
            <a:off x="548105" y="4395686"/>
            <a:ext cx="766030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1100" dirty="0"/>
          </a:p>
          <a:p>
            <a:pPr algn="ctr"/>
            <a:r>
              <a:rPr lang="es-MX" sz="1100" dirty="0"/>
              <a:t>Tareas</a:t>
            </a:r>
          </a:p>
          <a:p>
            <a:pPr algn="ctr"/>
            <a:endParaRPr lang="es-CO" sz="1100" dirty="0"/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23F4969-F440-46AE-BA51-68AF111DEDAF}"/>
              </a:ext>
            </a:extLst>
          </p:cNvPr>
          <p:cNvSpPr txBox="1"/>
          <p:nvPr/>
        </p:nvSpPr>
        <p:spPr>
          <a:xfrm>
            <a:off x="548104" y="5054101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95DC25E-36FA-4F4F-859F-2BF694B6728C}"/>
              </a:ext>
            </a:extLst>
          </p:cNvPr>
          <p:cNvSpPr txBox="1"/>
          <p:nvPr/>
        </p:nvSpPr>
        <p:spPr>
          <a:xfrm>
            <a:off x="1361113" y="5054101"/>
            <a:ext cx="6341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AAB8219B-471F-4937-B5DA-C21119265836}"/>
              </a:ext>
            </a:extLst>
          </p:cNvPr>
          <p:cNvSpPr txBox="1"/>
          <p:nvPr/>
        </p:nvSpPr>
        <p:spPr>
          <a:xfrm>
            <a:off x="2042262" y="5054062"/>
            <a:ext cx="7660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D42E887-55E0-48B5-A886-0BA2BA5F4FC3}"/>
              </a:ext>
            </a:extLst>
          </p:cNvPr>
          <p:cNvSpPr txBox="1"/>
          <p:nvPr/>
        </p:nvSpPr>
        <p:spPr>
          <a:xfrm>
            <a:off x="2830484" y="5054062"/>
            <a:ext cx="79590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E2CD065F-8D72-4B37-A06E-D49AB2958C85}"/>
              </a:ext>
            </a:extLst>
          </p:cNvPr>
          <p:cNvSpPr txBox="1"/>
          <p:nvPr/>
        </p:nvSpPr>
        <p:spPr>
          <a:xfrm>
            <a:off x="3721930" y="5038211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8F9982C-F114-4408-A5AA-EFC0D7CF1B34}"/>
              </a:ext>
            </a:extLst>
          </p:cNvPr>
          <p:cNvSpPr txBox="1"/>
          <p:nvPr/>
        </p:nvSpPr>
        <p:spPr>
          <a:xfrm>
            <a:off x="536028" y="330781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Unidad funcional: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BE45685-A2B8-4CAF-A911-905134B6B8B1}"/>
              </a:ext>
            </a:extLst>
          </p:cNvPr>
          <p:cNvSpPr txBox="1"/>
          <p:nvPr/>
        </p:nvSpPr>
        <p:spPr>
          <a:xfrm>
            <a:off x="8948953" y="325519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Código: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78F1AC8-996D-44DF-8097-FFD311A2C06B}"/>
              </a:ext>
            </a:extLst>
          </p:cNvPr>
          <p:cNvSpPr txBox="1"/>
          <p:nvPr/>
        </p:nvSpPr>
        <p:spPr>
          <a:xfrm>
            <a:off x="3015118" y="3626293"/>
            <a:ext cx="29141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CD58281A-5983-4CA0-99C0-3534E551A619}"/>
              </a:ext>
            </a:extLst>
          </p:cNvPr>
          <p:cNvSpPr txBox="1"/>
          <p:nvPr/>
        </p:nvSpPr>
        <p:spPr>
          <a:xfrm>
            <a:off x="536027" y="3624859"/>
            <a:ext cx="2423203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Tiempo requerido para la información inicial: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B3CB3E5D-0E0F-417C-830B-745181CC0390}"/>
              </a:ext>
            </a:extLst>
          </p:cNvPr>
          <p:cNvSpPr txBox="1"/>
          <p:nvPr/>
        </p:nvSpPr>
        <p:spPr>
          <a:xfrm>
            <a:off x="3015118" y="3906650"/>
            <a:ext cx="291411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E4DC801F-46B6-494B-9249-8C894AA8F1AB}"/>
              </a:ext>
            </a:extLst>
          </p:cNvPr>
          <p:cNvSpPr txBox="1"/>
          <p:nvPr/>
        </p:nvSpPr>
        <p:spPr>
          <a:xfrm>
            <a:off x="536028" y="3901218"/>
            <a:ext cx="242320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Fecha de cumplimentación de esta ficha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0C7377C-32F1-42DC-BDE6-B7400BB69B21}"/>
              </a:ext>
            </a:extLst>
          </p:cNvPr>
          <p:cNvSpPr txBox="1"/>
          <p:nvPr/>
        </p:nvSpPr>
        <p:spPr>
          <a:xfrm>
            <a:off x="8979268" y="3633425"/>
            <a:ext cx="218987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04C9A4A-31C6-4AF6-A011-949906DF99F9}"/>
              </a:ext>
            </a:extLst>
          </p:cNvPr>
          <p:cNvSpPr txBox="1"/>
          <p:nvPr/>
        </p:nvSpPr>
        <p:spPr>
          <a:xfrm>
            <a:off x="5959551" y="3641968"/>
            <a:ext cx="298940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Puesto de trabajo/Tarea: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DDD0967-76A7-4BA8-A80A-477C7A326C32}"/>
              </a:ext>
            </a:extLst>
          </p:cNvPr>
          <p:cNvSpPr txBox="1"/>
          <p:nvPr/>
        </p:nvSpPr>
        <p:spPr>
          <a:xfrm>
            <a:off x="8995284" y="3920093"/>
            <a:ext cx="217385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BD52F4CD-2F37-4042-BC2E-96EDA78FBFBF}"/>
              </a:ext>
            </a:extLst>
          </p:cNvPr>
          <p:cNvSpPr txBox="1"/>
          <p:nvPr/>
        </p:nvSpPr>
        <p:spPr>
          <a:xfrm>
            <a:off x="5975567" y="3910281"/>
            <a:ext cx="2973386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Tiempo de formación requerido para trabajar individualmente: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2F796DE-F57C-4D89-8BA9-CC2585D842BB}"/>
              </a:ext>
            </a:extLst>
          </p:cNvPr>
          <p:cNvSpPr txBox="1"/>
          <p:nvPr/>
        </p:nvSpPr>
        <p:spPr>
          <a:xfrm>
            <a:off x="1335673" y="4388168"/>
            <a:ext cx="662236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1100" dirty="0"/>
          </a:p>
          <a:p>
            <a:pPr algn="ctr"/>
            <a:r>
              <a:rPr lang="es-MX" sz="1100" dirty="0"/>
              <a:t>Riesgos</a:t>
            </a:r>
          </a:p>
          <a:p>
            <a:pPr algn="ctr"/>
            <a:endParaRPr lang="es-MX" sz="1100" dirty="0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4A446F5F-6B8F-4249-84DC-92396DDA896F}"/>
              </a:ext>
            </a:extLst>
          </p:cNvPr>
          <p:cNvSpPr txBox="1"/>
          <p:nvPr/>
        </p:nvSpPr>
        <p:spPr>
          <a:xfrm>
            <a:off x="2013550" y="4375457"/>
            <a:ext cx="1612839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Medidas de protección implementadas</a:t>
            </a:r>
            <a:endParaRPr lang="es-CO" sz="800" dirty="0"/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D30AB6B-858C-4793-A792-F7B2B902BDE1}"/>
              </a:ext>
            </a:extLst>
          </p:cNvPr>
          <p:cNvSpPr txBox="1"/>
          <p:nvPr/>
        </p:nvSpPr>
        <p:spPr>
          <a:xfrm>
            <a:off x="3669991" y="4375457"/>
            <a:ext cx="1619924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  <a:p>
            <a:pPr algn="ctr"/>
            <a:r>
              <a:rPr lang="es-MX" sz="800" dirty="0"/>
              <a:t>Normas internas aplicadas</a:t>
            </a:r>
            <a:endParaRPr lang="es-CO" sz="800" dirty="0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37AFF405-8F1F-492C-9EBD-F50B4961F96D}"/>
              </a:ext>
            </a:extLst>
          </p:cNvPr>
          <p:cNvSpPr txBox="1"/>
          <p:nvPr/>
        </p:nvSpPr>
        <p:spPr>
          <a:xfrm>
            <a:off x="5318742" y="4384231"/>
            <a:ext cx="3011735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  <a:p>
            <a:pPr algn="ctr"/>
            <a:r>
              <a:rPr lang="es-MX" sz="800" dirty="0"/>
              <a:t>Señalización existente</a:t>
            </a:r>
            <a:endParaRPr lang="es-CO" sz="800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AAEE8DDA-160C-4882-A6F8-782035C32892}"/>
              </a:ext>
            </a:extLst>
          </p:cNvPr>
          <p:cNvSpPr txBox="1"/>
          <p:nvPr/>
        </p:nvSpPr>
        <p:spPr>
          <a:xfrm>
            <a:off x="8383705" y="4388168"/>
            <a:ext cx="1572844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800" dirty="0"/>
          </a:p>
          <a:p>
            <a:pPr algn="ctr"/>
            <a:r>
              <a:rPr lang="es-MX" sz="800" dirty="0"/>
              <a:t>Controles periódicos del riesgo </a:t>
            </a:r>
            <a:endParaRPr lang="es-CO" sz="800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5105F147-82CE-48F5-BE7A-D209EAB663EE}"/>
              </a:ext>
            </a:extLst>
          </p:cNvPr>
          <p:cNvSpPr txBox="1"/>
          <p:nvPr/>
        </p:nvSpPr>
        <p:spPr>
          <a:xfrm>
            <a:off x="9988458" y="4384231"/>
            <a:ext cx="1706193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endParaRPr lang="es-MX" sz="1100" dirty="0"/>
          </a:p>
          <a:p>
            <a:pPr algn="ctr"/>
            <a:r>
              <a:rPr lang="es-MX" sz="1100" dirty="0"/>
              <a:t>Observaciones</a:t>
            </a:r>
          </a:p>
          <a:p>
            <a:pPr algn="ctr"/>
            <a:r>
              <a:rPr lang="es-MX" sz="1100" dirty="0"/>
              <a:t> </a:t>
            </a:r>
            <a:endParaRPr lang="es-CO" sz="11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5409CDB2-55B1-4F2B-9CE4-5793663C8429}"/>
              </a:ext>
            </a:extLst>
          </p:cNvPr>
          <p:cNvSpPr txBox="1"/>
          <p:nvPr/>
        </p:nvSpPr>
        <p:spPr>
          <a:xfrm>
            <a:off x="2029931" y="4740106"/>
            <a:ext cx="795905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Protección Colectiva </a:t>
            </a:r>
            <a:endParaRPr lang="es-CO" sz="600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EC62E1CB-AB3E-4E1C-B18F-A5F4F53EBB33}"/>
              </a:ext>
            </a:extLst>
          </p:cNvPr>
          <p:cNvSpPr txBox="1"/>
          <p:nvPr/>
        </p:nvSpPr>
        <p:spPr>
          <a:xfrm>
            <a:off x="2833877" y="4742700"/>
            <a:ext cx="795904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Protección individual </a:t>
            </a:r>
            <a:endParaRPr lang="es-CO" sz="600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2913608-8055-410C-BEEE-3927BF0CE2B8}"/>
              </a:ext>
            </a:extLst>
          </p:cNvPr>
          <p:cNvSpPr txBox="1"/>
          <p:nvPr/>
        </p:nvSpPr>
        <p:spPr>
          <a:xfrm>
            <a:off x="3683858" y="4739417"/>
            <a:ext cx="79590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Norma</a:t>
            </a:r>
            <a:r>
              <a:rPr lang="es-MX" sz="1100" dirty="0"/>
              <a:t> </a:t>
            </a:r>
            <a:endParaRPr lang="es-CO" sz="1100" dirty="0"/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0183BE79-7519-4950-BC3A-A2CE4650463C}"/>
              </a:ext>
            </a:extLst>
          </p:cNvPr>
          <p:cNvSpPr txBox="1"/>
          <p:nvPr/>
        </p:nvSpPr>
        <p:spPr>
          <a:xfrm>
            <a:off x="4499661" y="4739110"/>
            <a:ext cx="795905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Código</a:t>
            </a:r>
            <a:endParaRPr lang="es-CO" sz="8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18A40FDE-642F-42DB-A4EE-780CCE7C37D4}"/>
              </a:ext>
            </a:extLst>
          </p:cNvPr>
          <p:cNvSpPr txBox="1"/>
          <p:nvPr/>
        </p:nvSpPr>
        <p:spPr>
          <a:xfrm>
            <a:off x="5334114" y="4739110"/>
            <a:ext cx="68530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Peligro </a:t>
            </a:r>
            <a:endParaRPr lang="es-CO" sz="8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4F92BDF1-0C58-4791-98E8-D4B9D0EF9176}"/>
              </a:ext>
            </a:extLst>
          </p:cNvPr>
          <p:cNvSpPr txBox="1"/>
          <p:nvPr/>
        </p:nvSpPr>
        <p:spPr>
          <a:xfrm>
            <a:off x="6862309" y="4739110"/>
            <a:ext cx="72786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Obligación </a:t>
            </a:r>
            <a:endParaRPr lang="es-CO" sz="800" dirty="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88659EF3-A513-4F21-9AED-A702D77A4631}"/>
              </a:ext>
            </a:extLst>
          </p:cNvPr>
          <p:cNvSpPr txBox="1"/>
          <p:nvPr/>
        </p:nvSpPr>
        <p:spPr>
          <a:xfrm>
            <a:off x="7617987" y="4739110"/>
            <a:ext cx="72786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Información </a:t>
            </a:r>
            <a:endParaRPr lang="es-CO" sz="8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0D63A8C7-0EE5-4F60-A369-954E697F6F58}"/>
              </a:ext>
            </a:extLst>
          </p:cNvPr>
          <p:cNvSpPr txBox="1"/>
          <p:nvPr/>
        </p:nvSpPr>
        <p:spPr>
          <a:xfrm>
            <a:off x="6057971" y="4754465"/>
            <a:ext cx="76579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Prohibición </a:t>
            </a:r>
            <a:endParaRPr lang="es-CO" sz="800" dirty="0"/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72F43CC4-D0DF-47AE-9700-C395A465E018}"/>
              </a:ext>
            </a:extLst>
          </p:cNvPr>
          <p:cNvSpPr txBox="1"/>
          <p:nvPr/>
        </p:nvSpPr>
        <p:spPr>
          <a:xfrm>
            <a:off x="8399723" y="4755250"/>
            <a:ext cx="765791" cy="184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600" dirty="0"/>
              <a:t>Tipo de revisión </a:t>
            </a:r>
            <a:endParaRPr lang="es-CO" sz="600" dirty="0"/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1ACDD1E-2F44-4392-A4DF-DCD321429C12}"/>
              </a:ext>
            </a:extLst>
          </p:cNvPr>
          <p:cNvSpPr txBox="1"/>
          <p:nvPr/>
        </p:nvSpPr>
        <p:spPr>
          <a:xfrm>
            <a:off x="9210042" y="4752510"/>
            <a:ext cx="765790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Frecuencia </a:t>
            </a:r>
            <a:endParaRPr lang="es-CO" sz="800" dirty="0"/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6B7A4BE0-8D9F-4F19-B193-1AC4225047AE}"/>
              </a:ext>
            </a:extLst>
          </p:cNvPr>
          <p:cNvSpPr txBox="1"/>
          <p:nvPr/>
        </p:nvSpPr>
        <p:spPr>
          <a:xfrm>
            <a:off x="4508986" y="5025732"/>
            <a:ext cx="7959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FC0ADE65-9487-4F93-A5AD-5D6926B38BE9}"/>
              </a:ext>
            </a:extLst>
          </p:cNvPr>
          <p:cNvSpPr txBox="1"/>
          <p:nvPr/>
        </p:nvSpPr>
        <p:spPr>
          <a:xfrm>
            <a:off x="5334114" y="5005368"/>
            <a:ext cx="6853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7BD5F5C3-C4E5-465B-A6A5-ADE9EF434848}"/>
              </a:ext>
            </a:extLst>
          </p:cNvPr>
          <p:cNvSpPr txBox="1"/>
          <p:nvPr/>
        </p:nvSpPr>
        <p:spPr>
          <a:xfrm>
            <a:off x="6055910" y="4984395"/>
            <a:ext cx="7657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BEDFCC6-89E2-49C1-BF37-3BF80F466976}"/>
              </a:ext>
            </a:extLst>
          </p:cNvPr>
          <p:cNvSpPr txBox="1"/>
          <p:nvPr/>
        </p:nvSpPr>
        <p:spPr>
          <a:xfrm>
            <a:off x="6868555" y="4984395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C6551AC9-9B16-4D85-8BAE-8311A9E920D6}"/>
              </a:ext>
            </a:extLst>
          </p:cNvPr>
          <p:cNvSpPr txBox="1"/>
          <p:nvPr/>
        </p:nvSpPr>
        <p:spPr>
          <a:xfrm>
            <a:off x="7638810" y="4967954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49042793-E66C-4D45-BD26-42D9E6D7320C}"/>
              </a:ext>
            </a:extLst>
          </p:cNvPr>
          <p:cNvSpPr txBox="1"/>
          <p:nvPr/>
        </p:nvSpPr>
        <p:spPr>
          <a:xfrm>
            <a:off x="8408140" y="4967954"/>
            <a:ext cx="7497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5020406-6452-473F-A7AF-F13857C231E9}"/>
              </a:ext>
            </a:extLst>
          </p:cNvPr>
          <p:cNvSpPr txBox="1"/>
          <p:nvPr/>
        </p:nvSpPr>
        <p:spPr>
          <a:xfrm>
            <a:off x="9210138" y="4994327"/>
            <a:ext cx="75464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DFEDC8A0-4B38-4C84-AB97-D9431C422D0C}"/>
              </a:ext>
            </a:extLst>
          </p:cNvPr>
          <p:cNvSpPr txBox="1"/>
          <p:nvPr/>
        </p:nvSpPr>
        <p:spPr>
          <a:xfrm>
            <a:off x="9998971" y="5009487"/>
            <a:ext cx="167188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42D0BE9B-0183-4F2E-8CE3-B3DA56708613}"/>
              </a:ext>
            </a:extLst>
          </p:cNvPr>
          <p:cNvSpPr txBox="1"/>
          <p:nvPr/>
        </p:nvSpPr>
        <p:spPr>
          <a:xfrm>
            <a:off x="548104" y="5296970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98C33D14-A43B-43D8-BAE9-65E0740A092D}"/>
              </a:ext>
            </a:extLst>
          </p:cNvPr>
          <p:cNvSpPr txBox="1"/>
          <p:nvPr/>
        </p:nvSpPr>
        <p:spPr>
          <a:xfrm>
            <a:off x="1361113" y="5296970"/>
            <a:ext cx="6341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94ED1BA-B863-4254-AF90-5AF63AEC6363}"/>
              </a:ext>
            </a:extLst>
          </p:cNvPr>
          <p:cNvSpPr txBox="1"/>
          <p:nvPr/>
        </p:nvSpPr>
        <p:spPr>
          <a:xfrm>
            <a:off x="2042262" y="5296931"/>
            <a:ext cx="7660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A65D33C2-439E-4A5C-AC01-4AFC42627796}"/>
              </a:ext>
            </a:extLst>
          </p:cNvPr>
          <p:cNvSpPr txBox="1"/>
          <p:nvPr/>
        </p:nvSpPr>
        <p:spPr>
          <a:xfrm>
            <a:off x="2830484" y="5296931"/>
            <a:ext cx="79590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988D7DF1-FF90-4371-8BD2-BA920A233595}"/>
              </a:ext>
            </a:extLst>
          </p:cNvPr>
          <p:cNvSpPr txBox="1"/>
          <p:nvPr/>
        </p:nvSpPr>
        <p:spPr>
          <a:xfrm>
            <a:off x="3721930" y="5281080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86C7633A-5EE9-43B2-A72F-104262CF28DD}"/>
              </a:ext>
            </a:extLst>
          </p:cNvPr>
          <p:cNvSpPr txBox="1"/>
          <p:nvPr/>
        </p:nvSpPr>
        <p:spPr>
          <a:xfrm>
            <a:off x="4508986" y="5268601"/>
            <a:ext cx="7959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2207A898-C3D5-41C5-87CC-B955D6DC1399}"/>
              </a:ext>
            </a:extLst>
          </p:cNvPr>
          <p:cNvSpPr txBox="1"/>
          <p:nvPr/>
        </p:nvSpPr>
        <p:spPr>
          <a:xfrm>
            <a:off x="5334114" y="5248237"/>
            <a:ext cx="6853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FAE2CDEF-CA31-443E-A63B-EAE8524C3828}"/>
              </a:ext>
            </a:extLst>
          </p:cNvPr>
          <p:cNvSpPr txBox="1"/>
          <p:nvPr/>
        </p:nvSpPr>
        <p:spPr>
          <a:xfrm>
            <a:off x="6055910" y="5227264"/>
            <a:ext cx="7657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113D1037-8587-4770-886E-656893ABBFEE}"/>
              </a:ext>
            </a:extLst>
          </p:cNvPr>
          <p:cNvSpPr txBox="1"/>
          <p:nvPr/>
        </p:nvSpPr>
        <p:spPr>
          <a:xfrm>
            <a:off x="6868555" y="5227264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0" name="CuadroTexto 129">
            <a:extLst>
              <a:ext uri="{FF2B5EF4-FFF2-40B4-BE49-F238E27FC236}">
                <a16:creationId xmlns:a16="http://schemas.microsoft.com/office/drawing/2014/main" id="{85D5F325-22FB-4BB7-A46D-468C54522E46}"/>
              </a:ext>
            </a:extLst>
          </p:cNvPr>
          <p:cNvSpPr txBox="1"/>
          <p:nvPr/>
        </p:nvSpPr>
        <p:spPr>
          <a:xfrm>
            <a:off x="7638810" y="5210823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E8B8FF13-4C8F-470C-AF70-98606ADC5E59}"/>
              </a:ext>
            </a:extLst>
          </p:cNvPr>
          <p:cNvSpPr txBox="1"/>
          <p:nvPr/>
        </p:nvSpPr>
        <p:spPr>
          <a:xfrm>
            <a:off x="8408140" y="5210823"/>
            <a:ext cx="7497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1847D52B-E3B8-4F9C-B03D-D878567D3525}"/>
              </a:ext>
            </a:extLst>
          </p:cNvPr>
          <p:cNvSpPr txBox="1"/>
          <p:nvPr/>
        </p:nvSpPr>
        <p:spPr>
          <a:xfrm>
            <a:off x="9210138" y="5237196"/>
            <a:ext cx="75464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2F3466AF-BCED-48F3-B82F-A58DDA6BBC9B}"/>
              </a:ext>
            </a:extLst>
          </p:cNvPr>
          <p:cNvSpPr txBox="1"/>
          <p:nvPr/>
        </p:nvSpPr>
        <p:spPr>
          <a:xfrm>
            <a:off x="9998971" y="5252356"/>
            <a:ext cx="167188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8BFEA446-E188-49E2-A325-D0785FD0446A}"/>
              </a:ext>
            </a:extLst>
          </p:cNvPr>
          <p:cNvSpPr txBox="1"/>
          <p:nvPr/>
        </p:nvSpPr>
        <p:spPr>
          <a:xfrm>
            <a:off x="548104" y="5545299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DC2587B1-E187-4E7A-BB7D-5966F0D457F9}"/>
              </a:ext>
            </a:extLst>
          </p:cNvPr>
          <p:cNvSpPr txBox="1"/>
          <p:nvPr/>
        </p:nvSpPr>
        <p:spPr>
          <a:xfrm>
            <a:off x="1361113" y="5545299"/>
            <a:ext cx="6341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B0C568DA-9D5E-44F9-ABAC-EC9A96CA70F8}"/>
              </a:ext>
            </a:extLst>
          </p:cNvPr>
          <p:cNvSpPr txBox="1"/>
          <p:nvPr/>
        </p:nvSpPr>
        <p:spPr>
          <a:xfrm>
            <a:off x="2042262" y="5545260"/>
            <a:ext cx="7660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7" name="CuadroTexto 136">
            <a:extLst>
              <a:ext uri="{FF2B5EF4-FFF2-40B4-BE49-F238E27FC236}">
                <a16:creationId xmlns:a16="http://schemas.microsoft.com/office/drawing/2014/main" id="{CBEA271C-AC48-4FE3-B1D4-022A2765CBB6}"/>
              </a:ext>
            </a:extLst>
          </p:cNvPr>
          <p:cNvSpPr txBox="1"/>
          <p:nvPr/>
        </p:nvSpPr>
        <p:spPr>
          <a:xfrm>
            <a:off x="2830484" y="5545260"/>
            <a:ext cx="79590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00C78344-29AC-47CA-ABE2-09CE727723A6}"/>
              </a:ext>
            </a:extLst>
          </p:cNvPr>
          <p:cNvSpPr txBox="1"/>
          <p:nvPr/>
        </p:nvSpPr>
        <p:spPr>
          <a:xfrm>
            <a:off x="3721930" y="5529409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5774537A-C3AA-4D1C-A63D-379E3AFB422B}"/>
              </a:ext>
            </a:extLst>
          </p:cNvPr>
          <p:cNvSpPr txBox="1"/>
          <p:nvPr/>
        </p:nvSpPr>
        <p:spPr>
          <a:xfrm>
            <a:off x="4508986" y="5516930"/>
            <a:ext cx="7959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4106047C-E424-4036-B0B7-C8A0D365C971}"/>
              </a:ext>
            </a:extLst>
          </p:cNvPr>
          <p:cNvSpPr txBox="1"/>
          <p:nvPr/>
        </p:nvSpPr>
        <p:spPr>
          <a:xfrm>
            <a:off x="5334114" y="5496566"/>
            <a:ext cx="6853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48787402-4132-4459-B9EA-E2C85542996C}"/>
              </a:ext>
            </a:extLst>
          </p:cNvPr>
          <p:cNvSpPr txBox="1"/>
          <p:nvPr/>
        </p:nvSpPr>
        <p:spPr>
          <a:xfrm>
            <a:off x="6055910" y="5475593"/>
            <a:ext cx="7657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A773C9B6-A539-40A6-8243-6CC038422EFD}"/>
              </a:ext>
            </a:extLst>
          </p:cNvPr>
          <p:cNvSpPr txBox="1"/>
          <p:nvPr/>
        </p:nvSpPr>
        <p:spPr>
          <a:xfrm>
            <a:off x="6868555" y="5475593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82D82890-E1A1-4537-8A5A-DC58DE970A82}"/>
              </a:ext>
            </a:extLst>
          </p:cNvPr>
          <p:cNvSpPr txBox="1"/>
          <p:nvPr/>
        </p:nvSpPr>
        <p:spPr>
          <a:xfrm>
            <a:off x="7638810" y="5459152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B2BCA148-6FBC-4CF8-926E-324826ECF45A}"/>
              </a:ext>
            </a:extLst>
          </p:cNvPr>
          <p:cNvSpPr txBox="1"/>
          <p:nvPr/>
        </p:nvSpPr>
        <p:spPr>
          <a:xfrm>
            <a:off x="8408140" y="5459152"/>
            <a:ext cx="7497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0C7D35DD-C38A-44C1-B44D-32AFE4ED3D39}"/>
              </a:ext>
            </a:extLst>
          </p:cNvPr>
          <p:cNvSpPr txBox="1"/>
          <p:nvPr/>
        </p:nvSpPr>
        <p:spPr>
          <a:xfrm>
            <a:off x="9210138" y="5485525"/>
            <a:ext cx="75464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10C6B271-7BB6-432C-B986-CEBC8372AB84}"/>
              </a:ext>
            </a:extLst>
          </p:cNvPr>
          <p:cNvSpPr txBox="1"/>
          <p:nvPr/>
        </p:nvSpPr>
        <p:spPr>
          <a:xfrm>
            <a:off x="9998971" y="5500685"/>
            <a:ext cx="167188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42704453-86B2-4ADA-AB61-A7938A398ADD}"/>
              </a:ext>
            </a:extLst>
          </p:cNvPr>
          <p:cNvSpPr txBox="1"/>
          <p:nvPr/>
        </p:nvSpPr>
        <p:spPr>
          <a:xfrm>
            <a:off x="548104" y="5793076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97D173C2-8732-4DF7-A3A7-D4FF7D683675}"/>
              </a:ext>
            </a:extLst>
          </p:cNvPr>
          <p:cNvSpPr txBox="1"/>
          <p:nvPr/>
        </p:nvSpPr>
        <p:spPr>
          <a:xfrm>
            <a:off x="1361113" y="5793076"/>
            <a:ext cx="63416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6249041B-57B1-4BB4-8C99-85D0EB882113}"/>
              </a:ext>
            </a:extLst>
          </p:cNvPr>
          <p:cNvSpPr txBox="1"/>
          <p:nvPr/>
        </p:nvSpPr>
        <p:spPr>
          <a:xfrm>
            <a:off x="2042262" y="5793037"/>
            <a:ext cx="76602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F43B2486-5980-4AEF-A5C8-6565641161FE}"/>
              </a:ext>
            </a:extLst>
          </p:cNvPr>
          <p:cNvSpPr txBox="1"/>
          <p:nvPr/>
        </p:nvSpPr>
        <p:spPr>
          <a:xfrm>
            <a:off x="2830484" y="5793037"/>
            <a:ext cx="79590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29F44BEA-93BA-4A4B-97AD-DA9DC0B6F343}"/>
              </a:ext>
            </a:extLst>
          </p:cNvPr>
          <p:cNvSpPr txBox="1"/>
          <p:nvPr/>
        </p:nvSpPr>
        <p:spPr>
          <a:xfrm>
            <a:off x="3721930" y="5777186"/>
            <a:ext cx="76602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4B6723BF-A515-4FF0-BED6-61B2EF7C6D31}"/>
              </a:ext>
            </a:extLst>
          </p:cNvPr>
          <p:cNvSpPr txBox="1"/>
          <p:nvPr/>
        </p:nvSpPr>
        <p:spPr>
          <a:xfrm>
            <a:off x="4508986" y="5764707"/>
            <a:ext cx="79590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0D62D09E-C6C8-4968-8BB4-46FD06B8113A}"/>
              </a:ext>
            </a:extLst>
          </p:cNvPr>
          <p:cNvSpPr txBox="1"/>
          <p:nvPr/>
        </p:nvSpPr>
        <p:spPr>
          <a:xfrm>
            <a:off x="5334114" y="5744343"/>
            <a:ext cx="68530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AB5966E4-0041-4381-B43C-8161C95501D0}"/>
              </a:ext>
            </a:extLst>
          </p:cNvPr>
          <p:cNvSpPr txBox="1"/>
          <p:nvPr/>
        </p:nvSpPr>
        <p:spPr>
          <a:xfrm>
            <a:off x="6055910" y="5723370"/>
            <a:ext cx="76579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9B15C8E8-B225-4260-BB08-D657DC54F960}"/>
              </a:ext>
            </a:extLst>
          </p:cNvPr>
          <p:cNvSpPr txBox="1"/>
          <p:nvPr/>
        </p:nvSpPr>
        <p:spPr>
          <a:xfrm>
            <a:off x="6868555" y="5723370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6" name="CuadroTexto 155">
            <a:extLst>
              <a:ext uri="{FF2B5EF4-FFF2-40B4-BE49-F238E27FC236}">
                <a16:creationId xmlns:a16="http://schemas.microsoft.com/office/drawing/2014/main" id="{3A67714F-F6FF-4115-8DC2-74D2524D8449}"/>
              </a:ext>
            </a:extLst>
          </p:cNvPr>
          <p:cNvSpPr txBox="1"/>
          <p:nvPr/>
        </p:nvSpPr>
        <p:spPr>
          <a:xfrm>
            <a:off x="7638810" y="5706929"/>
            <a:ext cx="73026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B68D2D0A-C613-4DFF-B475-4BB4F10783BF}"/>
              </a:ext>
            </a:extLst>
          </p:cNvPr>
          <p:cNvSpPr txBox="1"/>
          <p:nvPr/>
        </p:nvSpPr>
        <p:spPr>
          <a:xfrm>
            <a:off x="8408140" y="5706929"/>
            <a:ext cx="7497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91EEFAD9-5106-42B1-BAAE-A8068FD36384}"/>
              </a:ext>
            </a:extLst>
          </p:cNvPr>
          <p:cNvSpPr txBox="1"/>
          <p:nvPr/>
        </p:nvSpPr>
        <p:spPr>
          <a:xfrm>
            <a:off x="9210138" y="5733302"/>
            <a:ext cx="75464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69BEE74B-3F03-44BB-B04D-A2279EF49497}"/>
              </a:ext>
            </a:extLst>
          </p:cNvPr>
          <p:cNvSpPr txBox="1"/>
          <p:nvPr/>
        </p:nvSpPr>
        <p:spPr>
          <a:xfrm>
            <a:off x="9998971" y="5748462"/>
            <a:ext cx="167188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25056422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6028" y="2345650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6028" y="2682966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3073" y="2682966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2295678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4282471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6269264" y="6123304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8322779" y="6123304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4625" y="2959954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Cuestionario  de  autoevaluación: Información y formación de los trabajadores</a:t>
            </a:r>
            <a:endParaRPr lang="es-CO" sz="11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4E08FA2-7A38-450B-B1AC-C8413584AD2B}"/>
              </a:ext>
            </a:extLst>
          </p:cNvPr>
          <p:cNvSpPr txBox="1"/>
          <p:nvPr/>
        </p:nvSpPr>
        <p:spPr>
          <a:xfrm>
            <a:off x="534625" y="3552887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AD7F8C0-F51C-4FCA-AFA0-18802FC81D85}"/>
              </a:ext>
            </a:extLst>
          </p:cNvPr>
          <p:cNvSpPr txBox="1"/>
          <p:nvPr/>
        </p:nvSpPr>
        <p:spPr>
          <a:xfrm>
            <a:off x="5367260" y="3552887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109F9F-8734-402B-BAF7-55887CFBD8FA}"/>
              </a:ext>
            </a:extLst>
          </p:cNvPr>
          <p:cNvSpPr txBox="1"/>
          <p:nvPr/>
        </p:nvSpPr>
        <p:spPr>
          <a:xfrm>
            <a:off x="5686449" y="355288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6755524" y="3554753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1D2EF4B-D328-4761-8EC5-2D12CFD83A3D}"/>
              </a:ext>
            </a:extLst>
          </p:cNvPr>
          <p:cNvSpPr txBox="1"/>
          <p:nvPr/>
        </p:nvSpPr>
        <p:spPr>
          <a:xfrm>
            <a:off x="6005639" y="3554878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D39138A-7AB2-4D76-80E7-AD8A374761C0}"/>
              </a:ext>
            </a:extLst>
          </p:cNvPr>
          <p:cNvSpPr txBox="1"/>
          <p:nvPr/>
        </p:nvSpPr>
        <p:spPr>
          <a:xfrm>
            <a:off x="6436334" y="355288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534625" y="3819857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6E20519-2E6A-4E8E-B488-ADF2D3132599}"/>
              </a:ext>
            </a:extLst>
          </p:cNvPr>
          <p:cNvSpPr txBox="1"/>
          <p:nvPr/>
        </p:nvSpPr>
        <p:spPr>
          <a:xfrm>
            <a:off x="5367260" y="3819857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747993C-3CCC-43E5-88F6-2EB07D4DD443}"/>
              </a:ext>
            </a:extLst>
          </p:cNvPr>
          <p:cNvSpPr txBox="1"/>
          <p:nvPr/>
        </p:nvSpPr>
        <p:spPr>
          <a:xfrm>
            <a:off x="5686449" y="381985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C04D571-D863-45C7-859F-73B9EA56A5C1}"/>
              </a:ext>
            </a:extLst>
          </p:cNvPr>
          <p:cNvSpPr txBox="1"/>
          <p:nvPr/>
        </p:nvSpPr>
        <p:spPr>
          <a:xfrm>
            <a:off x="6755524" y="3821723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B29A5DA-2757-4E57-9BB1-ABD8DC72F359}"/>
              </a:ext>
            </a:extLst>
          </p:cNvPr>
          <p:cNvSpPr txBox="1"/>
          <p:nvPr/>
        </p:nvSpPr>
        <p:spPr>
          <a:xfrm>
            <a:off x="6005639" y="3821848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1E58040-1012-4709-B262-426287304A51}"/>
              </a:ext>
            </a:extLst>
          </p:cNvPr>
          <p:cNvSpPr txBox="1"/>
          <p:nvPr/>
        </p:nvSpPr>
        <p:spPr>
          <a:xfrm>
            <a:off x="6436334" y="3819857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99FDBB2-2ECF-43FD-910D-9DB6C652F996}"/>
              </a:ext>
            </a:extLst>
          </p:cNvPr>
          <p:cNvSpPr txBox="1"/>
          <p:nvPr/>
        </p:nvSpPr>
        <p:spPr>
          <a:xfrm>
            <a:off x="534625" y="4115830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07DFF5B-08D6-4076-8C41-5982DC31131F}"/>
              </a:ext>
            </a:extLst>
          </p:cNvPr>
          <p:cNvSpPr txBox="1"/>
          <p:nvPr/>
        </p:nvSpPr>
        <p:spPr>
          <a:xfrm>
            <a:off x="5367260" y="4115830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9295AB0-B258-4948-9936-0FDB77E96FF1}"/>
              </a:ext>
            </a:extLst>
          </p:cNvPr>
          <p:cNvSpPr txBox="1"/>
          <p:nvPr/>
        </p:nvSpPr>
        <p:spPr>
          <a:xfrm>
            <a:off x="5686449" y="4115830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0B86162-A741-48F6-9801-94E44101DE53}"/>
              </a:ext>
            </a:extLst>
          </p:cNvPr>
          <p:cNvSpPr txBox="1"/>
          <p:nvPr/>
        </p:nvSpPr>
        <p:spPr>
          <a:xfrm>
            <a:off x="6755524" y="4117696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CE01FD5-EEDA-48F5-BBAF-38FD5FFD78F9}"/>
              </a:ext>
            </a:extLst>
          </p:cNvPr>
          <p:cNvSpPr txBox="1"/>
          <p:nvPr/>
        </p:nvSpPr>
        <p:spPr>
          <a:xfrm>
            <a:off x="6005639" y="4117821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653D627-C55F-4A12-9D56-67292B30DBF2}"/>
              </a:ext>
            </a:extLst>
          </p:cNvPr>
          <p:cNvSpPr txBox="1"/>
          <p:nvPr/>
        </p:nvSpPr>
        <p:spPr>
          <a:xfrm>
            <a:off x="6436334" y="4115830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6559561-7683-45EA-94D9-FE0861F0C41B}"/>
              </a:ext>
            </a:extLst>
          </p:cNvPr>
          <p:cNvSpPr txBox="1"/>
          <p:nvPr/>
        </p:nvSpPr>
        <p:spPr>
          <a:xfrm>
            <a:off x="534625" y="3262330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Requisitos </a:t>
            </a:r>
            <a:endParaRPr lang="es-CO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4D9C78B-F14F-4C75-9156-6B31215FB263}"/>
              </a:ext>
            </a:extLst>
          </p:cNvPr>
          <p:cNvSpPr txBox="1"/>
          <p:nvPr/>
        </p:nvSpPr>
        <p:spPr>
          <a:xfrm>
            <a:off x="6772782" y="3247246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800" dirty="0"/>
              <a:t>Justificación </a:t>
            </a:r>
            <a:endParaRPr lang="es-CO" sz="800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6FEDB70-53D3-4AFF-9B7A-E1D053139F41}"/>
              </a:ext>
            </a:extLst>
          </p:cNvPr>
          <p:cNvSpPr txBox="1"/>
          <p:nvPr/>
        </p:nvSpPr>
        <p:spPr>
          <a:xfrm>
            <a:off x="534625" y="4348392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A236367-3E24-41DC-BF6F-667F18D8BA2D}"/>
              </a:ext>
            </a:extLst>
          </p:cNvPr>
          <p:cNvSpPr txBox="1"/>
          <p:nvPr/>
        </p:nvSpPr>
        <p:spPr>
          <a:xfrm>
            <a:off x="5367260" y="4348392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74D38C8-8438-4B18-8ED3-CE9D50E1120C}"/>
              </a:ext>
            </a:extLst>
          </p:cNvPr>
          <p:cNvSpPr txBox="1"/>
          <p:nvPr/>
        </p:nvSpPr>
        <p:spPr>
          <a:xfrm>
            <a:off x="5686449" y="434839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D33FE98-0794-47D8-B312-9ED8B4BA0BBA}"/>
              </a:ext>
            </a:extLst>
          </p:cNvPr>
          <p:cNvSpPr txBox="1"/>
          <p:nvPr/>
        </p:nvSpPr>
        <p:spPr>
          <a:xfrm>
            <a:off x="6755524" y="4350258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117E071-15BB-41AA-BB80-2628E506B88D}"/>
              </a:ext>
            </a:extLst>
          </p:cNvPr>
          <p:cNvSpPr txBox="1"/>
          <p:nvPr/>
        </p:nvSpPr>
        <p:spPr>
          <a:xfrm>
            <a:off x="6005639" y="4350383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2CB0432B-06CE-4B96-A5E3-18D2F74B71DD}"/>
              </a:ext>
            </a:extLst>
          </p:cNvPr>
          <p:cNvSpPr txBox="1"/>
          <p:nvPr/>
        </p:nvSpPr>
        <p:spPr>
          <a:xfrm>
            <a:off x="6436334" y="434839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CD04512-AB1C-47D0-97D1-919F526B3BBD}"/>
              </a:ext>
            </a:extLst>
          </p:cNvPr>
          <p:cNvSpPr txBox="1"/>
          <p:nvPr/>
        </p:nvSpPr>
        <p:spPr>
          <a:xfrm>
            <a:off x="534625" y="4615362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432C90D-641B-49AC-B17D-11EC5092E040}"/>
              </a:ext>
            </a:extLst>
          </p:cNvPr>
          <p:cNvSpPr txBox="1"/>
          <p:nvPr/>
        </p:nvSpPr>
        <p:spPr>
          <a:xfrm>
            <a:off x="5367260" y="4615362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B4FA848-A464-4083-A32F-07369FDD098E}"/>
              </a:ext>
            </a:extLst>
          </p:cNvPr>
          <p:cNvSpPr txBox="1"/>
          <p:nvPr/>
        </p:nvSpPr>
        <p:spPr>
          <a:xfrm>
            <a:off x="5686449" y="461536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2566277-689C-4EF2-AA34-9F80337B3AF2}"/>
              </a:ext>
            </a:extLst>
          </p:cNvPr>
          <p:cNvSpPr txBox="1"/>
          <p:nvPr/>
        </p:nvSpPr>
        <p:spPr>
          <a:xfrm>
            <a:off x="6755524" y="4617228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F399918-7CC9-442D-A643-A169A12CE8E9}"/>
              </a:ext>
            </a:extLst>
          </p:cNvPr>
          <p:cNvSpPr txBox="1"/>
          <p:nvPr/>
        </p:nvSpPr>
        <p:spPr>
          <a:xfrm>
            <a:off x="6005639" y="4617353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9B75DED2-6B54-46F6-AAF4-DE6C0116E2EE}"/>
              </a:ext>
            </a:extLst>
          </p:cNvPr>
          <p:cNvSpPr txBox="1"/>
          <p:nvPr/>
        </p:nvSpPr>
        <p:spPr>
          <a:xfrm>
            <a:off x="6436334" y="4615362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38D2E3C-60BA-44C0-B0FD-66289747F28D}"/>
              </a:ext>
            </a:extLst>
          </p:cNvPr>
          <p:cNvSpPr txBox="1"/>
          <p:nvPr/>
        </p:nvSpPr>
        <p:spPr>
          <a:xfrm>
            <a:off x="534625" y="4911335"/>
            <a:ext cx="477745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FA54B7B2-66A8-4C7E-B11C-E69B1437810C}"/>
              </a:ext>
            </a:extLst>
          </p:cNvPr>
          <p:cNvSpPr txBox="1"/>
          <p:nvPr/>
        </p:nvSpPr>
        <p:spPr>
          <a:xfrm>
            <a:off x="5367260" y="4911335"/>
            <a:ext cx="26401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SI</a:t>
            </a:r>
            <a:endParaRPr lang="es-CO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2B26EC4-9869-48F7-A36D-BDFBF33562AF}"/>
              </a:ext>
            </a:extLst>
          </p:cNvPr>
          <p:cNvSpPr txBox="1"/>
          <p:nvPr/>
        </p:nvSpPr>
        <p:spPr>
          <a:xfrm>
            <a:off x="5686449" y="4911335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D3C0E0A-46A5-4B17-B3AF-35E3D2444BF5}"/>
              </a:ext>
            </a:extLst>
          </p:cNvPr>
          <p:cNvSpPr txBox="1"/>
          <p:nvPr/>
        </p:nvSpPr>
        <p:spPr>
          <a:xfrm>
            <a:off x="6755524" y="4913201"/>
            <a:ext cx="47947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6536DCC9-20C7-4575-828B-A48812935D4F}"/>
              </a:ext>
            </a:extLst>
          </p:cNvPr>
          <p:cNvSpPr txBox="1"/>
          <p:nvPr/>
        </p:nvSpPr>
        <p:spPr>
          <a:xfrm>
            <a:off x="6005639" y="4913326"/>
            <a:ext cx="37551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</a:t>
            </a:r>
            <a:endParaRPr lang="es-CO" sz="800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D25CAA-51FA-434C-854E-472108CACEC5}"/>
              </a:ext>
            </a:extLst>
          </p:cNvPr>
          <p:cNvSpPr txBox="1"/>
          <p:nvPr/>
        </p:nvSpPr>
        <p:spPr>
          <a:xfrm>
            <a:off x="6436334" y="4911335"/>
            <a:ext cx="26401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4A2BEE9-C4F5-4ECE-9FA1-A0AE01DDDEBB}"/>
              </a:ext>
            </a:extLst>
          </p:cNvPr>
          <p:cNvSpPr txBox="1"/>
          <p:nvPr/>
        </p:nvSpPr>
        <p:spPr>
          <a:xfrm>
            <a:off x="534625" y="5176771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R</a:t>
            </a:r>
            <a:r>
              <a:rPr lang="es-CO" sz="1100" dirty="0"/>
              <a:t>resultados de la Valoración 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823F4969-F440-46AE-BA51-68AF111DEDAF}"/>
              </a:ext>
            </a:extLst>
          </p:cNvPr>
          <p:cNvSpPr txBox="1"/>
          <p:nvPr/>
        </p:nvSpPr>
        <p:spPr>
          <a:xfrm>
            <a:off x="534626" y="5483493"/>
            <a:ext cx="2429298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Muy deficiente:</a:t>
            </a:r>
            <a:endParaRPr lang="es-CO" sz="8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995DC25E-36FA-4F4F-859F-2BF694B6728C}"/>
              </a:ext>
            </a:extLst>
          </p:cNvPr>
          <p:cNvSpPr txBox="1"/>
          <p:nvPr/>
        </p:nvSpPr>
        <p:spPr>
          <a:xfrm>
            <a:off x="3015719" y="5483493"/>
            <a:ext cx="2835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AAB8219B-471F-4937-B5DA-C21119265836}"/>
              </a:ext>
            </a:extLst>
          </p:cNvPr>
          <p:cNvSpPr txBox="1"/>
          <p:nvPr/>
        </p:nvSpPr>
        <p:spPr>
          <a:xfrm>
            <a:off x="3351086" y="5489862"/>
            <a:ext cx="231687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Deficiente: </a:t>
            </a:r>
            <a:endParaRPr lang="es-CO" sz="800" dirty="0"/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3D42E887-55E0-48B5-A886-0BA2BA5F4FC3}"/>
              </a:ext>
            </a:extLst>
          </p:cNvPr>
          <p:cNvSpPr txBox="1"/>
          <p:nvPr/>
        </p:nvSpPr>
        <p:spPr>
          <a:xfrm>
            <a:off x="5697456" y="5487871"/>
            <a:ext cx="29624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E2CD065F-8D72-4B37-A06E-D49AB2958C85}"/>
              </a:ext>
            </a:extLst>
          </p:cNvPr>
          <p:cNvSpPr txBox="1"/>
          <p:nvPr/>
        </p:nvSpPr>
        <p:spPr>
          <a:xfrm>
            <a:off x="6045497" y="5483916"/>
            <a:ext cx="247980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Mejorable: </a:t>
            </a:r>
            <a:endParaRPr lang="es-CO" sz="800" dirty="0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B52D71C8-7E34-4B1E-8FFB-5268ADEF39D8}"/>
              </a:ext>
            </a:extLst>
          </p:cNvPr>
          <p:cNvSpPr txBox="1"/>
          <p:nvPr/>
        </p:nvSpPr>
        <p:spPr>
          <a:xfrm>
            <a:off x="8577093" y="5483916"/>
            <a:ext cx="28357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2CC66257-93E5-4049-BE6E-2D63BA1760E8}"/>
              </a:ext>
            </a:extLst>
          </p:cNvPr>
          <p:cNvSpPr txBox="1"/>
          <p:nvPr/>
        </p:nvSpPr>
        <p:spPr>
          <a:xfrm>
            <a:off x="8912460" y="5490285"/>
            <a:ext cx="2316877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Correcta: </a:t>
            </a:r>
            <a:endParaRPr lang="es-CO" sz="800" dirty="0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9F852A01-06D6-4768-B1BA-3BB907C05281}"/>
              </a:ext>
            </a:extLst>
          </p:cNvPr>
          <p:cNvSpPr txBox="1"/>
          <p:nvPr/>
        </p:nvSpPr>
        <p:spPr>
          <a:xfrm>
            <a:off x="11258830" y="5488294"/>
            <a:ext cx="29624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410337554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7432" y="2214389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7432" y="255170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4477" y="255170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6029" y="2828693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Certificado de  la  información y formación  recibida por  los trabajadores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10382997" y="3123929"/>
            <a:ext cx="1168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1965016" y="3170832"/>
            <a:ext cx="19194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8F9982C-F114-4408-A5AA-EFC0D7CF1B34}"/>
              </a:ext>
            </a:extLst>
          </p:cNvPr>
          <p:cNvSpPr txBox="1"/>
          <p:nvPr/>
        </p:nvSpPr>
        <p:spPr>
          <a:xfrm>
            <a:off x="537432" y="31765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Puesto de trabajo: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BE45685-A2B8-4CAF-A911-905134B6B8B1}"/>
              </a:ext>
            </a:extLst>
          </p:cNvPr>
          <p:cNvSpPr txBox="1"/>
          <p:nvPr/>
        </p:nvSpPr>
        <p:spPr>
          <a:xfrm>
            <a:off x="8950357" y="312392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Código: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0C7377C-32F1-42DC-BDE6-B7400BB69B21}"/>
              </a:ext>
            </a:extLst>
          </p:cNvPr>
          <p:cNvSpPr txBox="1"/>
          <p:nvPr/>
        </p:nvSpPr>
        <p:spPr>
          <a:xfrm>
            <a:off x="1980530" y="3455750"/>
            <a:ext cx="95725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04C9A4A-31C6-4AF6-A011-949906DF99F9}"/>
              </a:ext>
            </a:extLst>
          </p:cNvPr>
          <p:cNvSpPr txBox="1"/>
          <p:nvPr/>
        </p:nvSpPr>
        <p:spPr>
          <a:xfrm>
            <a:off x="537432" y="344254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Tarea: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8BFEA446-E188-49E2-A325-D0785FD0446A}"/>
              </a:ext>
            </a:extLst>
          </p:cNvPr>
          <p:cNvSpPr txBox="1"/>
          <p:nvPr/>
        </p:nvSpPr>
        <p:spPr>
          <a:xfrm>
            <a:off x="547029" y="4212055"/>
            <a:ext cx="2232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1</a:t>
            </a:r>
            <a:endParaRPr lang="es-CO" sz="8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DC2587B1-E187-4E7A-BB7D-5966F0D457F9}"/>
              </a:ext>
            </a:extLst>
          </p:cNvPr>
          <p:cNvSpPr txBox="1"/>
          <p:nvPr/>
        </p:nvSpPr>
        <p:spPr>
          <a:xfrm>
            <a:off x="816160" y="4216178"/>
            <a:ext cx="107354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Política de la empresa en prevención de riesgos laborales</a:t>
            </a:r>
            <a:endParaRPr lang="es-CO" sz="800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041533E0-008E-4C90-97F3-AA8AAC57202A}"/>
              </a:ext>
            </a:extLst>
          </p:cNvPr>
          <p:cNvSpPr txBox="1"/>
          <p:nvPr/>
        </p:nvSpPr>
        <p:spPr>
          <a:xfrm>
            <a:off x="536027" y="3892627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Información inicial de riesgos y medidas preventivas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90A08FE-0AD3-48F0-BFEC-7AE2D562216E}"/>
              </a:ext>
            </a:extLst>
          </p:cNvPr>
          <p:cNvSpPr txBox="1"/>
          <p:nvPr/>
        </p:nvSpPr>
        <p:spPr>
          <a:xfrm>
            <a:off x="547029" y="4447223"/>
            <a:ext cx="2232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2</a:t>
            </a:r>
            <a:endParaRPr lang="es-CO" sz="800" dirty="0"/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CECD1BF-981C-4C72-8796-118A95B358EF}"/>
              </a:ext>
            </a:extLst>
          </p:cNvPr>
          <p:cNvSpPr txBox="1"/>
          <p:nvPr/>
        </p:nvSpPr>
        <p:spPr>
          <a:xfrm>
            <a:off x="816160" y="4451346"/>
            <a:ext cx="10735479" cy="33855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Organización de la prevención en el centro de trabajo. Funciones y responsabilidades de mandos y trabajadores, así como de las personas y órganos formales (persona designada, delegados de prevención y Comité de seguridad y salud en el trabajo cuando exista) con funciones específicas en prevención.</a:t>
            </a:r>
            <a:endParaRPr lang="es-CO" sz="800" dirty="0"/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58DF9908-B4DD-466E-AF9D-E257E4123624}"/>
              </a:ext>
            </a:extLst>
          </p:cNvPr>
          <p:cNvSpPr txBox="1"/>
          <p:nvPr/>
        </p:nvSpPr>
        <p:spPr>
          <a:xfrm>
            <a:off x="547029" y="4923318"/>
            <a:ext cx="2232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60" name="CuadroTexto 159">
            <a:extLst>
              <a:ext uri="{FF2B5EF4-FFF2-40B4-BE49-F238E27FC236}">
                <a16:creationId xmlns:a16="http://schemas.microsoft.com/office/drawing/2014/main" id="{5E2E7CD9-4B9F-4286-88B0-13C6A168A705}"/>
              </a:ext>
            </a:extLst>
          </p:cNvPr>
          <p:cNvSpPr txBox="1"/>
          <p:nvPr/>
        </p:nvSpPr>
        <p:spPr>
          <a:xfrm>
            <a:off x="816160" y="4927441"/>
            <a:ext cx="107354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Riesgos generales de la actividad y medidas de prevención</a:t>
            </a:r>
            <a:endParaRPr lang="es-CO" sz="800" dirty="0"/>
          </a:p>
        </p:txBody>
      </p: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55820D72-C853-4A34-AE79-03FD6C1B0F67}"/>
              </a:ext>
            </a:extLst>
          </p:cNvPr>
          <p:cNvSpPr txBox="1"/>
          <p:nvPr/>
        </p:nvSpPr>
        <p:spPr>
          <a:xfrm>
            <a:off x="547029" y="5180228"/>
            <a:ext cx="2232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62" name="CuadroTexto 161">
            <a:extLst>
              <a:ext uri="{FF2B5EF4-FFF2-40B4-BE49-F238E27FC236}">
                <a16:creationId xmlns:a16="http://schemas.microsoft.com/office/drawing/2014/main" id="{D056E774-A831-4778-94A4-8289714B7380}"/>
              </a:ext>
            </a:extLst>
          </p:cNvPr>
          <p:cNvSpPr txBox="1"/>
          <p:nvPr/>
        </p:nvSpPr>
        <p:spPr>
          <a:xfrm>
            <a:off x="816160" y="5184351"/>
            <a:ext cx="107354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Normas generales de prevención de riesgos laborales del centro de trabajo.</a:t>
            </a:r>
            <a:endParaRPr lang="es-CO" sz="800" dirty="0"/>
          </a:p>
        </p:txBody>
      </p:sp>
      <p:sp>
        <p:nvSpPr>
          <p:cNvPr id="165" name="CuadroTexto 164">
            <a:extLst>
              <a:ext uri="{FF2B5EF4-FFF2-40B4-BE49-F238E27FC236}">
                <a16:creationId xmlns:a16="http://schemas.microsoft.com/office/drawing/2014/main" id="{8DB224CF-E1A7-4ABB-AA64-8D147699DA49}"/>
              </a:ext>
            </a:extLst>
          </p:cNvPr>
          <p:cNvSpPr txBox="1"/>
          <p:nvPr/>
        </p:nvSpPr>
        <p:spPr>
          <a:xfrm>
            <a:off x="547029" y="5437831"/>
            <a:ext cx="2232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26E418A7-7F13-42AB-99A1-08EBCE7ADA7C}"/>
              </a:ext>
            </a:extLst>
          </p:cNvPr>
          <p:cNvSpPr txBox="1"/>
          <p:nvPr/>
        </p:nvSpPr>
        <p:spPr>
          <a:xfrm>
            <a:off x="816160" y="5441954"/>
            <a:ext cx="107354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Plan de emergencia.</a:t>
            </a: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9244C69C-D6EA-453B-BE6F-8BE15CCD5747}"/>
              </a:ext>
            </a:extLst>
          </p:cNvPr>
          <p:cNvSpPr txBox="1"/>
          <p:nvPr/>
        </p:nvSpPr>
        <p:spPr>
          <a:xfrm>
            <a:off x="3607342" y="5794464"/>
            <a:ext cx="17586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Responsable de la acción formativa: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68" name="CuadroTexto 167">
            <a:extLst>
              <a:ext uri="{FF2B5EF4-FFF2-40B4-BE49-F238E27FC236}">
                <a16:creationId xmlns:a16="http://schemas.microsoft.com/office/drawing/2014/main" id="{9E1F4678-26F6-4939-BDCE-E6C0EB97F346}"/>
              </a:ext>
            </a:extLst>
          </p:cNvPr>
          <p:cNvSpPr txBox="1"/>
          <p:nvPr/>
        </p:nvSpPr>
        <p:spPr>
          <a:xfrm>
            <a:off x="549184" y="5794464"/>
            <a:ext cx="1579329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Tiempo dedicado a esta acción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BA0C7359-19D8-4A43-9746-BCDF2F2908E9}"/>
              </a:ext>
            </a:extLst>
          </p:cNvPr>
          <p:cNvSpPr txBox="1"/>
          <p:nvPr/>
        </p:nvSpPr>
        <p:spPr>
          <a:xfrm>
            <a:off x="2185079" y="5794464"/>
            <a:ext cx="138549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0" name="CuadroTexto 169">
            <a:extLst>
              <a:ext uri="{FF2B5EF4-FFF2-40B4-BE49-F238E27FC236}">
                <a16:creationId xmlns:a16="http://schemas.microsoft.com/office/drawing/2014/main" id="{AB79127A-5007-4EE5-B9DD-2E3E39258B47}"/>
              </a:ext>
            </a:extLst>
          </p:cNvPr>
          <p:cNvSpPr txBox="1"/>
          <p:nvPr/>
        </p:nvSpPr>
        <p:spPr>
          <a:xfrm>
            <a:off x="5413205" y="5794464"/>
            <a:ext cx="138549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85BDB5C8-5294-45FB-81E8-1E3CB5487892}"/>
              </a:ext>
            </a:extLst>
          </p:cNvPr>
          <p:cNvSpPr txBox="1"/>
          <p:nvPr/>
        </p:nvSpPr>
        <p:spPr>
          <a:xfrm>
            <a:off x="6845920" y="5793140"/>
            <a:ext cx="17586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Firma</a:t>
            </a:r>
            <a:r>
              <a:rPr lang="es-MX" sz="800" dirty="0"/>
              <a:t>: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132008AC-6399-41ED-8D29-FF6B680D47A9}"/>
              </a:ext>
            </a:extLst>
          </p:cNvPr>
          <p:cNvSpPr txBox="1"/>
          <p:nvPr/>
        </p:nvSpPr>
        <p:spPr>
          <a:xfrm>
            <a:off x="8661541" y="5793140"/>
            <a:ext cx="28545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54302266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7432" y="2214389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7432" y="255170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4477" y="255170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6029" y="2828693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Certificado de  la  información y formación  recibida por  los trabajadores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10382997" y="3123929"/>
            <a:ext cx="1168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1965016" y="3170832"/>
            <a:ext cx="19194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8F9982C-F114-4408-A5AA-EFC0D7CF1B34}"/>
              </a:ext>
            </a:extLst>
          </p:cNvPr>
          <p:cNvSpPr txBox="1"/>
          <p:nvPr/>
        </p:nvSpPr>
        <p:spPr>
          <a:xfrm>
            <a:off x="537432" y="3176553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Puesto de trabajo: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BE45685-A2B8-4CAF-A911-905134B6B8B1}"/>
              </a:ext>
            </a:extLst>
          </p:cNvPr>
          <p:cNvSpPr txBox="1"/>
          <p:nvPr/>
        </p:nvSpPr>
        <p:spPr>
          <a:xfrm>
            <a:off x="8950357" y="3123929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Código: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0C7377C-32F1-42DC-BDE6-B7400BB69B21}"/>
              </a:ext>
            </a:extLst>
          </p:cNvPr>
          <p:cNvSpPr txBox="1"/>
          <p:nvPr/>
        </p:nvSpPr>
        <p:spPr>
          <a:xfrm>
            <a:off x="1980530" y="3455750"/>
            <a:ext cx="957251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04C9A4A-31C6-4AF6-A011-949906DF99F9}"/>
              </a:ext>
            </a:extLst>
          </p:cNvPr>
          <p:cNvSpPr txBox="1"/>
          <p:nvPr/>
        </p:nvSpPr>
        <p:spPr>
          <a:xfrm>
            <a:off x="537432" y="3442541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Tarea: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8BFEA446-E188-49E2-A325-D0785FD0446A}"/>
              </a:ext>
            </a:extLst>
          </p:cNvPr>
          <p:cNvSpPr txBox="1"/>
          <p:nvPr/>
        </p:nvSpPr>
        <p:spPr>
          <a:xfrm>
            <a:off x="547031" y="4127872"/>
            <a:ext cx="36247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Tiempo mínimo requerido para que el trabajador pueda trabajar individualmente: </a:t>
            </a:r>
            <a:endParaRPr lang="es-CO" sz="800" dirty="0"/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DC2587B1-E187-4E7A-BB7D-5966F0D457F9}"/>
              </a:ext>
            </a:extLst>
          </p:cNvPr>
          <p:cNvSpPr txBox="1"/>
          <p:nvPr/>
        </p:nvSpPr>
        <p:spPr>
          <a:xfrm>
            <a:off x="4233845" y="4135671"/>
            <a:ext cx="728226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041533E0-008E-4C90-97F3-AA8AAC57202A}"/>
              </a:ext>
            </a:extLst>
          </p:cNvPr>
          <p:cNvSpPr txBox="1"/>
          <p:nvPr/>
        </p:nvSpPr>
        <p:spPr>
          <a:xfrm>
            <a:off x="536029" y="3808444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Formación inicial específica del puesto de trabajo/tareas</a:t>
            </a: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90A08FE-0AD3-48F0-BFEC-7AE2D562216E}"/>
              </a:ext>
            </a:extLst>
          </p:cNvPr>
          <p:cNvSpPr txBox="1"/>
          <p:nvPr/>
        </p:nvSpPr>
        <p:spPr>
          <a:xfrm>
            <a:off x="547031" y="4363040"/>
            <a:ext cx="36247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Tiempo total invertido en la formación</a:t>
            </a:r>
            <a:endParaRPr lang="es-CO" sz="8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85BDB5C8-5294-45FB-81E8-1E3CB5487892}"/>
              </a:ext>
            </a:extLst>
          </p:cNvPr>
          <p:cNvSpPr txBox="1"/>
          <p:nvPr/>
        </p:nvSpPr>
        <p:spPr>
          <a:xfrm>
            <a:off x="544057" y="5580001"/>
            <a:ext cx="17586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Nombre del trabajador</a:t>
            </a:r>
            <a:r>
              <a:rPr lang="es-MX" sz="800" dirty="0"/>
              <a:t>: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132008AC-6399-41ED-8D29-FF6B680D47A9}"/>
              </a:ext>
            </a:extLst>
          </p:cNvPr>
          <p:cNvSpPr txBox="1"/>
          <p:nvPr/>
        </p:nvSpPr>
        <p:spPr>
          <a:xfrm>
            <a:off x="2359678" y="5580001"/>
            <a:ext cx="28545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882AB08-C239-4A7A-B89F-600F595F5169}"/>
              </a:ext>
            </a:extLst>
          </p:cNvPr>
          <p:cNvSpPr txBox="1"/>
          <p:nvPr/>
        </p:nvSpPr>
        <p:spPr>
          <a:xfrm>
            <a:off x="4233845" y="4363040"/>
            <a:ext cx="728226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E891DEA-D57E-4746-8CCD-95E5EA7D969E}"/>
              </a:ext>
            </a:extLst>
          </p:cNvPr>
          <p:cNvSpPr txBox="1"/>
          <p:nvPr/>
        </p:nvSpPr>
        <p:spPr>
          <a:xfrm>
            <a:off x="547031" y="4629044"/>
            <a:ext cx="36247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Teórica (transmisión de conocimientos necesarios:</a:t>
            </a:r>
            <a:endParaRPr lang="es-CO" sz="8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258576D-6446-4552-AC85-627CA8C23A03}"/>
              </a:ext>
            </a:extLst>
          </p:cNvPr>
          <p:cNvSpPr txBox="1"/>
          <p:nvPr/>
        </p:nvSpPr>
        <p:spPr>
          <a:xfrm>
            <a:off x="4233845" y="4629187"/>
            <a:ext cx="728226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BC554A4-AC8A-491B-9ADD-914E97D930C4}"/>
              </a:ext>
            </a:extLst>
          </p:cNvPr>
          <p:cNvSpPr txBox="1"/>
          <p:nvPr/>
        </p:nvSpPr>
        <p:spPr>
          <a:xfrm>
            <a:off x="547031" y="4905627"/>
            <a:ext cx="36247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Nombre del mando responsable del puesto de trabajo: </a:t>
            </a:r>
            <a:endParaRPr lang="es-CO" sz="8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2BC2791-9D0A-4286-8554-484686CBEAA5}"/>
              </a:ext>
            </a:extLst>
          </p:cNvPr>
          <p:cNvSpPr txBox="1"/>
          <p:nvPr/>
        </p:nvSpPr>
        <p:spPr>
          <a:xfrm>
            <a:off x="4233845" y="4905770"/>
            <a:ext cx="728226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A85DE71-6DB7-4B4C-9413-8C76ED076479}"/>
              </a:ext>
            </a:extLst>
          </p:cNvPr>
          <p:cNvSpPr txBox="1"/>
          <p:nvPr/>
        </p:nvSpPr>
        <p:spPr>
          <a:xfrm>
            <a:off x="544057" y="5188054"/>
            <a:ext cx="362470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Nombre del monitor que ha colaborado en la acción formativa: </a:t>
            </a:r>
            <a:endParaRPr lang="es-CO" sz="8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FB1F5F3-AE41-485C-A888-FBB4AE6EA188}"/>
              </a:ext>
            </a:extLst>
          </p:cNvPr>
          <p:cNvSpPr txBox="1"/>
          <p:nvPr/>
        </p:nvSpPr>
        <p:spPr>
          <a:xfrm>
            <a:off x="4230871" y="5188197"/>
            <a:ext cx="7282262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BC162D0-5466-41D1-9CD8-5063675D9197}"/>
              </a:ext>
            </a:extLst>
          </p:cNvPr>
          <p:cNvSpPr txBox="1"/>
          <p:nvPr/>
        </p:nvSpPr>
        <p:spPr>
          <a:xfrm>
            <a:off x="6443741" y="5555602"/>
            <a:ext cx="17586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Firma</a:t>
            </a:r>
            <a:r>
              <a:rPr lang="es-MX" sz="800" dirty="0"/>
              <a:t>: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72D3258-B6F9-44DE-9CA0-1FEF985D3D7F}"/>
              </a:ext>
            </a:extLst>
          </p:cNvPr>
          <p:cNvSpPr txBox="1"/>
          <p:nvPr/>
        </p:nvSpPr>
        <p:spPr>
          <a:xfrm>
            <a:off x="8259362" y="5555602"/>
            <a:ext cx="28545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52805132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7432" y="2214389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537432" y="255170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1964477" y="2551705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08C701-6EFD-44A4-AA16-37C31F5A6D7A}"/>
              </a:ext>
            </a:extLst>
          </p:cNvPr>
          <p:cNvSpPr txBox="1"/>
          <p:nvPr/>
        </p:nvSpPr>
        <p:spPr>
          <a:xfrm>
            <a:off x="536029" y="2828693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Hoja de planificación y registro de  reuniones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8075AA4-1D44-40A9-83EF-78940F0B066C}"/>
              </a:ext>
            </a:extLst>
          </p:cNvPr>
          <p:cNvSpPr txBox="1"/>
          <p:nvPr/>
        </p:nvSpPr>
        <p:spPr>
          <a:xfrm>
            <a:off x="7780309" y="3171909"/>
            <a:ext cx="116864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7CD889C-7D5E-4366-A4C5-74FDE84C8ED5}"/>
              </a:ext>
            </a:extLst>
          </p:cNvPr>
          <p:cNvSpPr txBox="1"/>
          <p:nvPr/>
        </p:nvSpPr>
        <p:spPr>
          <a:xfrm>
            <a:off x="2190874" y="3171909"/>
            <a:ext cx="19194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8F9982C-F114-4408-A5AA-EFC0D7CF1B34}"/>
              </a:ext>
            </a:extLst>
          </p:cNvPr>
          <p:cNvSpPr txBox="1"/>
          <p:nvPr/>
        </p:nvSpPr>
        <p:spPr>
          <a:xfrm>
            <a:off x="537432" y="3176553"/>
            <a:ext cx="1596168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Persona o grupo convocante</a:t>
            </a:r>
            <a:r>
              <a:rPr lang="es-CO" sz="800" dirty="0">
                <a:solidFill>
                  <a:srgbClr val="000000"/>
                </a:solidFill>
              </a:rPr>
              <a:t>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2BE45685-A2B8-4CAF-A911-905134B6B8B1}"/>
              </a:ext>
            </a:extLst>
          </p:cNvPr>
          <p:cNvSpPr txBox="1"/>
          <p:nvPr/>
        </p:nvSpPr>
        <p:spPr>
          <a:xfrm>
            <a:off x="6203645" y="318256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Código: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00C7377C-32F1-42DC-BDE6-B7400BB69B21}"/>
              </a:ext>
            </a:extLst>
          </p:cNvPr>
          <p:cNvSpPr txBox="1"/>
          <p:nvPr/>
        </p:nvSpPr>
        <p:spPr>
          <a:xfrm>
            <a:off x="2190126" y="3447857"/>
            <a:ext cx="191948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704C9A4A-31C6-4AF6-A011-949906DF99F9}"/>
              </a:ext>
            </a:extLst>
          </p:cNvPr>
          <p:cNvSpPr txBox="1"/>
          <p:nvPr/>
        </p:nvSpPr>
        <p:spPr>
          <a:xfrm>
            <a:off x="537432" y="3442541"/>
            <a:ext cx="15957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Hora de inicia /final 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8BFEA446-E188-49E2-A325-D0785FD0446A}"/>
              </a:ext>
            </a:extLst>
          </p:cNvPr>
          <p:cNvSpPr txBox="1"/>
          <p:nvPr/>
        </p:nvSpPr>
        <p:spPr>
          <a:xfrm>
            <a:off x="539297" y="4170093"/>
            <a:ext cx="511695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Reunión interdepartamental</a:t>
            </a:r>
          </a:p>
        </p:txBody>
      </p: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DC2587B1-E187-4E7A-BB7D-5966F0D457F9}"/>
              </a:ext>
            </a:extLst>
          </p:cNvPr>
          <p:cNvSpPr txBox="1"/>
          <p:nvPr/>
        </p:nvSpPr>
        <p:spPr>
          <a:xfrm>
            <a:off x="5715389" y="4170093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041533E0-008E-4C90-97F3-AA8AAC57202A}"/>
              </a:ext>
            </a:extLst>
          </p:cNvPr>
          <p:cNvSpPr txBox="1"/>
          <p:nvPr/>
        </p:nvSpPr>
        <p:spPr>
          <a:xfrm>
            <a:off x="536027" y="3829242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Tipo de reunión </a:t>
            </a: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85BDB5C8-5294-45FB-81E8-1E3CB5487892}"/>
              </a:ext>
            </a:extLst>
          </p:cNvPr>
          <p:cNvSpPr txBox="1"/>
          <p:nvPr/>
        </p:nvSpPr>
        <p:spPr>
          <a:xfrm>
            <a:off x="536027" y="4998141"/>
            <a:ext cx="110043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Asistentes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132008AC-6399-41ED-8D29-FF6B680D47A9}"/>
              </a:ext>
            </a:extLst>
          </p:cNvPr>
          <p:cNvSpPr txBox="1"/>
          <p:nvPr/>
        </p:nvSpPr>
        <p:spPr>
          <a:xfrm>
            <a:off x="536027" y="5246722"/>
            <a:ext cx="542014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10C43953-7FC9-4C69-9B41-CB40AA478B46}"/>
              </a:ext>
            </a:extLst>
          </p:cNvPr>
          <p:cNvSpPr txBox="1"/>
          <p:nvPr/>
        </p:nvSpPr>
        <p:spPr>
          <a:xfrm>
            <a:off x="6087972" y="4166314"/>
            <a:ext cx="50830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Reunión Comité de Seguridad y Salud</a:t>
            </a:r>
            <a:endParaRPr lang="es-CO" sz="8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B121DBA-D130-4699-A4F4-48B02AB9207F}"/>
              </a:ext>
            </a:extLst>
          </p:cNvPr>
          <p:cNvSpPr txBox="1"/>
          <p:nvPr/>
        </p:nvSpPr>
        <p:spPr>
          <a:xfrm>
            <a:off x="11230168" y="4166314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12768DE-B8F0-4204-ADDD-692E2F8E7A86}"/>
              </a:ext>
            </a:extLst>
          </p:cNvPr>
          <p:cNvSpPr txBox="1"/>
          <p:nvPr/>
        </p:nvSpPr>
        <p:spPr>
          <a:xfrm>
            <a:off x="539297" y="4460999"/>
            <a:ext cx="511695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Unidad funcional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A90E8929-57B1-4183-88E6-B179F8EA30E3}"/>
              </a:ext>
            </a:extLst>
          </p:cNvPr>
          <p:cNvSpPr txBox="1"/>
          <p:nvPr/>
        </p:nvSpPr>
        <p:spPr>
          <a:xfrm>
            <a:off x="5715389" y="4460999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79109023-855A-4445-98F7-35BC26A6641D}"/>
              </a:ext>
            </a:extLst>
          </p:cNvPr>
          <p:cNvSpPr txBox="1"/>
          <p:nvPr/>
        </p:nvSpPr>
        <p:spPr>
          <a:xfrm>
            <a:off x="6087972" y="4457220"/>
            <a:ext cx="50830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Grupo de mejora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CFD398A-87AB-45D0-9B80-21C4C5A07D75}"/>
              </a:ext>
            </a:extLst>
          </p:cNvPr>
          <p:cNvSpPr txBox="1"/>
          <p:nvPr/>
        </p:nvSpPr>
        <p:spPr>
          <a:xfrm>
            <a:off x="11230168" y="4457220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59ABE1B-ABD3-4806-B2C6-15DB93E32A06}"/>
              </a:ext>
            </a:extLst>
          </p:cNvPr>
          <p:cNvSpPr txBox="1"/>
          <p:nvPr/>
        </p:nvSpPr>
        <p:spPr>
          <a:xfrm>
            <a:off x="536027" y="4729570"/>
            <a:ext cx="511695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sz="800" dirty="0"/>
              <a:t>Otro ámbito: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0EA4EE3-809C-4470-970E-45CF472913F2}"/>
              </a:ext>
            </a:extLst>
          </p:cNvPr>
          <p:cNvSpPr txBox="1"/>
          <p:nvPr/>
        </p:nvSpPr>
        <p:spPr>
          <a:xfrm>
            <a:off x="5712119" y="4729570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B9B3B2B-593A-451B-B8BC-CC6BDDDC82A6}"/>
              </a:ext>
            </a:extLst>
          </p:cNvPr>
          <p:cNvSpPr txBox="1"/>
          <p:nvPr/>
        </p:nvSpPr>
        <p:spPr>
          <a:xfrm>
            <a:off x="6084702" y="4725791"/>
            <a:ext cx="5083056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6F692E2-61F9-4559-AF6D-5845D8A9BEAE}"/>
              </a:ext>
            </a:extLst>
          </p:cNvPr>
          <p:cNvSpPr txBox="1"/>
          <p:nvPr/>
        </p:nvSpPr>
        <p:spPr>
          <a:xfrm>
            <a:off x="11226898" y="4725791"/>
            <a:ext cx="313443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39AA80D-DCEE-433F-8FB3-AD3DC9401595}"/>
              </a:ext>
            </a:extLst>
          </p:cNvPr>
          <p:cNvSpPr txBox="1"/>
          <p:nvPr/>
        </p:nvSpPr>
        <p:spPr>
          <a:xfrm>
            <a:off x="6025562" y="5246722"/>
            <a:ext cx="55147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C3DBD7A-1A03-4B1E-A504-767A09AE81E7}"/>
              </a:ext>
            </a:extLst>
          </p:cNvPr>
          <p:cNvSpPr txBox="1"/>
          <p:nvPr/>
        </p:nvSpPr>
        <p:spPr>
          <a:xfrm>
            <a:off x="528001" y="5476010"/>
            <a:ext cx="542014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6B38278-A75A-4C33-B742-D491D7206CC0}"/>
              </a:ext>
            </a:extLst>
          </p:cNvPr>
          <p:cNvSpPr txBox="1"/>
          <p:nvPr/>
        </p:nvSpPr>
        <p:spPr>
          <a:xfrm>
            <a:off x="6017536" y="5476010"/>
            <a:ext cx="55147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F8FEB1B-D942-41B9-BCB8-2300800A425B}"/>
              </a:ext>
            </a:extLst>
          </p:cNvPr>
          <p:cNvSpPr txBox="1"/>
          <p:nvPr/>
        </p:nvSpPr>
        <p:spPr>
          <a:xfrm>
            <a:off x="528001" y="5718368"/>
            <a:ext cx="5420140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8BF72469-48FE-417D-B366-398CC5627681}"/>
              </a:ext>
            </a:extLst>
          </p:cNvPr>
          <p:cNvSpPr txBox="1"/>
          <p:nvPr/>
        </p:nvSpPr>
        <p:spPr>
          <a:xfrm>
            <a:off x="6017536" y="5718368"/>
            <a:ext cx="5514779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7484427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9" y="801355"/>
            <a:ext cx="11015612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537432" y="2214389"/>
            <a:ext cx="11015612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551051" y="622627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5537844" y="622627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7524637" y="6226277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9578152" y="6226277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0CF7A2F-D7E8-4BF9-BE14-E879000E36CA}"/>
              </a:ext>
            </a:extLst>
          </p:cNvPr>
          <p:cNvSpPr txBox="1"/>
          <p:nvPr/>
        </p:nvSpPr>
        <p:spPr>
          <a:xfrm>
            <a:off x="3681170" y="354724"/>
            <a:ext cx="352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FF0000"/>
                </a:solidFill>
              </a:rPr>
              <a:t>Aplicación Móvil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85BDB5C8-5294-45FB-81E8-1E3CB5487892}"/>
              </a:ext>
            </a:extLst>
          </p:cNvPr>
          <p:cNvSpPr txBox="1"/>
          <p:nvPr/>
        </p:nvSpPr>
        <p:spPr>
          <a:xfrm>
            <a:off x="544055" y="2551705"/>
            <a:ext cx="110043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Orden del día/ Temas a tratar/ Cuestiones a resolver: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132008AC-6399-41ED-8D29-FF6B680D47A9}"/>
              </a:ext>
            </a:extLst>
          </p:cNvPr>
          <p:cNvSpPr txBox="1"/>
          <p:nvPr/>
        </p:nvSpPr>
        <p:spPr>
          <a:xfrm>
            <a:off x="544055" y="2800286"/>
            <a:ext cx="10983666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860DEE6-ACDE-487C-969A-0D2C1C2CD947}"/>
              </a:ext>
            </a:extLst>
          </p:cNvPr>
          <p:cNvSpPr txBox="1"/>
          <p:nvPr/>
        </p:nvSpPr>
        <p:spPr>
          <a:xfrm>
            <a:off x="531433" y="3519563"/>
            <a:ext cx="110043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MX" sz="800" dirty="0"/>
              <a:t>Acuerdos adoptados/ Acciones a emprender/ Responsables y plazos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E65EFFA-0827-42F1-9B5A-4BC7E30627FE}"/>
              </a:ext>
            </a:extLst>
          </p:cNvPr>
          <p:cNvSpPr txBox="1"/>
          <p:nvPr/>
        </p:nvSpPr>
        <p:spPr>
          <a:xfrm>
            <a:off x="531433" y="3768144"/>
            <a:ext cx="10996288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995F322-8F24-4B7B-98EF-C508BDF26BD9}"/>
              </a:ext>
            </a:extLst>
          </p:cNvPr>
          <p:cNvSpPr txBox="1"/>
          <p:nvPr/>
        </p:nvSpPr>
        <p:spPr>
          <a:xfrm>
            <a:off x="523407" y="4623982"/>
            <a:ext cx="11004314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Observaciones  Complementarias: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20E5B1C3-4848-47CF-9557-7C5ED1BF0D98}"/>
              </a:ext>
            </a:extLst>
          </p:cNvPr>
          <p:cNvSpPr txBox="1"/>
          <p:nvPr/>
        </p:nvSpPr>
        <p:spPr>
          <a:xfrm>
            <a:off x="523407" y="4872563"/>
            <a:ext cx="10996288" cy="8309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MX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  <a:p>
            <a:endParaRPr lang="es-CO" sz="800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10A1E8F-1083-49DA-8F9D-02571E36AD43}"/>
              </a:ext>
            </a:extLst>
          </p:cNvPr>
          <p:cNvSpPr txBox="1"/>
          <p:nvPr/>
        </p:nvSpPr>
        <p:spPr>
          <a:xfrm>
            <a:off x="544055" y="5775268"/>
            <a:ext cx="1758641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/>
              <a:t>Firma</a:t>
            </a:r>
            <a:r>
              <a:rPr lang="es-MX" sz="800" dirty="0"/>
              <a:t>: 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5B68422-BAA4-45FA-A498-3C4C669619E3}"/>
              </a:ext>
            </a:extLst>
          </p:cNvPr>
          <p:cNvSpPr txBox="1"/>
          <p:nvPr/>
        </p:nvSpPr>
        <p:spPr>
          <a:xfrm>
            <a:off x="2359676" y="5775268"/>
            <a:ext cx="2854564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77EED90-2BC6-42F0-9827-022E0B25E703}"/>
              </a:ext>
            </a:extLst>
          </p:cNvPr>
          <p:cNvSpPr txBox="1"/>
          <p:nvPr/>
        </p:nvSpPr>
        <p:spPr>
          <a:xfrm>
            <a:off x="1609950" y="6253209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26485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de Prevención 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Exportar: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257603" y="5256613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2D54650-7FA7-4311-8747-24588FBFD8A3}"/>
              </a:ext>
            </a:extLst>
          </p:cNvPr>
          <p:cNvSpPr txBox="1"/>
          <p:nvPr/>
        </p:nvSpPr>
        <p:spPr>
          <a:xfrm>
            <a:off x="1237339" y="4243625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Importar: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C36F24E-898E-4B33-833E-A800A0768901}"/>
              </a:ext>
            </a:extLst>
          </p:cNvPr>
          <p:cNvSpPr txBox="1"/>
          <p:nvPr/>
        </p:nvSpPr>
        <p:spPr>
          <a:xfrm>
            <a:off x="2747620" y="4243625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8496869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2771164" y="1112798"/>
            <a:ext cx="1709368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4923202" y="110766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269339" y="1110462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280478" y="1141723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A80644-141C-42D2-9F6E-9DB207CA421C}"/>
              </a:ext>
            </a:extLst>
          </p:cNvPr>
          <p:cNvSpPr txBox="1"/>
          <p:nvPr/>
        </p:nvSpPr>
        <p:spPr>
          <a:xfrm>
            <a:off x="8912316" y="1642769"/>
            <a:ext cx="16272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dirty="0"/>
              <a:t>Mejoramiento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1BAEEB0-7C5C-43AD-A5D5-A8DF56ED8BD4}"/>
              </a:ext>
            </a:extLst>
          </p:cNvPr>
          <p:cNvSpPr txBox="1"/>
          <p:nvPr/>
        </p:nvSpPr>
        <p:spPr>
          <a:xfrm>
            <a:off x="10584744" y="1642769"/>
            <a:ext cx="116959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Acciones de prevención </a:t>
            </a:r>
          </a:p>
          <a:p>
            <a:endParaRPr lang="es-MX" sz="1200" dirty="0"/>
          </a:p>
          <a:p>
            <a:r>
              <a:rPr lang="es-MX" sz="1200" dirty="0"/>
              <a:t>Medidas correctivas </a:t>
            </a:r>
          </a:p>
          <a:p>
            <a:endParaRPr lang="es-MX" sz="1200" dirty="0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 flipV="1">
            <a:off x="10353211" y="1743358"/>
            <a:ext cx="208514" cy="1650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F9BAD64A-B196-4C51-93D4-9D09A0105240}"/>
              </a:ext>
            </a:extLst>
          </p:cNvPr>
          <p:cNvSpPr/>
          <p:nvPr/>
        </p:nvSpPr>
        <p:spPr>
          <a:xfrm>
            <a:off x="11487182" y="1743358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6C595541-438A-4AC4-B12A-61BF4C8686FD}"/>
              </a:ext>
            </a:extLst>
          </p:cNvPr>
          <p:cNvSpPr/>
          <p:nvPr/>
        </p:nvSpPr>
        <p:spPr>
          <a:xfrm>
            <a:off x="11399402" y="2407621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8EECBB9-94B6-4F66-9456-BD1479E7B189}"/>
              </a:ext>
            </a:extLst>
          </p:cNvPr>
          <p:cNvSpPr txBox="1"/>
          <p:nvPr/>
        </p:nvSpPr>
        <p:spPr>
          <a:xfrm>
            <a:off x="11829825" y="2344827"/>
            <a:ext cx="724349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MX" sz="1200" dirty="0"/>
              <a:t>Medidas</a:t>
            </a:r>
            <a:endParaRPr lang="es-CO" sz="1200" dirty="0"/>
          </a:p>
        </p:txBody>
      </p:sp>
    </p:spTree>
    <p:extLst>
      <p:ext uri="{BB962C8B-B14F-4D97-AF65-F5344CB8AC3E}">
        <p14:creationId xmlns:p14="http://schemas.microsoft.com/office/powerpoint/2010/main" val="3407973975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140CAF-6BE1-4FA7-A608-4C502ED43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9" y="801355"/>
            <a:ext cx="10377181" cy="10607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E2D085-B3BC-4DF4-A949-F9D34003F2FF}"/>
              </a:ext>
            </a:extLst>
          </p:cNvPr>
          <p:cNvSpPr txBox="1"/>
          <p:nvPr/>
        </p:nvSpPr>
        <p:spPr>
          <a:xfrm>
            <a:off x="3084298" y="1153593"/>
            <a:ext cx="2052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    Planear</a:t>
            </a:r>
            <a:endParaRPr lang="es-C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CAC43-177D-4F45-9672-5C4C40C77C1C}"/>
              </a:ext>
            </a:extLst>
          </p:cNvPr>
          <p:cNvSpPr txBox="1"/>
          <p:nvPr/>
        </p:nvSpPr>
        <p:spPr>
          <a:xfrm>
            <a:off x="5766604" y="1139027"/>
            <a:ext cx="182253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  Hacer</a:t>
            </a:r>
            <a:endParaRPr lang="es-CO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13A96-2AA4-43B6-B098-840EDB493BCE}"/>
              </a:ext>
            </a:extLst>
          </p:cNvPr>
          <p:cNvSpPr txBox="1"/>
          <p:nvPr/>
        </p:nvSpPr>
        <p:spPr>
          <a:xfrm>
            <a:off x="7927343" y="1139027"/>
            <a:ext cx="1493494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Verificar</a:t>
            </a:r>
            <a:endParaRPr lang="es-C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0BFC81-655D-4BB2-9E69-6DA49EE1236A}"/>
              </a:ext>
            </a:extLst>
          </p:cNvPr>
          <p:cNvSpPr txBox="1"/>
          <p:nvPr/>
        </p:nvSpPr>
        <p:spPr>
          <a:xfrm>
            <a:off x="9954321" y="1156282"/>
            <a:ext cx="1259113" cy="36933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dirty="0"/>
              <a:t>Actuar</a:t>
            </a:r>
            <a:endParaRPr lang="es-CO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8110C-DEEC-429D-8748-ED56DC632907}"/>
              </a:ext>
            </a:extLst>
          </p:cNvPr>
          <p:cNvSpPr txBox="1"/>
          <p:nvPr/>
        </p:nvSpPr>
        <p:spPr>
          <a:xfrm>
            <a:off x="8867163" y="1937857"/>
            <a:ext cx="268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Martes, Noviembre 1, de 2020 8:02:21 am</a:t>
            </a:r>
            <a:endParaRPr lang="es-CO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50B6F5-F2B3-4B43-97B4-17BABC7BB7BB}"/>
              </a:ext>
            </a:extLst>
          </p:cNvPr>
          <p:cNvSpPr txBox="1"/>
          <p:nvPr/>
        </p:nvSpPr>
        <p:spPr>
          <a:xfrm>
            <a:off x="1174459" y="1937857"/>
            <a:ext cx="3306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Bienvenido: Pepito   Pérez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347DC61-AF18-4624-BFD6-82DA5508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108" y="908588"/>
            <a:ext cx="883997" cy="792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294E77A-92E9-4642-A6DF-ADD87A59CB38}"/>
              </a:ext>
            </a:extLst>
          </p:cNvPr>
          <p:cNvSpPr/>
          <p:nvPr/>
        </p:nvSpPr>
        <p:spPr>
          <a:xfrm>
            <a:off x="6269264" y="1786445"/>
            <a:ext cx="187569" cy="7570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C37878D-887A-4305-86AF-953F74DC4070}"/>
              </a:ext>
            </a:extLst>
          </p:cNvPr>
          <p:cNvSpPr txBox="1"/>
          <p:nvPr/>
        </p:nvSpPr>
        <p:spPr>
          <a:xfrm>
            <a:off x="4892931" y="2761570"/>
            <a:ext cx="6486270" cy="29574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B79B604-BA10-430E-A73E-003318FF0D4E}"/>
              </a:ext>
            </a:extLst>
          </p:cNvPr>
          <p:cNvSpPr txBox="1"/>
          <p:nvPr/>
        </p:nvSpPr>
        <p:spPr>
          <a:xfrm>
            <a:off x="1284964" y="2345650"/>
            <a:ext cx="10266675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100" dirty="0"/>
              <a:t>Acciones correctivas</a:t>
            </a:r>
            <a:endParaRPr lang="es-CO" sz="11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4A7C850-E358-4F86-9886-EFC05152FB82}"/>
              </a:ext>
            </a:extLst>
          </p:cNvPr>
          <p:cNvSpPr txBox="1"/>
          <p:nvPr/>
        </p:nvSpPr>
        <p:spPr>
          <a:xfrm>
            <a:off x="1237339" y="3511718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chemeClr val="accent1"/>
                </a:solidFill>
              </a:rPr>
              <a:t>* </a:t>
            </a:r>
            <a:r>
              <a:rPr lang="es-CO" sz="800" dirty="0">
                <a:solidFill>
                  <a:srgbClr val="000000"/>
                </a:solidFill>
              </a:rPr>
              <a:t>Importar archivo:</a:t>
            </a:r>
            <a:endParaRPr lang="es-CO" sz="800" dirty="0">
              <a:solidFill>
                <a:srgbClr val="00B0F0"/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4962CCD-A4D9-4235-9D30-82E7CC51BE05}"/>
              </a:ext>
            </a:extLst>
          </p:cNvPr>
          <p:cNvSpPr txBox="1"/>
          <p:nvPr/>
        </p:nvSpPr>
        <p:spPr>
          <a:xfrm>
            <a:off x="2747620" y="3511718"/>
            <a:ext cx="1895475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PDF</a:t>
            </a:r>
          </a:p>
          <a:p>
            <a:r>
              <a:rPr lang="es-MX" sz="800" dirty="0"/>
              <a:t>WORD</a:t>
            </a:r>
          </a:p>
          <a:p>
            <a:r>
              <a:rPr lang="es-MX" sz="800" dirty="0"/>
              <a:t>EXCEL</a:t>
            </a:r>
            <a:endParaRPr lang="es-CO" sz="8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296AC52-E3AB-436F-9E3B-8A4A2C979024}"/>
              </a:ext>
            </a:extLst>
          </p:cNvPr>
          <p:cNvSpPr txBox="1"/>
          <p:nvPr/>
        </p:nvSpPr>
        <p:spPr>
          <a:xfrm>
            <a:off x="1284964" y="2761570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Fecha: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F282A3E-3B08-45FB-8BC2-A63BE95AEE39}"/>
              </a:ext>
            </a:extLst>
          </p:cNvPr>
          <p:cNvSpPr txBox="1"/>
          <p:nvPr/>
        </p:nvSpPr>
        <p:spPr>
          <a:xfrm>
            <a:off x="2810143" y="2753443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s-CO" sz="8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B74C89-5F20-4A08-B26D-3A3EB700ACD3}"/>
              </a:ext>
            </a:extLst>
          </p:cNvPr>
          <p:cNvSpPr txBox="1"/>
          <p:nvPr/>
        </p:nvSpPr>
        <p:spPr>
          <a:xfrm>
            <a:off x="1284964" y="3131324"/>
            <a:ext cx="1385492" cy="2154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s-CO" sz="800" dirty="0">
                <a:solidFill>
                  <a:srgbClr val="00B0F0"/>
                </a:solidFill>
              </a:rPr>
              <a:t>*</a:t>
            </a:r>
            <a:r>
              <a:rPr lang="es-CO" sz="800" dirty="0">
                <a:solidFill>
                  <a:srgbClr val="000000"/>
                </a:solidFill>
              </a:rPr>
              <a:t>Documento:</a:t>
            </a:r>
            <a:endParaRPr lang="es-CO" sz="800" dirty="0">
              <a:solidFill>
                <a:srgbClr val="0070C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A5EBEBF-8D8A-4795-A5BB-7B017D439EFF}"/>
              </a:ext>
            </a:extLst>
          </p:cNvPr>
          <p:cNvSpPr txBox="1"/>
          <p:nvPr/>
        </p:nvSpPr>
        <p:spPr>
          <a:xfrm>
            <a:off x="2827495" y="3125997"/>
            <a:ext cx="1895475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MX" sz="800" dirty="0"/>
              <a:t>Adjuntar Archivo</a:t>
            </a:r>
            <a:endParaRPr lang="es-CO" sz="8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5393423-D736-4CBD-A9AC-014CD39E7ADE}"/>
              </a:ext>
            </a:extLst>
          </p:cNvPr>
          <p:cNvSpPr txBox="1"/>
          <p:nvPr/>
        </p:nvSpPr>
        <p:spPr>
          <a:xfrm>
            <a:off x="3507439" y="620208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Buscar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8D09D3A-822B-47DA-A35F-87817507D34A}"/>
              </a:ext>
            </a:extLst>
          </p:cNvPr>
          <p:cNvSpPr txBox="1"/>
          <p:nvPr/>
        </p:nvSpPr>
        <p:spPr>
          <a:xfrm>
            <a:off x="5494232" y="620208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Editar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9BC5B70-1F52-4F4E-B645-5CB887EF5EE0}"/>
              </a:ext>
            </a:extLst>
          </p:cNvPr>
          <p:cNvSpPr txBox="1"/>
          <p:nvPr/>
        </p:nvSpPr>
        <p:spPr>
          <a:xfrm>
            <a:off x="7481025" y="620208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Modificar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F9B07B-E0B7-408F-8C37-B8D10AF72CBA}"/>
              </a:ext>
            </a:extLst>
          </p:cNvPr>
          <p:cNvSpPr txBox="1"/>
          <p:nvPr/>
        </p:nvSpPr>
        <p:spPr>
          <a:xfrm>
            <a:off x="9534540" y="6202080"/>
            <a:ext cx="1252349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CO" sz="1200" dirty="0">
                <a:solidFill>
                  <a:srgbClr val="000000"/>
                </a:solidFill>
              </a:rPr>
              <a:t>Eliminar</a:t>
            </a:r>
            <a:endParaRPr lang="es-CO" sz="1200" dirty="0">
              <a:solidFill>
                <a:srgbClr val="0070C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D8D0F8E-543B-41C0-8D22-297171038B30}"/>
              </a:ext>
            </a:extLst>
          </p:cNvPr>
          <p:cNvSpPr txBox="1"/>
          <p:nvPr/>
        </p:nvSpPr>
        <p:spPr>
          <a:xfrm>
            <a:off x="1453924" y="6202080"/>
            <a:ext cx="1385492" cy="2769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s-MX" sz="1200" dirty="0">
                <a:solidFill>
                  <a:srgbClr val="000000"/>
                </a:solidFill>
              </a:rPr>
              <a:t>G</a:t>
            </a:r>
            <a:r>
              <a:rPr lang="es-CO" sz="1200" dirty="0" err="1">
                <a:solidFill>
                  <a:srgbClr val="000000"/>
                </a:solidFill>
              </a:rPr>
              <a:t>uardar</a:t>
            </a:r>
            <a:endParaRPr lang="es-CO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62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3347</TotalTime>
  <Words>14778</Words>
  <Application>Microsoft Office PowerPoint</Application>
  <PresentationFormat>Panorámica</PresentationFormat>
  <Paragraphs>5825</Paragraphs>
  <Slides>190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190</vt:i4>
      </vt:variant>
    </vt:vector>
  </HeadingPairs>
  <TitlesOfParts>
    <vt:vector size="197" baseType="lpstr">
      <vt:lpstr>Arial</vt:lpstr>
      <vt:lpstr>Calibri</vt:lpstr>
      <vt:lpstr>Calibri Light</vt:lpstr>
      <vt:lpstr>Roboto</vt:lpstr>
      <vt:lpstr>Times New Roman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FEROZA</cp:lastModifiedBy>
  <cp:revision>299</cp:revision>
  <dcterms:modified xsi:type="dcterms:W3CDTF">2022-11-13T18:39:33Z</dcterms:modified>
</cp:coreProperties>
</file>